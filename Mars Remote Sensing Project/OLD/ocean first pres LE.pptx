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80" r:id="rId2"/>
    <p:sldId id="281" r:id="rId3"/>
    <p:sldId id="282" r:id="rId4"/>
    <p:sldId id="259" r:id="rId5"/>
    <p:sldId id="283" r:id="rId6"/>
    <p:sldId id="261" r:id="rId7"/>
    <p:sldId id="284" r:id="rId8"/>
    <p:sldId id="285" r:id="rId9"/>
    <p:sldId id="264" r:id="rId10"/>
    <p:sldId id="265" r:id="rId11"/>
    <p:sldId id="286" r:id="rId12"/>
    <p:sldId id="267" r:id="rId13"/>
    <p:sldId id="268" r:id="rId14"/>
    <p:sldId id="269" r:id="rId15"/>
    <p:sldId id="287" r:id="rId16"/>
    <p:sldId id="288" r:id="rId17"/>
    <p:sldId id="289" r:id="rId18"/>
    <p:sldId id="290" r:id="rId19"/>
    <p:sldId id="291"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93" d="100"/>
          <a:sy n="93"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056B55-2AD1-4F27-AC5A-8E3690317A76}" type="datetimeFigureOut">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F4FE8D-C36C-4860-B05B-C55A26BDEF32}" type="slidenum">
              <a:t>‹#›</a:t>
            </a:fld>
            <a:endParaRPr lang="en-US"/>
          </a:p>
        </p:txBody>
      </p:sp>
    </p:spTree>
    <p:extLst>
      <p:ext uri="{BB962C8B-B14F-4D97-AF65-F5344CB8AC3E}">
        <p14:creationId xmlns:p14="http://schemas.microsoft.com/office/powerpoint/2010/main" val="1052921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 Id="rId5" Type="http://schemas.openxmlformats.org/officeDocument/2006/relationships/image" Target="../media/image15.jp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0E16"/>
        </a:solidFill>
        <a:effectLst/>
      </p:bgPr>
    </p:bg>
    <p:spTree>
      <p:nvGrpSpPr>
        <p:cNvPr id="1" name=""/>
        <p:cNvGrpSpPr/>
        <p:nvPr/>
      </p:nvGrpSpPr>
      <p:grpSpPr>
        <a:xfrm>
          <a:off x="0" y="0"/>
          <a:ext cx="0" cy="0"/>
          <a:chOff x="0" y="0"/>
          <a:chExt cx="0" cy="0"/>
        </a:xfrm>
      </p:grpSpPr>
      <p:pic>
        <p:nvPicPr>
          <p:cNvPr id="2" name="Picture 1" descr="globe_viking.png"/>
          <p:cNvPicPr>
            <a:picLocks noChangeAspect="1"/>
          </p:cNvPicPr>
          <p:nvPr/>
        </p:nvPicPr>
        <p:blipFill>
          <a:blip r:embed="rId2"/>
          <a:stretch>
            <a:fillRect/>
          </a:stretch>
        </p:blipFill>
        <p:spPr>
          <a:xfrm>
            <a:off x="6794500" y="-127000"/>
            <a:ext cx="7112000" cy="7112000"/>
          </a:xfrm>
          <a:prstGeom prst="rect">
            <a:avLst/>
          </a:prstGeom>
        </p:spPr>
      </p:pic>
      <p:sp>
        <p:nvSpPr>
          <p:cNvPr id="3" name="Rectangle 2"/>
          <p:cNvSpPr/>
          <p:nvPr/>
        </p:nvSpPr>
        <p:spPr>
          <a:xfrm>
            <a:off x="0" y="0"/>
            <a:ext cx="5969000" cy="6858000"/>
          </a:xfrm>
          <a:prstGeom prst="rect">
            <a:avLst/>
          </a:prstGeom>
          <a:solidFill>
            <a:srgbClr val="060E1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2717800"/>
            <a:ext cx="5588000" cy="1778000"/>
          </a:xfrm>
          <a:prstGeom prst="rect">
            <a:avLst/>
          </a:prstGeom>
          <a:noFill/>
        </p:spPr>
        <p:txBody>
          <a:bodyPr wrap="square" lIns="0" tIns="0" rIns="0" bIns="0" anchor="t">
            <a:spAutoFit/>
          </a:bodyPr>
          <a:lstStyle/>
          <a:p>
            <a:pPr>
              <a:buNone/>
            </a:pPr>
            <a:r>
              <a:rPr sz="5400" b="0" i="0">
                <a:solidFill>
                  <a:srgbClr val="FFFFFF"/>
                </a:solidFill>
                <a:latin typeface="Aptos Display"/>
              </a:rPr>
              <a:t>Mars Global Mosaic</a:t>
            </a:r>
          </a:p>
        </p:txBody>
      </p:sp>
      <p:sp>
        <p:nvSpPr>
          <p:cNvPr id="5" name="Rectangle 4"/>
          <p:cNvSpPr/>
          <p:nvPr/>
        </p:nvSpPr>
        <p:spPr>
          <a:xfrm>
            <a:off x="825500" y="4724400"/>
            <a:ext cx="558800" cy="254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5500" y="4978400"/>
            <a:ext cx="5588000" cy="228600"/>
          </a:xfrm>
          <a:prstGeom prst="rect">
            <a:avLst/>
          </a:prstGeom>
          <a:noFill/>
        </p:spPr>
        <p:txBody>
          <a:bodyPr wrap="square" lIns="0" tIns="0" rIns="0" bIns="0" anchor="t">
            <a:spAutoFit/>
          </a:bodyPr>
          <a:lstStyle/>
          <a:p>
            <a:pPr>
              <a:buNone/>
            </a:pPr>
            <a:r>
              <a:rPr sz="1200" b="0" i="0" spc="180">
                <a:solidFill>
                  <a:srgbClr val="0E9ED4"/>
                </a:solidFill>
                <a:latin typeface="Aptos"/>
              </a:rPr>
              <a:t>REMOTE SENSING 2026 OCN 4704</a:t>
            </a:r>
          </a:p>
        </p:txBody>
      </p:sp>
      <p:sp>
        <p:nvSpPr>
          <p:cNvPr id="7" name="TextBox 6"/>
          <p:cNvSpPr txBox="1"/>
          <p:nvPr/>
        </p:nvSpPr>
        <p:spPr>
          <a:xfrm>
            <a:off x="825500" y="5257800"/>
            <a:ext cx="5588000" cy="279400"/>
          </a:xfrm>
          <a:prstGeom prst="rect">
            <a:avLst/>
          </a:prstGeom>
          <a:noFill/>
        </p:spPr>
        <p:txBody>
          <a:bodyPr wrap="square" lIns="0" tIns="0" rIns="0" bIns="0" anchor="t">
            <a:spAutoFit/>
          </a:bodyPr>
          <a:lstStyle/>
          <a:p>
            <a:pPr>
              <a:buNone/>
            </a:pPr>
            <a:r>
              <a:rPr sz="1500" b="0" i="0">
                <a:solidFill>
                  <a:srgbClr val="DDE8F0"/>
                </a:solidFill>
                <a:latin typeface="Aptos"/>
              </a:rPr>
              <a:t>Logan Edwards</a:t>
            </a:r>
          </a:p>
        </p:txBody>
      </p:sp>
    </p:spTree>
    <p:extLst>
      <p:ext uri="{BB962C8B-B14F-4D97-AF65-F5344CB8AC3E}">
        <p14:creationId xmlns:p14="http://schemas.microsoft.com/office/powerpoint/2010/main" val="363067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GOALS AND MISSION</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Background</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02</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7" name="Rectangle 6"/>
          <p:cNvSpPr/>
          <p:nvPr/>
        </p:nvSpPr>
        <p:spPr>
          <a:xfrm>
            <a:off x="825500" y="1879600"/>
            <a:ext cx="30480" cy="132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30300" y="1879600"/>
            <a:ext cx="8890000" cy="1397000"/>
          </a:xfrm>
          <a:prstGeom prst="rect">
            <a:avLst/>
          </a:prstGeom>
          <a:noFill/>
        </p:spPr>
        <p:txBody>
          <a:bodyPr wrap="square" lIns="0" tIns="0" rIns="0" bIns="0" anchor="t">
            <a:spAutoFit/>
          </a:bodyPr>
          <a:lstStyle/>
          <a:p>
            <a:pPr>
              <a:buNone/>
            </a:pPr>
            <a:r>
              <a:rPr sz="1800" b="0" i="0">
                <a:solidFill>
                  <a:srgbClr val="FFFFFF"/>
                </a:solidFill>
                <a:latin typeface="Aptos"/>
              </a:rPr>
              <a:t>Assemble a co-registered global visible and thermal-infrared mosaic of Mars with altimetric data in ArcGIS Pro from three existing global products, and use it to map and classify three primary landform families (volcanic flow units, fluvial channels and valley networks, and impact craters) producing one internally consistent global landform inventory.</a:t>
            </a:r>
          </a:p>
        </p:txBody>
      </p:sp>
      <p:sp>
        <p:nvSpPr>
          <p:cNvPr id="9" name="Rectangle 8"/>
          <p:cNvSpPr/>
          <p:nvPr/>
        </p:nvSpPr>
        <p:spPr>
          <a:xfrm>
            <a:off x="825500" y="36322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5500" y="382270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01</a:t>
            </a:r>
          </a:p>
        </p:txBody>
      </p:sp>
      <p:sp>
        <p:nvSpPr>
          <p:cNvPr id="11" name="TextBox 10"/>
          <p:cNvSpPr txBox="1"/>
          <p:nvPr/>
        </p:nvSpPr>
        <p:spPr>
          <a:xfrm>
            <a:off x="1562100" y="3797300"/>
            <a:ext cx="8153400" cy="960628"/>
          </a:xfrm>
          <a:prstGeom prst="rect">
            <a:avLst/>
          </a:prstGeom>
          <a:noFill/>
        </p:spPr>
        <p:txBody>
          <a:bodyPr wrap="square" lIns="0" tIns="0" rIns="0" bIns="0" anchor="t">
            <a:spAutoFit/>
          </a:bodyPr>
          <a:lstStyle/>
          <a:p>
            <a:pPr>
              <a:buNone/>
            </a:pPr>
            <a:r>
              <a:rPr sz="1600" b="0" i="0">
                <a:solidFill>
                  <a:srgbClr val="DDE8F0"/>
                </a:solidFill>
                <a:latin typeface="Aptos"/>
              </a:rPr>
              <a:t>Three consumer-level(less then 1TB) global products cover Mars end to end, in three parts of the spectrum. No single product lets you interrogate morphology, thermal response, and slope at the same pixel; building that stack is the core technical task.</a:t>
            </a:r>
          </a:p>
        </p:txBody>
      </p:sp>
      <p:sp>
        <p:nvSpPr>
          <p:cNvPr id="12" name="Rectangle 11"/>
          <p:cNvSpPr/>
          <p:nvPr/>
        </p:nvSpPr>
        <p:spPr>
          <a:xfrm>
            <a:off x="825500" y="4948428"/>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500" y="5138928"/>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02</a:t>
            </a:r>
          </a:p>
        </p:txBody>
      </p:sp>
      <p:sp>
        <p:nvSpPr>
          <p:cNvPr id="14" name="TextBox 13"/>
          <p:cNvSpPr txBox="1"/>
          <p:nvPr/>
        </p:nvSpPr>
        <p:spPr>
          <a:xfrm>
            <a:off x="1562100" y="5113528"/>
            <a:ext cx="8153400" cy="720471"/>
          </a:xfrm>
          <a:prstGeom prst="rect">
            <a:avLst/>
          </a:prstGeom>
          <a:noFill/>
        </p:spPr>
        <p:txBody>
          <a:bodyPr wrap="square" lIns="0" tIns="0" rIns="0" bIns="0" anchor="t">
            <a:spAutoFit/>
          </a:bodyPr>
          <a:lstStyle/>
          <a:p>
            <a:pPr>
              <a:buNone/>
            </a:pPr>
            <a:r>
              <a:rPr sz="1600" b="0" i="0">
                <a:solidFill>
                  <a:srgbClr val="DDE8F0"/>
                </a:solidFill>
                <a:latin typeface="Aptos"/>
              </a:rPr>
              <a:t>Each target landform family records a different process (volcanic resurfacing, flowing water, impact) and each is expressed differently across the three datasets. That is what makes fusing them worth doing.</a:t>
            </a:r>
          </a:p>
        </p:txBody>
      </p:sp>
    </p:spTree>
    <p:extLst>
      <p:ext uri="{BB962C8B-B14F-4D97-AF65-F5344CB8AC3E}">
        <p14:creationId xmlns:p14="http://schemas.microsoft.com/office/powerpoint/2010/main" val="1613029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Significance of the Mission</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03</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6" name="Rectangle 5"/>
          <p:cNvSpPr/>
          <p:nvPr/>
        </p:nvSpPr>
        <p:spPr>
          <a:xfrm>
            <a:off x="825500" y="19812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500" y="217170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01</a:t>
            </a:r>
          </a:p>
        </p:txBody>
      </p:sp>
      <p:sp>
        <p:nvSpPr>
          <p:cNvPr id="8" name="TextBox 7"/>
          <p:cNvSpPr txBox="1"/>
          <p:nvPr/>
        </p:nvSpPr>
        <p:spPr>
          <a:xfrm>
            <a:off x="1562100" y="2146300"/>
            <a:ext cx="8153400" cy="1022604"/>
          </a:xfrm>
          <a:prstGeom prst="rect">
            <a:avLst/>
          </a:prstGeom>
          <a:noFill/>
        </p:spPr>
        <p:txBody>
          <a:bodyPr wrap="square" lIns="0" tIns="0" rIns="0" bIns="0" anchor="t">
            <a:spAutoFit/>
          </a:bodyPr>
          <a:lstStyle/>
          <a:p>
            <a:pPr>
              <a:buNone/>
            </a:pPr>
            <a:r>
              <a:rPr sz="1600" b="0" i="0">
                <a:solidFill>
                  <a:srgbClr val="DDE8F0"/>
                </a:solidFill>
                <a:latin typeface="Aptos"/>
              </a:rPr>
              <a:t>Thermal infrared responds to particle size and surface coherence; visible albedo does not. Where Mars is dust-mantled, the THEMIS layer should recover flow boundaries the Viking mosaic cannot; a claim this project can measure.</a:t>
            </a:r>
          </a:p>
        </p:txBody>
      </p:sp>
      <p:sp>
        <p:nvSpPr>
          <p:cNvPr id="9" name="Rectangle 8"/>
          <p:cNvSpPr/>
          <p:nvPr/>
        </p:nvSpPr>
        <p:spPr>
          <a:xfrm>
            <a:off x="825500" y="3448304"/>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5500" y="3638804"/>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02</a:t>
            </a:r>
          </a:p>
        </p:txBody>
      </p:sp>
      <p:sp>
        <p:nvSpPr>
          <p:cNvPr id="11" name="TextBox 10"/>
          <p:cNvSpPr txBox="1"/>
          <p:nvPr/>
        </p:nvSpPr>
        <p:spPr>
          <a:xfrm>
            <a:off x="1562100" y="3613404"/>
            <a:ext cx="8153400" cy="766953"/>
          </a:xfrm>
          <a:prstGeom prst="rect">
            <a:avLst/>
          </a:prstGeom>
          <a:noFill/>
        </p:spPr>
        <p:txBody>
          <a:bodyPr wrap="square" lIns="0" tIns="0" rIns="0" bIns="0" anchor="t">
            <a:spAutoFit/>
          </a:bodyPr>
          <a:lstStyle/>
          <a:p>
            <a:pPr>
              <a:buNone/>
            </a:pPr>
            <a:r>
              <a:rPr sz="1600" b="0" i="0">
                <a:solidFill>
                  <a:srgbClr val="DDE8F0"/>
                </a:solidFill>
                <a:latin typeface="Aptos"/>
              </a:rPr>
              <a:t>Discriminating volcanic from fluvial channels is a live problem: Athabasca Valles was mapped as a fluvial outflow channel for decades before being reinterpreted as flood lava. Morphology plus thermal response addresses it.</a:t>
            </a:r>
          </a:p>
        </p:txBody>
      </p:sp>
      <p:sp>
        <p:nvSpPr>
          <p:cNvPr id="12" name="Rectangle 11"/>
          <p:cNvSpPr/>
          <p:nvPr/>
        </p:nvSpPr>
        <p:spPr>
          <a:xfrm>
            <a:off x="825500" y="4659757"/>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500" y="4850257"/>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03</a:t>
            </a:r>
          </a:p>
        </p:txBody>
      </p:sp>
      <p:sp>
        <p:nvSpPr>
          <p:cNvPr id="14" name="TextBox 13"/>
          <p:cNvSpPr txBox="1"/>
          <p:nvPr/>
        </p:nvSpPr>
        <p:spPr>
          <a:xfrm>
            <a:off x="1562100" y="4824857"/>
            <a:ext cx="8153400" cy="766953"/>
          </a:xfrm>
          <a:prstGeom prst="rect">
            <a:avLst/>
          </a:prstGeom>
          <a:noFill/>
        </p:spPr>
        <p:txBody>
          <a:bodyPr wrap="square" lIns="0" tIns="0" rIns="0" bIns="0" anchor="t">
            <a:spAutoFit/>
          </a:bodyPr>
          <a:lstStyle/>
          <a:p>
            <a:pPr>
              <a:buNone/>
            </a:pPr>
            <a:r>
              <a:rPr sz="1600" b="0" i="0">
                <a:solidFill>
                  <a:srgbClr val="DDE8F0"/>
                </a:solidFill>
                <a:latin typeface="Aptos"/>
              </a:rPr>
              <a:t>Testable without privileged data: unit boundaries against the published USGS global geologic map, crater rims against the 141 IAU-named craters above 100 km already in the geodatabase.</a:t>
            </a:r>
          </a:p>
        </p:txBody>
      </p:sp>
    </p:spTree>
    <p:extLst>
      <p:ext uri="{BB962C8B-B14F-4D97-AF65-F5344CB8AC3E}">
        <p14:creationId xmlns:p14="http://schemas.microsoft.com/office/powerpoint/2010/main" val="3192584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Tasks Required</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04</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6" name="TextBox 5"/>
          <p:cNvSpPr txBox="1"/>
          <p:nvPr/>
        </p:nvSpPr>
        <p:spPr>
          <a:xfrm>
            <a:off x="952500" y="1778000"/>
            <a:ext cx="273050" cy="203200"/>
          </a:xfrm>
          <a:prstGeom prst="rect">
            <a:avLst/>
          </a:prstGeom>
          <a:noFill/>
        </p:spPr>
        <p:txBody>
          <a:bodyPr wrap="square" lIns="0" tIns="0" rIns="0" bIns="0" anchor="t">
            <a:spAutoFit/>
          </a:bodyPr>
          <a:lstStyle/>
          <a:p>
            <a:pPr>
              <a:buNone/>
            </a:pPr>
            <a:r>
              <a:rPr sz="1000" b="0" i="0" spc="140">
                <a:solidFill>
                  <a:srgbClr val="0E9ED4"/>
                </a:solidFill>
                <a:latin typeface="Aptos"/>
              </a:rPr>
              <a:t>#</a:t>
            </a:r>
          </a:p>
        </p:txBody>
      </p:sp>
      <p:sp>
        <p:nvSpPr>
          <p:cNvPr id="7" name="TextBox 6"/>
          <p:cNvSpPr txBox="1"/>
          <p:nvPr/>
        </p:nvSpPr>
        <p:spPr>
          <a:xfrm>
            <a:off x="1479550" y="1778000"/>
            <a:ext cx="2802890" cy="203200"/>
          </a:xfrm>
          <a:prstGeom prst="rect">
            <a:avLst/>
          </a:prstGeom>
          <a:noFill/>
        </p:spPr>
        <p:txBody>
          <a:bodyPr wrap="square" lIns="0" tIns="0" rIns="0" bIns="0" anchor="t">
            <a:spAutoFit/>
          </a:bodyPr>
          <a:lstStyle/>
          <a:p>
            <a:pPr>
              <a:buNone/>
            </a:pPr>
            <a:r>
              <a:rPr sz="1000" b="0" i="0" spc="140">
                <a:solidFill>
                  <a:srgbClr val="0E9ED4"/>
                </a:solidFill>
                <a:latin typeface="Aptos"/>
              </a:rPr>
              <a:t>TASK</a:t>
            </a:r>
          </a:p>
        </p:txBody>
      </p:sp>
      <p:sp>
        <p:nvSpPr>
          <p:cNvPr id="8" name="TextBox 7"/>
          <p:cNvSpPr txBox="1"/>
          <p:nvPr/>
        </p:nvSpPr>
        <p:spPr>
          <a:xfrm>
            <a:off x="4536440" y="1778000"/>
            <a:ext cx="6703060" cy="203200"/>
          </a:xfrm>
          <a:prstGeom prst="rect">
            <a:avLst/>
          </a:prstGeom>
          <a:noFill/>
        </p:spPr>
        <p:txBody>
          <a:bodyPr wrap="square" lIns="0" tIns="0" rIns="0" bIns="0" anchor="t">
            <a:spAutoFit/>
          </a:bodyPr>
          <a:lstStyle/>
          <a:p>
            <a:pPr>
              <a:buNone/>
            </a:pPr>
            <a:r>
              <a:rPr sz="1000" b="0" i="0" spc="140">
                <a:solidFill>
                  <a:srgbClr val="0E9ED4"/>
                </a:solidFill>
                <a:latin typeface="Aptos"/>
              </a:rPr>
              <a:t>WHAT IT INVOLVES</a:t>
            </a:r>
          </a:p>
        </p:txBody>
      </p:sp>
      <p:sp>
        <p:nvSpPr>
          <p:cNvPr id="9" name="Rectangle 8"/>
          <p:cNvSpPr/>
          <p:nvPr/>
        </p:nvSpPr>
        <p:spPr>
          <a:xfrm>
            <a:off x="825500" y="2057400"/>
            <a:ext cx="10541000" cy="2032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5500" y="247142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2500" y="2188401"/>
            <a:ext cx="273050" cy="172338"/>
          </a:xfrm>
          <a:prstGeom prst="rect">
            <a:avLst/>
          </a:prstGeom>
          <a:noFill/>
        </p:spPr>
        <p:txBody>
          <a:bodyPr wrap="square" lIns="0" tIns="0" rIns="0" bIns="0" anchor="t">
            <a:spAutoFit/>
          </a:bodyPr>
          <a:lstStyle/>
          <a:p>
            <a:pPr>
              <a:buNone/>
            </a:pPr>
            <a:r>
              <a:rPr sz="1150" b="1" i="0">
                <a:solidFill>
                  <a:srgbClr val="FFFFFF"/>
                </a:solidFill>
                <a:latin typeface="Aptos"/>
              </a:rPr>
              <a:t>1</a:t>
            </a:r>
          </a:p>
        </p:txBody>
      </p:sp>
      <p:sp>
        <p:nvSpPr>
          <p:cNvPr id="12" name="TextBox 11"/>
          <p:cNvSpPr txBox="1"/>
          <p:nvPr/>
        </p:nvSpPr>
        <p:spPr>
          <a:xfrm>
            <a:off x="1479550" y="2188401"/>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Acquire the global raster set</a:t>
            </a:r>
          </a:p>
        </p:txBody>
      </p:sp>
      <p:sp>
        <p:nvSpPr>
          <p:cNvPr id="13" name="TextBox 12"/>
          <p:cNvSpPr txBox="1"/>
          <p:nvPr/>
        </p:nvSpPr>
        <p:spPr>
          <a:xfrm>
            <a:off x="4536440" y="2188401"/>
            <a:ext cx="6703060" cy="172338"/>
          </a:xfrm>
          <a:prstGeom prst="rect">
            <a:avLst/>
          </a:prstGeom>
          <a:noFill/>
        </p:spPr>
        <p:txBody>
          <a:bodyPr wrap="square" lIns="0" tIns="0" rIns="0" bIns="0" anchor="t">
            <a:spAutoFit/>
          </a:bodyPr>
          <a:lstStyle/>
          <a:p>
            <a:pPr>
              <a:buNone/>
            </a:pPr>
            <a:r>
              <a:rPr sz="1150" b="0" i="0">
                <a:solidFill>
                  <a:srgbClr val="DDE8F0"/>
                </a:solidFill>
                <a:latin typeface="Aptos"/>
              </a:rPr>
              <a:t>Done. All three on disk with statistics built; pyramids still to build.</a:t>
            </a:r>
          </a:p>
        </p:txBody>
      </p:sp>
      <p:sp>
        <p:nvSpPr>
          <p:cNvPr id="14" name="Rectangle 13"/>
          <p:cNvSpPr/>
          <p:nvPr/>
        </p:nvSpPr>
        <p:spPr>
          <a:xfrm>
            <a:off x="825500" y="2471420"/>
            <a:ext cx="10541000" cy="393700"/>
          </a:xfrm>
          <a:prstGeom prst="rect">
            <a:avLst/>
          </a:prstGeom>
          <a:solidFill>
            <a:srgbClr val="143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2500" y="2582101"/>
            <a:ext cx="273050" cy="172338"/>
          </a:xfrm>
          <a:prstGeom prst="rect">
            <a:avLst/>
          </a:prstGeom>
          <a:noFill/>
        </p:spPr>
        <p:txBody>
          <a:bodyPr wrap="square" lIns="0" tIns="0" rIns="0" bIns="0" anchor="t">
            <a:spAutoFit/>
          </a:bodyPr>
          <a:lstStyle/>
          <a:p>
            <a:pPr>
              <a:buNone/>
            </a:pPr>
            <a:r>
              <a:rPr sz="1150" b="1" i="0">
                <a:solidFill>
                  <a:srgbClr val="FFFFFF"/>
                </a:solidFill>
                <a:latin typeface="Aptos"/>
              </a:rPr>
              <a:t>2</a:t>
            </a:r>
          </a:p>
        </p:txBody>
      </p:sp>
      <p:sp>
        <p:nvSpPr>
          <p:cNvPr id="16" name="TextBox 15"/>
          <p:cNvSpPr txBox="1"/>
          <p:nvPr/>
        </p:nvSpPr>
        <p:spPr>
          <a:xfrm>
            <a:off x="1479550" y="2582101"/>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Build a grouped mosaic viewer</a:t>
            </a:r>
          </a:p>
        </p:txBody>
      </p:sp>
      <p:sp>
        <p:nvSpPr>
          <p:cNvPr id="17" name="TextBox 16"/>
          <p:cNvSpPr txBox="1"/>
          <p:nvPr/>
        </p:nvSpPr>
        <p:spPr>
          <a:xfrm>
            <a:off x="4536440" y="2582101"/>
            <a:ext cx="6703060" cy="172338"/>
          </a:xfrm>
          <a:prstGeom prst="rect">
            <a:avLst/>
          </a:prstGeom>
          <a:noFill/>
        </p:spPr>
        <p:txBody>
          <a:bodyPr wrap="square" lIns="0" tIns="0" rIns="0" bIns="0" anchor="t">
            <a:spAutoFit/>
          </a:bodyPr>
          <a:lstStyle/>
          <a:p>
            <a:pPr>
              <a:buNone/>
            </a:pPr>
            <a:r>
              <a:rPr sz="1150" b="0" i="0">
                <a:solidFill>
                  <a:srgbClr val="DDE8F0"/>
                </a:solidFill>
                <a:latin typeface="Aptos"/>
              </a:rPr>
              <a:t>Done. One map, three groups, each source raster paired with its derived product.</a:t>
            </a:r>
          </a:p>
        </p:txBody>
      </p:sp>
      <p:sp>
        <p:nvSpPr>
          <p:cNvPr id="18" name="Rectangle 17"/>
          <p:cNvSpPr/>
          <p:nvPr/>
        </p:nvSpPr>
        <p:spPr>
          <a:xfrm>
            <a:off x="825500" y="325882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2500" y="2975801"/>
            <a:ext cx="273050" cy="172338"/>
          </a:xfrm>
          <a:prstGeom prst="rect">
            <a:avLst/>
          </a:prstGeom>
          <a:noFill/>
        </p:spPr>
        <p:txBody>
          <a:bodyPr wrap="square" lIns="0" tIns="0" rIns="0" bIns="0" anchor="t">
            <a:spAutoFit/>
          </a:bodyPr>
          <a:lstStyle/>
          <a:p>
            <a:pPr>
              <a:buNone/>
            </a:pPr>
            <a:r>
              <a:rPr sz="1150" b="1" i="0">
                <a:solidFill>
                  <a:srgbClr val="FFFFFF"/>
                </a:solidFill>
                <a:latin typeface="Aptos"/>
              </a:rPr>
              <a:t>3</a:t>
            </a:r>
          </a:p>
        </p:txBody>
      </p:sp>
      <p:sp>
        <p:nvSpPr>
          <p:cNvPr id="20" name="TextBox 19"/>
          <p:cNvSpPr txBox="1"/>
          <p:nvPr/>
        </p:nvSpPr>
        <p:spPr>
          <a:xfrm>
            <a:off x="1479550" y="2975801"/>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Rebuild the terrain derivatives</a:t>
            </a:r>
          </a:p>
        </p:txBody>
      </p:sp>
      <p:sp>
        <p:nvSpPr>
          <p:cNvPr id="21" name="TextBox 20"/>
          <p:cNvSpPr txBox="1"/>
          <p:nvPr/>
        </p:nvSpPr>
        <p:spPr>
          <a:xfrm>
            <a:off x="4536440" y="2975801"/>
            <a:ext cx="6703060" cy="172338"/>
          </a:xfrm>
          <a:prstGeom prst="rect">
            <a:avLst/>
          </a:prstGeom>
          <a:noFill/>
        </p:spPr>
        <p:txBody>
          <a:bodyPr wrap="square" lIns="0" tIns="0" rIns="0" bIns="0" anchor="t">
            <a:spAutoFit/>
          </a:bodyPr>
          <a:lstStyle/>
          <a:p>
            <a:pPr>
              <a:buNone/>
            </a:pPr>
            <a:r>
              <a:rPr sz="1150" b="0" i="0">
                <a:solidFill>
                  <a:srgbClr val="DDE8F0"/>
                </a:solidFill>
                <a:latin typeface="Aptos"/>
              </a:rPr>
              <a:t>Re-run Slope and Hillshade on the projected DEM for a valid z-factor.</a:t>
            </a:r>
          </a:p>
        </p:txBody>
      </p:sp>
      <p:sp>
        <p:nvSpPr>
          <p:cNvPr id="22" name="Rectangle 21"/>
          <p:cNvSpPr/>
          <p:nvPr/>
        </p:nvSpPr>
        <p:spPr>
          <a:xfrm>
            <a:off x="825500" y="3258820"/>
            <a:ext cx="10541000" cy="547877"/>
          </a:xfrm>
          <a:prstGeom prst="rect">
            <a:avLst/>
          </a:prstGeom>
          <a:solidFill>
            <a:srgbClr val="143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2500" y="3446589"/>
            <a:ext cx="273050" cy="172338"/>
          </a:xfrm>
          <a:prstGeom prst="rect">
            <a:avLst/>
          </a:prstGeom>
          <a:noFill/>
        </p:spPr>
        <p:txBody>
          <a:bodyPr wrap="square" lIns="0" tIns="0" rIns="0" bIns="0" anchor="t">
            <a:spAutoFit/>
          </a:bodyPr>
          <a:lstStyle/>
          <a:p>
            <a:pPr>
              <a:buNone/>
            </a:pPr>
            <a:r>
              <a:rPr sz="1150" b="1" i="0">
                <a:solidFill>
                  <a:srgbClr val="FFFFFF"/>
                </a:solidFill>
                <a:latin typeface="Aptos"/>
              </a:rPr>
              <a:t>4</a:t>
            </a:r>
          </a:p>
        </p:txBody>
      </p:sp>
      <p:sp>
        <p:nvSpPr>
          <p:cNvPr id="24" name="TextBox 23"/>
          <p:cNvSpPr txBox="1"/>
          <p:nvPr/>
        </p:nvSpPr>
        <p:spPr>
          <a:xfrm>
            <a:off x="1479550" y="3360420"/>
            <a:ext cx="2802890" cy="344677"/>
          </a:xfrm>
          <a:prstGeom prst="rect">
            <a:avLst/>
          </a:prstGeom>
          <a:noFill/>
        </p:spPr>
        <p:txBody>
          <a:bodyPr wrap="square" lIns="0" tIns="0" rIns="0" bIns="0" anchor="t">
            <a:spAutoFit/>
          </a:bodyPr>
          <a:lstStyle/>
          <a:p>
            <a:pPr>
              <a:buNone/>
            </a:pPr>
            <a:r>
              <a:rPr sz="1150" b="0" i="0">
                <a:solidFill>
                  <a:srgbClr val="DDE8F0"/>
                </a:solidFill>
                <a:latin typeface="Aptos"/>
              </a:rPr>
              <a:t>Build the visible + infrared composite</a:t>
            </a:r>
          </a:p>
        </p:txBody>
      </p:sp>
      <p:sp>
        <p:nvSpPr>
          <p:cNvPr id="25" name="TextBox 24"/>
          <p:cNvSpPr txBox="1"/>
          <p:nvPr/>
        </p:nvSpPr>
        <p:spPr>
          <a:xfrm>
            <a:off x="4536440" y="3360420"/>
            <a:ext cx="6703060" cy="344677"/>
          </a:xfrm>
          <a:prstGeom prst="rect">
            <a:avLst/>
          </a:prstGeom>
          <a:noFill/>
        </p:spPr>
        <p:txBody>
          <a:bodyPr wrap="square" lIns="0" tIns="0" rIns="0" bIns="0" anchor="t">
            <a:spAutoFit/>
          </a:bodyPr>
          <a:lstStyle/>
          <a:p>
            <a:pPr>
              <a:buNone/>
            </a:pPr>
            <a:r>
              <a:rPr sz="1150" b="0" i="0">
                <a:solidFill>
                  <a:srgbClr val="DDE8F0"/>
                </a:solidFill>
                <a:latin typeface="Aptos"/>
              </a:rPr>
              <a:t>Composite Bands over Viking colour and THEMIS day; four bands. Project first, then run over bounded extents.</a:t>
            </a:r>
          </a:p>
        </p:txBody>
      </p:sp>
      <p:sp>
        <p:nvSpPr>
          <p:cNvPr id="26" name="Rectangle 25"/>
          <p:cNvSpPr/>
          <p:nvPr/>
        </p:nvSpPr>
        <p:spPr>
          <a:xfrm>
            <a:off x="825500" y="4200397"/>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2500" y="3917378"/>
            <a:ext cx="273050" cy="172338"/>
          </a:xfrm>
          <a:prstGeom prst="rect">
            <a:avLst/>
          </a:prstGeom>
          <a:noFill/>
        </p:spPr>
        <p:txBody>
          <a:bodyPr wrap="square" lIns="0" tIns="0" rIns="0" bIns="0" anchor="t">
            <a:spAutoFit/>
          </a:bodyPr>
          <a:lstStyle/>
          <a:p>
            <a:pPr>
              <a:buNone/>
            </a:pPr>
            <a:r>
              <a:rPr sz="1150" b="1" i="0">
                <a:solidFill>
                  <a:srgbClr val="FFFFFF"/>
                </a:solidFill>
                <a:latin typeface="Aptos"/>
              </a:rPr>
              <a:t>5</a:t>
            </a:r>
          </a:p>
        </p:txBody>
      </p:sp>
      <p:sp>
        <p:nvSpPr>
          <p:cNvPr id="28" name="TextBox 27"/>
          <p:cNvSpPr txBox="1"/>
          <p:nvPr/>
        </p:nvSpPr>
        <p:spPr>
          <a:xfrm>
            <a:off x="1479550" y="3917378"/>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Derive image-gradient products</a:t>
            </a:r>
          </a:p>
        </p:txBody>
      </p:sp>
      <p:sp>
        <p:nvSpPr>
          <p:cNvPr id="29" name="TextBox 28"/>
          <p:cNvSpPr txBox="1"/>
          <p:nvPr/>
        </p:nvSpPr>
        <p:spPr>
          <a:xfrm>
            <a:off x="4536440" y="3917378"/>
            <a:ext cx="6703060" cy="172338"/>
          </a:xfrm>
          <a:prstGeom prst="rect">
            <a:avLst/>
          </a:prstGeom>
          <a:noFill/>
        </p:spPr>
        <p:txBody>
          <a:bodyPr wrap="square" lIns="0" tIns="0" rIns="0" bIns="0" anchor="t">
            <a:spAutoFit/>
          </a:bodyPr>
          <a:lstStyle/>
          <a:p>
            <a:pPr>
              <a:buNone/>
            </a:pPr>
            <a:r>
              <a:rPr sz="1150" b="0" i="0">
                <a:solidFill>
                  <a:srgbClr val="DDE8F0"/>
                </a:solidFill>
                <a:latin typeface="Aptos"/>
              </a:rPr>
              <a:t>Edge and texture from DN, labelled as gradient rather than as terrain slope.</a:t>
            </a:r>
          </a:p>
        </p:txBody>
      </p:sp>
      <p:sp>
        <p:nvSpPr>
          <p:cNvPr id="30" name="Rectangle 29"/>
          <p:cNvSpPr/>
          <p:nvPr/>
        </p:nvSpPr>
        <p:spPr>
          <a:xfrm>
            <a:off x="825500" y="4200397"/>
            <a:ext cx="10541000" cy="547877"/>
          </a:xfrm>
          <a:prstGeom prst="rect">
            <a:avLst/>
          </a:prstGeom>
          <a:solidFill>
            <a:srgbClr val="143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2500" y="4388166"/>
            <a:ext cx="273050" cy="172338"/>
          </a:xfrm>
          <a:prstGeom prst="rect">
            <a:avLst/>
          </a:prstGeom>
          <a:noFill/>
        </p:spPr>
        <p:txBody>
          <a:bodyPr wrap="square" lIns="0" tIns="0" rIns="0" bIns="0" anchor="t">
            <a:spAutoFit/>
          </a:bodyPr>
          <a:lstStyle/>
          <a:p>
            <a:pPr>
              <a:buNone/>
            </a:pPr>
            <a:r>
              <a:rPr sz="1150" b="1" i="0">
                <a:solidFill>
                  <a:srgbClr val="FFFFFF"/>
                </a:solidFill>
                <a:latin typeface="Aptos"/>
              </a:rPr>
              <a:t>6</a:t>
            </a:r>
          </a:p>
        </p:txBody>
      </p:sp>
      <p:sp>
        <p:nvSpPr>
          <p:cNvPr id="32" name="TextBox 31"/>
          <p:cNvSpPr txBox="1"/>
          <p:nvPr/>
        </p:nvSpPr>
        <p:spPr>
          <a:xfrm>
            <a:off x="1479550" y="4388166"/>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Classify surface units</a:t>
            </a:r>
          </a:p>
        </p:txBody>
      </p:sp>
      <p:sp>
        <p:nvSpPr>
          <p:cNvPr id="33" name="TextBox 32"/>
          <p:cNvSpPr txBox="1"/>
          <p:nvPr/>
        </p:nvSpPr>
        <p:spPr>
          <a:xfrm>
            <a:off x="4536440" y="4301997"/>
            <a:ext cx="6703060" cy="344677"/>
          </a:xfrm>
          <a:prstGeom prst="rect">
            <a:avLst/>
          </a:prstGeom>
          <a:noFill/>
        </p:spPr>
        <p:txBody>
          <a:bodyPr wrap="square" lIns="0" tIns="0" rIns="0" bIns="0" anchor="t">
            <a:spAutoFit/>
          </a:bodyPr>
          <a:lstStyle/>
          <a:p>
            <a:pPr>
              <a:buNone/>
            </a:pPr>
            <a:r>
              <a:rPr sz="1150" b="0" i="0">
                <a:solidFill>
                  <a:srgbClr val="DDE8F0"/>
                </a:solidFill>
                <a:latin typeface="Aptos"/>
              </a:rPr>
              <a:t>Iso Cluster, then Maximum Likelihood on training polygons. Already rehearsed on the Mercury MESSENGER basemap.</a:t>
            </a:r>
          </a:p>
        </p:txBody>
      </p:sp>
      <p:sp>
        <p:nvSpPr>
          <p:cNvPr id="34" name="Rectangle 33"/>
          <p:cNvSpPr/>
          <p:nvPr/>
        </p:nvSpPr>
        <p:spPr>
          <a:xfrm>
            <a:off x="825500" y="5141974"/>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52500" y="4858955"/>
            <a:ext cx="273050" cy="172338"/>
          </a:xfrm>
          <a:prstGeom prst="rect">
            <a:avLst/>
          </a:prstGeom>
          <a:noFill/>
        </p:spPr>
        <p:txBody>
          <a:bodyPr wrap="square" lIns="0" tIns="0" rIns="0" bIns="0" anchor="t">
            <a:spAutoFit/>
          </a:bodyPr>
          <a:lstStyle/>
          <a:p>
            <a:pPr>
              <a:buNone/>
            </a:pPr>
            <a:r>
              <a:rPr sz="1150" b="1" i="0">
                <a:solidFill>
                  <a:srgbClr val="FFFFFF"/>
                </a:solidFill>
                <a:latin typeface="Aptos"/>
              </a:rPr>
              <a:t>7</a:t>
            </a:r>
          </a:p>
        </p:txBody>
      </p:sp>
      <p:sp>
        <p:nvSpPr>
          <p:cNvPr id="36" name="TextBox 35"/>
          <p:cNvSpPr txBox="1"/>
          <p:nvPr/>
        </p:nvSpPr>
        <p:spPr>
          <a:xfrm>
            <a:off x="1479550" y="4858955"/>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Digitize landform vectors</a:t>
            </a:r>
          </a:p>
        </p:txBody>
      </p:sp>
      <p:sp>
        <p:nvSpPr>
          <p:cNvPr id="37" name="TextBox 36"/>
          <p:cNvSpPr txBox="1"/>
          <p:nvPr/>
        </p:nvSpPr>
        <p:spPr>
          <a:xfrm>
            <a:off x="4536440" y="4858955"/>
            <a:ext cx="6703060" cy="172338"/>
          </a:xfrm>
          <a:prstGeom prst="rect">
            <a:avLst/>
          </a:prstGeom>
          <a:noFill/>
        </p:spPr>
        <p:txBody>
          <a:bodyPr wrap="square" lIns="0" tIns="0" rIns="0" bIns="0" anchor="t">
            <a:spAutoFit/>
          </a:bodyPr>
          <a:lstStyle/>
          <a:p>
            <a:pPr>
              <a:buNone/>
            </a:pPr>
            <a:r>
              <a:rPr sz="1150" b="0" i="0">
                <a:solidFill>
                  <a:srgbClr val="DDE8F0"/>
                </a:solidFill>
                <a:latin typeface="Aptos"/>
              </a:rPr>
              <a:t>Flow margins, channel centerlines and crater rims as three feature classes.</a:t>
            </a:r>
          </a:p>
        </p:txBody>
      </p:sp>
      <p:sp>
        <p:nvSpPr>
          <p:cNvPr id="38" name="Rectangle 37"/>
          <p:cNvSpPr/>
          <p:nvPr/>
        </p:nvSpPr>
        <p:spPr>
          <a:xfrm>
            <a:off x="825500" y="5141974"/>
            <a:ext cx="10541000" cy="547877"/>
          </a:xfrm>
          <a:prstGeom prst="rect">
            <a:avLst/>
          </a:prstGeom>
          <a:solidFill>
            <a:srgbClr val="143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52500" y="5329743"/>
            <a:ext cx="273050" cy="172338"/>
          </a:xfrm>
          <a:prstGeom prst="rect">
            <a:avLst/>
          </a:prstGeom>
          <a:noFill/>
        </p:spPr>
        <p:txBody>
          <a:bodyPr wrap="square" lIns="0" tIns="0" rIns="0" bIns="0" anchor="t">
            <a:spAutoFit/>
          </a:bodyPr>
          <a:lstStyle/>
          <a:p>
            <a:pPr>
              <a:buNone/>
            </a:pPr>
            <a:r>
              <a:rPr sz="1150" b="1" i="0">
                <a:solidFill>
                  <a:srgbClr val="FFFFFF"/>
                </a:solidFill>
                <a:latin typeface="Aptos"/>
              </a:rPr>
              <a:t>8</a:t>
            </a:r>
          </a:p>
        </p:txBody>
      </p:sp>
      <p:sp>
        <p:nvSpPr>
          <p:cNvPr id="40" name="TextBox 39"/>
          <p:cNvSpPr txBox="1"/>
          <p:nvPr/>
        </p:nvSpPr>
        <p:spPr>
          <a:xfrm>
            <a:off x="1479550" y="5329743"/>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Build a real crater inventory</a:t>
            </a:r>
          </a:p>
        </p:txBody>
      </p:sp>
      <p:sp>
        <p:nvSpPr>
          <p:cNvPr id="41" name="TextBox 40"/>
          <p:cNvSpPr txBox="1"/>
          <p:nvPr/>
        </p:nvSpPr>
        <p:spPr>
          <a:xfrm>
            <a:off x="4536440" y="5243574"/>
            <a:ext cx="6703060" cy="344677"/>
          </a:xfrm>
          <a:prstGeom prst="rect">
            <a:avLst/>
          </a:prstGeom>
          <a:noFill/>
        </p:spPr>
        <p:txBody>
          <a:bodyPr wrap="square" lIns="0" tIns="0" rIns="0" bIns="0" anchor="t">
            <a:spAutoFit/>
          </a:bodyPr>
          <a:lstStyle/>
          <a:p>
            <a:pPr>
              <a:buNone/>
            </a:pPr>
            <a:r>
              <a:rPr sz="1150" b="0" i="0">
                <a:solidFill>
                  <a:srgbClr val="DDE8F0"/>
                </a:solidFill>
                <a:latin typeface="Aptos"/>
              </a:rPr>
              <a:t>The IAU layers are a gazetteer of 1,113 named craters. Digitize a sample area or import a catalogue.</a:t>
            </a:r>
          </a:p>
        </p:txBody>
      </p:sp>
      <p:sp>
        <p:nvSpPr>
          <p:cNvPr id="42" name="Rectangle 41"/>
          <p:cNvSpPr/>
          <p:nvPr/>
        </p:nvSpPr>
        <p:spPr>
          <a:xfrm>
            <a:off x="825500" y="6083551"/>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52500" y="5800532"/>
            <a:ext cx="273050" cy="172338"/>
          </a:xfrm>
          <a:prstGeom prst="rect">
            <a:avLst/>
          </a:prstGeom>
          <a:noFill/>
        </p:spPr>
        <p:txBody>
          <a:bodyPr wrap="square" lIns="0" tIns="0" rIns="0" bIns="0" anchor="t">
            <a:spAutoFit/>
          </a:bodyPr>
          <a:lstStyle/>
          <a:p>
            <a:pPr>
              <a:buNone/>
            </a:pPr>
            <a:r>
              <a:rPr sz="1150" b="1" i="0">
                <a:solidFill>
                  <a:srgbClr val="FFFFFF"/>
                </a:solidFill>
                <a:latin typeface="Aptos"/>
              </a:rPr>
              <a:t>9</a:t>
            </a:r>
          </a:p>
        </p:txBody>
      </p:sp>
      <p:sp>
        <p:nvSpPr>
          <p:cNvPr id="44" name="TextBox 43"/>
          <p:cNvSpPr txBox="1"/>
          <p:nvPr/>
        </p:nvSpPr>
        <p:spPr>
          <a:xfrm>
            <a:off x="1479550" y="5800532"/>
            <a:ext cx="2802890" cy="172338"/>
          </a:xfrm>
          <a:prstGeom prst="rect">
            <a:avLst/>
          </a:prstGeom>
          <a:noFill/>
        </p:spPr>
        <p:txBody>
          <a:bodyPr wrap="square" lIns="0" tIns="0" rIns="0" bIns="0" anchor="t">
            <a:spAutoFit/>
          </a:bodyPr>
          <a:lstStyle/>
          <a:p>
            <a:pPr>
              <a:buNone/>
            </a:pPr>
            <a:r>
              <a:rPr sz="1150" b="0" i="0">
                <a:solidFill>
                  <a:srgbClr val="DDE8F0"/>
                </a:solidFill>
                <a:latin typeface="Aptos"/>
              </a:rPr>
              <a:t>Produce the map layouts</a:t>
            </a:r>
          </a:p>
        </p:txBody>
      </p:sp>
      <p:sp>
        <p:nvSpPr>
          <p:cNvPr id="45" name="TextBox 44"/>
          <p:cNvSpPr txBox="1"/>
          <p:nvPr/>
        </p:nvSpPr>
        <p:spPr>
          <a:xfrm>
            <a:off x="4536440" y="5800532"/>
            <a:ext cx="6703060" cy="172338"/>
          </a:xfrm>
          <a:prstGeom prst="rect">
            <a:avLst/>
          </a:prstGeom>
          <a:noFill/>
        </p:spPr>
        <p:txBody>
          <a:bodyPr wrap="square" lIns="0" tIns="0" rIns="0" bIns="0" anchor="t">
            <a:spAutoFit/>
          </a:bodyPr>
          <a:lstStyle/>
          <a:p>
            <a:pPr>
              <a:buNone/>
            </a:pPr>
            <a:r>
              <a:rPr sz="1150" b="0" i="0">
                <a:solidFill>
                  <a:srgbClr val="DDE8F0"/>
                </a:solidFill>
                <a:latin typeface="Aptos"/>
              </a:rPr>
              <a:t>None exist yet. Global sheets at 60°N–60°S plus detail panels.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Which Spectral Bands and Why</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05</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6" name="TextBox 5"/>
          <p:cNvSpPr txBox="1"/>
          <p:nvPr/>
        </p:nvSpPr>
        <p:spPr>
          <a:xfrm>
            <a:off x="952500" y="2184400"/>
            <a:ext cx="2908300" cy="203200"/>
          </a:xfrm>
          <a:prstGeom prst="rect">
            <a:avLst/>
          </a:prstGeom>
          <a:noFill/>
        </p:spPr>
        <p:txBody>
          <a:bodyPr wrap="square" lIns="0" tIns="0" rIns="0" bIns="0" anchor="t">
            <a:spAutoFit/>
          </a:bodyPr>
          <a:lstStyle/>
          <a:p>
            <a:pPr>
              <a:buNone/>
            </a:pPr>
            <a:r>
              <a:rPr sz="1000" b="0" i="0" spc="140">
                <a:solidFill>
                  <a:srgbClr val="0E9ED4"/>
                </a:solidFill>
                <a:latin typeface="Aptos"/>
              </a:rPr>
              <a:t>BAND OR PRODUCT</a:t>
            </a:r>
          </a:p>
        </p:txBody>
      </p:sp>
      <p:sp>
        <p:nvSpPr>
          <p:cNvPr id="7" name="TextBox 6"/>
          <p:cNvSpPr txBox="1"/>
          <p:nvPr/>
        </p:nvSpPr>
        <p:spPr>
          <a:xfrm>
            <a:off x="4114800" y="2184400"/>
            <a:ext cx="1432560" cy="203200"/>
          </a:xfrm>
          <a:prstGeom prst="rect">
            <a:avLst/>
          </a:prstGeom>
          <a:noFill/>
        </p:spPr>
        <p:txBody>
          <a:bodyPr wrap="square" lIns="0" tIns="0" rIns="0" bIns="0" anchor="t">
            <a:spAutoFit/>
          </a:bodyPr>
          <a:lstStyle/>
          <a:p>
            <a:pPr>
              <a:buNone/>
            </a:pPr>
            <a:r>
              <a:rPr sz="1000" b="0" i="0" spc="140">
                <a:solidFill>
                  <a:srgbClr val="0E9ED4"/>
                </a:solidFill>
                <a:latin typeface="Aptos"/>
              </a:rPr>
              <a:t>WAVELENGTH</a:t>
            </a:r>
          </a:p>
        </p:txBody>
      </p:sp>
      <p:sp>
        <p:nvSpPr>
          <p:cNvPr id="8" name="TextBox 7"/>
          <p:cNvSpPr txBox="1"/>
          <p:nvPr/>
        </p:nvSpPr>
        <p:spPr>
          <a:xfrm>
            <a:off x="5801360" y="2184400"/>
            <a:ext cx="5438140" cy="203200"/>
          </a:xfrm>
          <a:prstGeom prst="rect">
            <a:avLst/>
          </a:prstGeom>
          <a:noFill/>
        </p:spPr>
        <p:txBody>
          <a:bodyPr wrap="square" lIns="0" tIns="0" rIns="0" bIns="0" anchor="t">
            <a:spAutoFit/>
          </a:bodyPr>
          <a:lstStyle/>
          <a:p>
            <a:pPr>
              <a:buNone/>
            </a:pPr>
            <a:r>
              <a:rPr sz="1000" b="0" i="0" spc="140">
                <a:solidFill>
                  <a:srgbClr val="0E9ED4"/>
                </a:solidFill>
                <a:latin typeface="Aptos"/>
              </a:rPr>
              <a:t>WHY THIS BAND</a:t>
            </a:r>
          </a:p>
        </p:txBody>
      </p:sp>
      <p:sp>
        <p:nvSpPr>
          <p:cNvPr id="9" name="Rectangle 8"/>
          <p:cNvSpPr/>
          <p:nvPr/>
        </p:nvSpPr>
        <p:spPr>
          <a:xfrm>
            <a:off x="825500" y="2463800"/>
            <a:ext cx="10541000" cy="2032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5500" y="316992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2500" y="2722118"/>
            <a:ext cx="2908300" cy="209804"/>
          </a:xfrm>
          <a:prstGeom prst="rect">
            <a:avLst/>
          </a:prstGeom>
          <a:noFill/>
        </p:spPr>
        <p:txBody>
          <a:bodyPr wrap="square" lIns="0" tIns="0" rIns="0" bIns="0" anchor="t">
            <a:spAutoFit/>
          </a:bodyPr>
          <a:lstStyle/>
          <a:p>
            <a:pPr>
              <a:buNone/>
            </a:pPr>
            <a:r>
              <a:rPr sz="1400" b="1" i="0">
                <a:solidFill>
                  <a:srgbClr val="FFFFFF"/>
                </a:solidFill>
                <a:latin typeface="Aptos"/>
              </a:rPr>
              <a:t>THEMIS Day IR (v12 mosaic)</a:t>
            </a:r>
          </a:p>
        </p:txBody>
      </p:sp>
      <p:sp>
        <p:nvSpPr>
          <p:cNvPr id="12" name="TextBox 11"/>
          <p:cNvSpPr txBox="1"/>
          <p:nvPr/>
        </p:nvSpPr>
        <p:spPr>
          <a:xfrm>
            <a:off x="4114800" y="2722118"/>
            <a:ext cx="1432560" cy="209804"/>
          </a:xfrm>
          <a:prstGeom prst="rect">
            <a:avLst/>
          </a:prstGeom>
          <a:noFill/>
        </p:spPr>
        <p:txBody>
          <a:bodyPr wrap="square" lIns="0" tIns="0" rIns="0" bIns="0" anchor="t">
            <a:spAutoFit/>
          </a:bodyPr>
          <a:lstStyle/>
          <a:p>
            <a:pPr>
              <a:buNone/>
            </a:pPr>
            <a:r>
              <a:rPr sz="1400" b="0" i="0">
                <a:solidFill>
                  <a:srgbClr val="DDE8F0"/>
                </a:solidFill>
                <a:latin typeface="Aptos"/>
              </a:rPr>
              <a:t>6.8–14.9 µm</a:t>
            </a:r>
          </a:p>
        </p:txBody>
      </p:sp>
      <p:sp>
        <p:nvSpPr>
          <p:cNvPr id="13" name="TextBox 12"/>
          <p:cNvSpPr txBox="1"/>
          <p:nvPr/>
        </p:nvSpPr>
        <p:spPr>
          <a:xfrm>
            <a:off x="5801360" y="2617216"/>
            <a:ext cx="5438140" cy="419608"/>
          </a:xfrm>
          <a:prstGeom prst="rect">
            <a:avLst/>
          </a:prstGeom>
          <a:noFill/>
        </p:spPr>
        <p:txBody>
          <a:bodyPr wrap="square" lIns="0" tIns="0" rIns="0" bIns="0" anchor="t">
            <a:spAutoFit/>
          </a:bodyPr>
          <a:lstStyle/>
          <a:p>
            <a:pPr>
              <a:buNone/>
            </a:pPr>
            <a:r>
              <a:rPr sz="1400" b="0" i="0">
                <a:solidFill>
                  <a:srgbClr val="DDE8F0"/>
                </a:solidFill>
                <a:latin typeface="Aptos"/>
              </a:rPr>
              <a:t>The morphology and composition base, and the finest global layer held</a:t>
            </a:r>
          </a:p>
        </p:txBody>
      </p:sp>
      <p:sp>
        <p:nvSpPr>
          <p:cNvPr id="14" name="Rectangle 13"/>
          <p:cNvSpPr/>
          <p:nvPr/>
        </p:nvSpPr>
        <p:spPr>
          <a:xfrm>
            <a:off x="825500" y="3169920"/>
            <a:ext cx="10541000" cy="685800"/>
          </a:xfrm>
          <a:prstGeom prst="rect">
            <a:avLst/>
          </a:prstGeom>
          <a:solidFill>
            <a:srgbClr val="143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2500" y="3407918"/>
            <a:ext cx="2908300" cy="209804"/>
          </a:xfrm>
          <a:prstGeom prst="rect">
            <a:avLst/>
          </a:prstGeom>
          <a:noFill/>
        </p:spPr>
        <p:txBody>
          <a:bodyPr wrap="square" lIns="0" tIns="0" rIns="0" bIns="0" anchor="t">
            <a:spAutoFit/>
          </a:bodyPr>
          <a:lstStyle/>
          <a:p>
            <a:pPr>
              <a:buNone/>
            </a:pPr>
            <a:r>
              <a:rPr sz="1400" b="1" i="0">
                <a:solidFill>
                  <a:srgbClr val="FFFFFF"/>
                </a:solidFill>
                <a:latin typeface="Aptos"/>
              </a:rPr>
              <a:t>Viking MDIM 2.1 band 1 (red)</a:t>
            </a:r>
          </a:p>
        </p:txBody>
      </p:sp>
      <p:sp>
        <p:nvSpPr>
          <p:cNvPr id="16" name="TextBox 15"/>
          <p:cNvSpPr txBox="1"/>
          <p:nvPr/>
        </p:nvSpPr>
        <p:spPr>
          <a:xfrm>
            <a:off x="4114800" y="3407918"/>
            <a:ext cx="1432560" cy="209804"/>
          </a:xfrm>
          <a:prstGeom prst="rect">
            <a:avLst/>
          </a:prstGeom>
          <a:noFill/>
        </p:spPr>
        <p:txBody>
          <a:bodyPr wrap="square" lIns="0" tIns="0" rIns="0" bIns="0" anchor="t">
            <a:spAutoFit/>
          </a:bodyPr>
          <a:lstStyle/>
          <a:p>
            <a:pPr>
              <a:buNone/>
            </a:pPr>
            <a:r>
              <a:rPr sz="1400" b="0" i="0">
                <a:solidFill>
                  <a:srgbClr val="DDE8F0"/>
                </a:solidFill>
                <a:latin typeface="Aptos"/>
              </a:rPr>
              <a:t>≈ 0.59 µm</a:t>
            </a:r>
          </a:p>
        </p:txBody>
      </p:sp>
      <p:sp>
        <p:nvSpPr>
          <p:cNvPr id="17" name="TextBox 16"/>
          <p:cNvSpPr txBox="1"/>
          <p:nvPr/>
        </p:nvSpPr>
        <p:spPr>
          <a:xfrm>
            <a:off x="5801360" y="3407918"/>
            <a:ext cx="5438140" cy="209804"/>
          </a:xfrm>
          <a:prstGeom prst="rect">
            <a:avLst/>
          </a:prstGeom>
          <a:noFill/>
        </p:spPr>
        <p:txBody>
          <a:bodyPr wrap="square" lIns="0" tIns="0" rIns="0" bIns="0" anchor="t">
            <a:spAutoFit/>
          </a:bodyPr>
          <a:lstStyle/>
          <a:p>
            <a:pPr>
              <a:buNone/>
            </a:pPr>
            <a:r>
              <a:rPr sz="1400" b="0" i="0">
                <a:solidFill>
                  <a:srgbClr val="DDE8F0"/>
                </a:solidFill>
                <a:latin typeface="Aptos"/>
              </a:rPr>
              <a:t>Best contrast between ferric dust and darker basalt</a:t>
            </a:r>
          </a:p>
        </p:txBody>
      </p:sp>
      <p:sp>
        <p:nvSpPr>
          <p:cNvPr id="18" name="Rectangle 17"/>
          <p:cNvSpPr/>
          <p:nvPr/>
        </p:nvSpPr>
        <p:spPr>
          <a:xfrm>
            <a:off x="825500" y="454152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2500" y="4093718"/>
            <a:ext cx="2908300" cy="209804"/>
          </a:xfrm>
          <a:prstGeom prst="rect">
            <a:avLst/>
          </a:prstGeom>
          <a:noFill/>
        </p:spPr>
        <p:txBody>
          <a:bodyPr wrap="square" lIns="0" tIns="0" rIns="0" bIns="0" anchor="t">
            <a:spAutoFit/>
          </a:bodyPr>
          <a:lstStyle/>
          <a:p>
            <a:pPr>
              <a:buNone/>
            </a:pPr>
            <a:r>
              <a:rPr sz="1400" b="1" i="0">
                <a:solidFill>
                  <a:srgbClr val="FFFFFF"/>
                </a:solidFill>
                <a:latin typeface="Aptos"/>
              </a:rPr>
              <a:t>Viking MDIM 2.1 bands 1/2/3</a:t>
            </a:r>
          </a:p>
        </p:txBody>
      </p:sp>
      <p:sp>
        <p:nvSpPr>
          <p:cNvPr id="20" name="TextBox 19"/>
          <p:cNvSpPr txBox="1"/>
          <p:nvPr/>
        </p:nvSpPr>
        <p:spPr>
          <a:xfrm>
            <a:off x="4114800" y="4093718"/>
            <a:ext cx="1432560" cy="209804"/>
          </a:xfrm>
          <a:prstGeom prst="rect">
            <a:avLst/>
          </a:prstGeom>
          <a:noFill/>
        </p:spPr>
        <p:txBody>
          <a:bodyPr wrap="square" lIns="0" tIns="0" rIns="0" bIns="0" anchor="t">
            <a:spAutoFit/>
          </a:bodyPr>
          <a:lstStyle/>
          <a:p>
            <a:pPr>
              <a:buNone/>
            </a:pPr>
            <a:r>
              <a:rPr sz="1400" b="0" i="0">
                <a:solidFill>
                  <a:srgbClr val="DDE8F0"/>
                </a:solidFill>
                <a:latin typeface="Aptos"/>
              </a:rPr>
              <a:t>visible RGB</a:t>
            </a:r>
          </a:p>
        </p:txBody>
      </p:sp>
      <p:sp>
        <p:nvSpPr>
          <p:cNvPr id="21" name="TextBox 20"/>
          <p:cNvSpPr txBox="1"/>
          <p:nvPr/>
        </p:nvSpPr>
        <p:spPr>
          <a:xfrm>
            <a:off x="5801360" y="4093718"/>
            <a:ext cx="5438140" cy="209804"/>
          </a:xfrm>
          <a:prstGeom prst="rect">
            <a:avLst/>
          </a:prstGeom>
          <a:noFill/>
        </p:spPr>
        <p:txBody>
          <a:bodyPr wrap="square" lIns="0" tIns="0" rIns="0" bIns="0" anchor="t">
            <a:spAutoFit/>
          </a:bodyPr>
          <a:lstStyle/>
          <a:p>
            <a:pPr>
              <a:buNone/>
            </a:pPr>
            <a:r>
              <a:rPr sz="1400" b="0" i="0">
                <a:solidFill>
                  <a:srgbClr val="DDE8F0"/>
                </a:solidFill>
                <a:latin typeface="Aptos"/>
              </a:rPr>
              <a:t>Natural-colur context and unit boundary confirmation</a:t>
            </a:r>
          </a:p>
        </p:txBody>
      </p:sp>
      <p:sp>
        <p:nvSpPr>
          <p:cNvPr id="22" name="Rectangle 21"/>
          <p:cNvSpPr/>
          <p:nvPr/>
        </p:nvSpPr>
        <p:spPr>
          <a:xfrm>
            <a:off x="825500" y="4541520"/>
            <a:ext cx="10541000" cy="685800"/>
          </a:xfrm>
          <a:prstGeom prst="rect">
            <a:avLst/>
          </a:prstGeom>
          <a:solidFill>
            <a:srgbClr val="143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2500" y="4779518"/>
            <a:ext cx="2908300" cy="209804"/>
          </a:xfrm>
          <a:prstGeom prst="rect">
            <a:avLst/>
          </a:prstGeom>
          <a:noFill/>
        </p:spPr>
        <p:txBody>
          <a:bodyPr wrap="square" lIns="0" tIns="0" rIns="0" bIns="0" anchor="t">
            <a:spAutoFit/>
          </a:bodyPr>
          <a:lstStyle/>
          <a:p>
            <a:pPr>
              <a:buNone/>
            </a:pPr>
            <a:r>
              <a:rPr sz="1400" b="1" i="0">
                <a:solidFill>
                  <a:srgbClr val="FFFFFF"/>
                </a:solidFill>
                <a:latin typeface="Aptos"/>
              </a:rPr>
              <a:t>HRSC/MOLA elevation</a:t>
            </a:r>
          </a:p>
        </p:txBody>
      </p:sp>
      <p:sp>
        <p:nvSpPr>
          <p:cNvPr id="24" name="TextBox 23"/>
          <p:cNvSpPr txBox="1"/>
          <p:nvPr/>
        </p:nvSpPr>
        <p:spPr>
          <a:xfrm>
            <a:off x="4114800" y="4779518"/>
            <a:ext cx="1432560" cy="209804"/>
          </a:xfrm>
          <a:prstGeom prst="rect">
            <a:avLst/>
          </a:prstGeom>
          <a:noFill/>
        </p:spPr>
        <p:txBody>
          <a:bodyPr wrap="square" lIns="0" tIns="0" rIns="0" bIns="0" anchor="t">
            <a:spAutoFit/>
          </a:bodyPr>
          <a:lstStyle/>
          <a:p>
            <a:pPr>
              <a:buNone/>
            </a:pPr>
            <a:r>
              <a:rPr sz="1400" b="0" i="0">
                <a:solidFill>
                  <a:srgbClr val="DDE8F0"/>
                </a:solidFill>
                <a:latin typeface="Aptos"/>
              </a:rPr>
              <a:t>n/a (altimetry)</a:t>
            </a:r>
          </a:p>
        </p:txBody>
      </p:sp>
      <p:sp>
        <p:nvSpPr>
          <p:cNvPr id="25" name="TextBox 24"/>
          <p:cNvSpPr txBox="1"/>
          <p:nvPr/>
        </p:nvSpPr>
        <p:spPr>
          <a:xfrm>
            <a:off x="5801360" y="4779518"/>
            <a:ext cx="5438140" cy="209804"/>
          </a:xfrm>
          <a:prstGeom prst="rect">
            <a:avLst/>
          </a:prstGeom>
          <a:noFill/>
        </p:spPr>
        <p:txBody>
          <a:bodyPr wrap="square" lIns="0" tIns="0" rIns="0" bIns="0" anchor="t">
            <a:spAutoFit/>
          </a:bodyPr>
          <a:lstStyle/>
          <a:p>
            <a:pPr>
              <a:buNone/>
            </a:pPr>
            <a:r>
              <a:rPr sz="1400" b="0" i="0">
                <a:solidFill>
                  <a:srgbClr val="DDE8F0"/>
                </a:solidFill>
                <a:latin typeface="Aptos"/>
              </a:rPr>
              <a:t>The vertical reference for every channel gradient measured</a:t>
            </a:r>
          </a:p>
        </p:txBody>
      </p:sp>
    </p:spTree>
    <p:extLst>
      <p:ext uri="{BB962C8B-B14F-4D97-AF65-F5344CB8AC3E}">
        <p14:creationId xmlns:p14="http://schemas.microsoft.com/office/powerpoint/2010/main" val="88084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Which Part of the Electromagnetic Spectrum</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06</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6" name="Picture 5" descr="em_spectrum_dark.png"/>
          <p:cNvPicPr>
            <a:picLocks noChangeAspect="1"/>
          </p:cNvPicPr>
          <p:nvPr/>
        </p:nvPicPr>
        <p:blipFill>
          <a:blip r:embed="rId2"/>
          <a:stretch>
            <a:fillRect/>
          </a:stretch>
        </p:blipFill>
        <p:spPr>
          <a:xfrm>
            <a:off x="825500" y="2014711"/>
            <a:ext cx="10541000" cy="38953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Mapping Extent</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07</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6" name="Picture 5" descr="g_extent_dark.png"/>
          <p:cNvPicPr>
            <a:picLocks noChangeAspect="1"/>
          </p:cNvPicPr>
          <p:nvPr/>
        </p:nvPicPr>
        <p:blipFill>
          <a:blip r:embed="rId2"/>
          <a:stretch>
            <a:fillRect/>
          </a:stretch>
        </p:blipFill>
        <p:spPr>
          <a:xfrm>
            <a:off x="1713821" y="1727200"/>
            <a:ext cx="8764358" cy="4419600"/>
          </a:xfrm>
          <a:prstGeom prst="rect">
            <a:avLst/>
          </a:prstGeom>
        </p:spPr>
      </p:pic>
    </p:spTree>
    <p:extLst>
      <p:ext uri="{BB962C8B-B14F-4D97-AF65-F5344CB8AC3E}">
        <p14:creationId xmlns:p14="http://schemas.microsoft.com/office/powerpoint/2010/main" val="109893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Data Sources</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08</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6" name="Picture 5" descr="s08_dem.jpg"/>
          <p:cNvPicPr>
            <a:picLocks noChangeAspect="1"/>
          </p:cNvPicPr>
          <p:nvPr/>
        </p:nvPicPr>
        <p:blipFill>
          <a:blip r:embed="rId2"/>
          <a:srcRect t="1259" b="1259"/>
          <a:stretch>
            <a:fillRect/>
          </a:stretch>
        </p:blipFill>
        <p:spPr>
          <a:xfrm>
            <a:off x="825500" y="2006600"/>
            <a:ext cx="3327400" cy="2870200"/>
          </a:xfrm>
          <a:prstGeom prst="rect">
            <a:avLst/>
          </a:prstGeom>
        </p:spPr>
      </p:pic>
      <p:sp>
        <p:nvSpPr>
          <p:cNvPr id="7" name="Rectangle 6"/>
          <p:cNvSpPr/>
          <p:nvPr/>
        </p:nvSpPr>
        <p:spPr>
          <a:xfrm>
            <a:off x="825500" y="4876800"/>
            <a:ext cx="33274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500" y="5105400"/>
            <a:ext cx="3327400" cy="508000"/>
          </a:xfrm>
          <a:prstGeom prst="rect">
            <a:avLst/>
          </a:prstGeom>
          <a:noFill/>
        </p:spPr>
        <p:txBody>
          <a:bodyPr wrap="square" lIns="0" tIns="0" rIns="0" bIns="0" anchor="t">
            <a:spAutoFit/>
          </a:bodyPr>
          <a:lstStyle/>
          <a:p>
            <a:pPr>
              <a:buNone/>
            </a:pPr>
            <a:r>
              <a:rPr sz="1500" b="0" i="0">
                <a:solidFill>
                  <a:srgbClr val="FFFFFF"/>
                </a:solidFill>
                <a:latin typeface="Aptos"/>
              </a:rPr>
              <a:t>HRSC_MOLA_BlendDEM_200m</a:t>
            </a:r>
          </a:p>
          <a:p>
            <a:pPr>
              <a:spcBef>
                <a:spcPts val="500"/>
              </a:spcBef>
              <a:buNone/>
            </a:pPr>
            <a:r>
              <a:rPr sz="1050" b="0" i="0">
                <a:solidFill>
                  <a:srgbClr val="6F8CA6"/>
                </a:solidFill>
                <a:latin typeface="Aptos"/>
              </a:rPr>
              <a:t>Elevation · 200 m/px · 106,694 × 53,347</a:t>
            </a:r>
          </a:p>
        </p:txBody>
      </p:sp>
      <p:pic>
        <p:nvPicPr>
          <p:cNvPr id="9" name="Picture 8" descr="s08_themis.jpg"/>
          <p:cNvPicPr>
            <a:picLocks noChangeAspect="1"/>
          </p:cNvPicPr>
          <p:nvPr/>
        </p:nvPicPr>
        <p:blipFill>
          <a:blip r:embed="rId3"/>
          <a:srcRect t="1165" b="1165"/>
          <a:stretch>
            <a:fillRect/>
          </a:stretch>
        </p:blipFill>
        <p:spPr>
          <a:xfrm>
            <a:off x="4432300" y="2006600"/>
            <a:ext cx="3327400" cy="2870200"/>
          </a:xfrm>
          <a:prstGeom prst="rect">
            <a:avLst/>
          </a:prstGeom>
        </p:spPr>
      </p:pic>
      <p:sp>
        <p:nvSpPr>
          <p:cNvPr id="10" name="Rectangle 9"/>
          <p:cNvSpPr/>
          <p:nvPr/>
        </p:nvSpPr>
        <p:spPr>
          <a:xfrm>
            <a:off x="4432300" y="4876800"/>
            <a:ext cx="33274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2300" y="5105400"/>
            <a:ext cx="3327400" cy="508000"/>
          </a:xfrm>
          <a:prstGeom prst="rect">
            <a:avLst/>
          </a:prstGeom>
          <a:noFill/>
        </p:spPr>
        <p:txBody>
          <a:bodyPr wrap="square" lIns="0" tIns="0" rIns="0" bIns="0" anchor="t">
            <a:spAutoFit/>
          </a:bodyPr>
          <a:lstStyle/>
          <a:p>
            <a:pPr>
              <a:buNone/>
            </a:pPr>
            <a:r>
              <a:rPr sz="1500" b="0" i="0">
                <a:solidFill>
                  <a:srgbClr val="FFFFFF"/>
                </a:solidFill>
                <a:latin typeface="Aptos"/>
              </a:rPr>
              <a:t>MO_THEMIS-IR-Day_100m</a:t>
            </a:r>
          </a:p>
          <a:p>
            <a:pPr>
              <a:spcBef>
                <a:spcPts val="500"/>
              </a:spcBef>
              <a:buNone/>
            </a:pPr>
            <a:r>
              <a:rPr sz="1050" b="0" i="0">
                <a:solidFill>
                  <a:srgbClr val="6F8CA6"/>
                </a:solidFill>
                <a:latin typeface="Aptos"/>
              </a:rPr>
              <a:t>Thermal IR · 100 m/px · 213,390 × 106,696</a:t>
            </a:r>
          </a:p>
        </p:txBody>
      </p:sp>
      <p:pic>
        <p:nvPicPr>
          <p:cNvPr id="12" name="Picture 11" descr="s08_viking.jpg"/>
          <p:cNvPicPr>
            <a:picLocks noChangeAspect="1"/>
          </p:cNvPicPr>
          <p:nvPr/>
        </p:nvPicPr>
        <p:blipFill>
          <a:blip r:embed="rId4"/>
          <a:srcRect t="1259" b="1259"/>
          <a:stretch>
            <a:fillRect/>
          </a:stretch>
        </p:blipFill>
        <p:spPr>
          <a:xfrm>
            <a:off x="8039100" y="2006600"/>
            <a:ext cx="3327400" cy="2870200"/>
          </a:xfrm>
          <a:prstGeom prst="rect">
            <a:avLst/>
          </a:prstGeom>
        </p:spPr>
      </p:pic>
      <p:sp>
        <p:nvSpPr>
          <p:cNvPr id="13" name="Rectangle 12"/>
          <p:cNvSpPr/>
          <p:nvPr/>
        </p:nvSpPr>
        <p:spPr>
          <a:xfrm>
            <a:off x="8039100" y="4876800"/>
            <a:ext cx="33274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39100" y="5105400"/>
            <a:ext cx="3327400" cy="508000"/>
          </a:xfrm>
          <a:prstGeom prst="rect">
            <a:avLst/>
          </a:prstGeom>
          <a:noFill/>
        </p:spPr>
        <p:txBody>
          <a:bodyPr wrap="square" lIns="0" tIns="0" rIns="0" bIns="0" anchor="t">
            <a:spAutoFit/>
          </a:bodyPr>
          <a:lstStyle/>
          <a:p>
            <a:pPr>
              <a:buNone/>
            </a:pPr>
            <a:r>
              <a:rPr sz="1500" b="0" i="0">
                <a:solidFill>
                  <a:srgbClr val="FFFFFF"/>
                </a:solidFill>
                <a:latin typeface="Aptos"/>
              </a:rPr>
              <a:t>Viking_MDIM21_232m</a:t>
            </a:r>
          </a:p>
          <a:p>
            <a:pPr>
              <a:spcBef>
                <a:spcPts val="500"/>
              </a:spcBef>
              <a:buNone/>
            </a:pPr>
            <a:r>
              <a:rPr sz="1050" b="0" i="0">
                <a:solidFill>
                  <a:srgbClr val="6F8CA6"/>
                </a:solidFill>
                <a:latin typeface="Aptos"/>
              </a:rPr>
              <a:t>Visible color · 232 m/px · 92,160 × 46,080 · 3 bands</a:t>
            </a:r>
          </a:p>
        </p:txBody>
      </p:sp>
    </p:spTree>
    <p:extLst>
      <p:ext uri="{BB962C8B-B14F-4D97-AF65-F5344CB8AC3E}">
        <p14:creationId xmlns:p14="http://schemas.microsoft.com/office/powerpoint/2010/main" val="6046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THE VERTICAL REFERENCE</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HRSC/MOLA Blended DEM</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09</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7" name="Picture 6" descr="g_dem_dark.png"/>
          <p:cNvPicPr>
            <a:picLocks noChangeAspect="1"/>
          </p:cNvPicPr>
          <p:nvPr/>
        </p:nvPicPr>
        <p:blipFill>
          <a:blip r:embed="rId2"/>
          <a:stretch>
            <a:fillRect/>
          </a:stretch>
        </p:blipFill>
        <p:spPr>
          <a:xfrm>
            <a:off x="883148" y="1828800"/>
            <a:ext cx="10425704" cy="3886200"/>
          </a:xfrm>
          <a:prstGeom prst="rect">
            <a:avLst/>
          </a:prstGeom>
        </p:spPr>
      </p:pic>
      <p:sp>
        <p:nvSpPr>
          <p:cNvPr id="8" name="TextBox 7"/>
          <p:cNvSpPr txBox="1"/>
          <p:nvPr/>
        </p:nvSpPr>
        <p:spPr>
          <a:xfrm>
            <a:off x="825500" y="5969000"/>
            <a:ext cx="10541000" cy="161583"/>
          </a:xfrm>
          <a:prstGeom prst="rect">
            <a:avLst/>
          </a:prstGeom>
          <a:noFill/>
        </p:spPr>
        <p:txBody>
          <a:bodyPr wrap="square" lIns="0" tIns="0" rIns="0" bIns="0" anchor="t">
            <a:spAutoFit/>
          </a:bodyPr>
          <a:lstStyle/>
          <a:p>
            <a:pPr>
              <a:buNone/>
            </a:pPr>
            <a:r>
              <a:rPr sz="1050" b="0" i="1" dirty="0">
                <a:solidFill>
                  <a:srgbClr val="6F8CA6"/>
                </a:solidFill>
                <a:latin typeface="Aptos"/>
              </a:rPr>
              <a:t>200 m/</a:t>
            </a:r>
            <a:r>
              <a:rPr sz="1050" b="0" i="1" dirty="0" err="1">
                <a:solidFill>
                  <a:srgbClr val="6F8CA6"/>
                </a:solidFill>
                <a:latin typeface="Aptos"/>
              </a:rPr>
              <a:t>px</a:t>
            </a:r>
            <a:r>
              <a:rPr sz="1050" b="0" i="1" dirty="0">
                <a:solidFill>
                  <a:srgbClr val="6F8CA6"/>
                </a:solidFill>
                <a:latin typeface="Aptos"/>
              </a:rPr>
              <a:t>, 106,694 × 53,347, 16-bit. Measured relief −8,528 m to +21,226 m</a:t>
            </a:r>
            <a:r>
              <a:rPr lang="en-US" sz="1050" b="0" i="1" dirty="0">
                <a:solidFill>
                  <a:srgbClr val="6F8CA6"/>
                </a:solidFill>
                <a:latin typeface="Aptos"/>
              </a:rPr>
              <a:t>, </a:t>
            </a:r>
            <a:r>
              <a:rPr sz="1050" b="0" i="1" dirty="0">
                <a:solidFill>
                  <a:srgbClr val="6F8CA6"/>
                </a:solidFill>
                <a:latin typeface="Aptos"/>
              </a:rPr>
              <a:t>29,754 m from the Hellas floor to the Olympus Mons summit.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THE 100 M THERMAL BASE</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THEMIS Day IR</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10</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7" name="Picture 6" descr="g_themis_dark.png"/>
          <p:cNvPicPr>
            <a:picLocks noChangeAspect="1"/>
          </p:cNvPicPr>
          <p:nvPr/>
        </p:nvPicPr>
        <p:blipFill>
          <a:blip r:embed="rId2"/>
          <a:stretch>
            <a:fillRect/>
          </a:stretch>
        </p:blipFill>
        <p:spPr>
          <a:xfrm>
            <a:off x="825500" y="1939333"/>
            <a:ext cx="10541000" cy="3690534"/>
          </a:xfrm>
          <a:prstGeom prst="rect">
            <a:avLst/>
          </a:prstGeom>
        </p:spPr>
      </p:pic>
      <p:sp>
        <p:nvSpPr>
          <p:cNvPr id="8" name="TextBox 7"/>
          <p:cNvSpPr txBox="1"/>
          <p:nvPr/>
        </p:nvSpPr>
        <p:spPr>
          <a:xfrm>
            <a:off x="825500" y="5892800"/>
            <a:ext cx="10541000" cy="161583"/>
          </a:xfrm>
          <a:prstGeom prst="rect">
            <a:avLst/>
          </a:prstGeom>
          <a:noFill/>
        </p:spPr>
        <p:txBody>
          <a:bodyPr wrap="square" lIns="0" tIns="0" rIns="0" bIns="0" anchor="t">
            <a:spAutoFit/>
          </a:bodyPr>
          <a:lstStyle/>
          <a:p>
            <a:pPr>
              <a:buNone/>
            </a:pPr>
            <a:r>
              <a:rPr sz="1050" b="0" i="1" dirty="0">
                <a:solidFill>
                  <a:srgbClr val="6F8CA6"/>
                </a:solidFill>
                <a:latin typeface="Aptos"/>
              </a:rPr>
              <a:t>100 m/</a:t>
            </a:r>
            <a:r>
              <a:rPr sz="1050" b="0" i="1" dirty="0" err="1">
                <a:solidFill>
                  <a:srgbClr val="6F8CA6"/>
                </a:solidFill>
                <a:latin typeface="Aptos"/>
              </a:rPr>
              <a:t>px</a:t>
            </a:r>
            <a:r>
              <a:rPr sz="1050" b="0" i="1" dirty="0">
                <a:solidFill>
                  <a:srgbClr val="6F8CA6"/>
                </a:solidFill>
                <a:latin typeface="Aptos"/>
              </a:rPr>
              <a:t>, 213,390 × 106,696</a:t>
            </a:r>
            <a:r>
              <a:rPr lang="en-US" sz="1050" b="0" i="1" dirty="0">
                <a:solidFill>
                  <a:srgbClr val="6F8CA6"/>
                </a:solidFill>
                <a:latin typeface="Aptos"/>
              </a:rPr>
              <a:t>,</a:t>
            </a:r>
            <a:r>
              <a:rPr sz="1050" b="0" i="1" dirty="0">
                <a:solidFill>
                  <a:srgbClr val="6F8CA6"/>
                </a:solidFill>
                <a:latin typeface="Aptos"/>
              </a:rPr>
              <a:t> 22.77 billion pixels, of which 22.14 billion are valid (97.3% coverage). Rolled from central meridian 180° onto 0° so it registers against the other two.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THE VISIBLE BASE</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Viking MDIM 2.1</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11</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7" name="Picture 6" descr="g_viking_dark.png"/>
          <p:cNvPicPr>
            <a:picLocks noChangeAspect="1"/>
          </p:cNvPicPr>
          <p:nvPr/>
        </p:nvPicPr>
        <p:blipFill>
          <a:blip r:embed="rId2"/>
          <a:stretch>
            <a:fillRect/>
          </a:stretch>
        </p:blipFill>
        <p:spPr>
          <a:xfrm>
            <a:off x="825500" y="1939333"/>
            <a:ext cx="10541000" cy="3690534"/>
          </a:xfrm>
          <a:prstGeom prst="rect">
            <a:avLst/>
          </a:prstGeom>
        </p:spPr>
      </p:pic>
      <p:sp>
        <p:nvSpPr>
          <p:cNvPr id="8" name="TextBox 7"/>
          <p:cNvSpPr txBox="1"/>
          <p:nvPr/>
        </p:nvSpPr>
        <p:spPr>
          <a:xfrm>
            <a:off x="825500" y="5892800"/>
            <a:ext cx="10541000" cy="157352"/>
          </a:xfrm>
          <a:prstGeom prst="rect">
            <a:avLst/>
          </a:prstGeom>
          <a:noFill/>
        </p:spPr>
        <p:txBody>
          <a:bodyPr wrap="square" lIns="0" tIns="0" rIns="0" bIns="0" anchor="t">
            <a:spAutoFit/>
          </a:bodyPr>
          <a:lstStyle/>
          <a:p>
            <a:pPr>
              <a:buNone/>
            </a:pPr>
            <a:r>
              <a:rPr sz="1050" b="0" i="1">
                <a:solidFill>
                  <a:srgbClr val="6F8CA6"/>
                </a:solidFill>
                <a:latin typeface="Aptos"/>
              </a:rPr>
              <a:t>232 m/px, 92,160 × 46,080, three bands.</a:t>
            </a:r>
          </a:p>
        </p:txBody>
      </p:sp>
    </p:spTree>
    <p:extLst>
      <p:ext uri="{BB962C8B-B14F-4D97-AF65-F5344CB8AC3E}">
        <p14:creationId xmlns:p14="http://schemas.microsoft.com/office/powerpoint/2010/main" val="3688592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Resolution</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12</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6" name="Rectangle 5"/>
          <p:cNvSpPr/>
          <p:nvPr/>
        </p:nvSpPr>
        <p:spPr>
          <a:xfrm>
            <a:off x="825500" y="1955800"/>
            <a:ext cx="33274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500" y="2133600"/>
            <a:ext cx="3327400" cy="279400"/>
          </a:xfrm>
          <a:prstGeom prst="rect">
            <a:avLst/>
          </a:prstGeom>
          <a:noFill/>
        </p:spPr>
        <p:txBody>
          <a:bodyPr wrap="square" lIns="0" tIns="0" rIns="0" bIns="0" anchor="t">
            <a:spAutoFit/>
          </a:bodyPr>
          <a:lstStyle/>
          <a:p>
            <a:pPr>
              <a:buNone/>
            </a:pPr>
            <a:r>
              <a:rPr sz="1300" b="0" i="0" spc="160">
                <a:solidFill>
                  <a:srgbClr val="0E9ED4"/>
                </a:solidFill>
                <a:latin typeface="Aptos"/>
              </a:rPr>
              <a:t>SPATIAL</a:t>
            </a:r>
          </a:p>
        </p:txBody>
      </p:sp>
      <p:sp>
        <p:nvSpPr>
          <p:cNvPr id="8" name="TextBox 7"/>
          <p:cNvSpPr txBox="1"/>
          <p:nvPr/>
        </p:nvSpPr>
        <p:spPr>
          <a:xfrm>
            <a:off x="825500" y="2514600"/>
            <a:ext cx="3327400" cy="891540"/>
          </a:xfrm>
          <a:prstGeom prst="rect">
            <a:avLst/>
          </a:prstGeom>
          <a:noFill/>
        </p:spPr>
        <p:txBody>
          <a:bodyPr wrap="square" lIns="0" tIns="0" rIns="0" bIns="0" anchor="t">
            <a:spAutoFit/>
          </a:bodyPr>
          <a:lstStyle/>
          <a:p>
            <a:pPr>
              <a:buNone/>
            </a:pPr>
            <a:r>
              <a:rPr sz="1350" b="0" i="0">
                <a:solidFill>
                  <a:srgbClr val="DDE8F0"/>
                </a:solidFill>
                <a:latin typeface="Aptos"/>
              </a:rPr>
              <a:t>Set by what is held: 100 m (THEMIS), 200 m (DEM), 232 m (Viking). The composite can be no finer than its coarsest input.</a:t>
            </a:r>
          </a:p>
        </p:txBody>
      </p:sp>
      <p:sp>
        <p:nvSpPr>
          <p:cNvPr id="9" name="TextBox 8"/>
          <p:cNvSpPr txBox="1"/>
          <p:nvPr/>
        </p:nvSpPr>
        <p:spPr>
          <a:xfrm>
            <a:off x="825500" y="3634740"/>
            <a:ext cx="3327400" cy="891540"/>
          </a:xfrm>
          <a:prstGeom prst="rect">
            <a:avLst/>
          </a:prstGeom>
          <a:noFill/>
        </p:spPr>
        <p:txBody>
          <a:bodyPr wrap="square" lIns="0" tIns="0" rIns="0" bIns="0" anchor="t">
            <a:spAutoFit/>
          </a:bodyPr>
          <a:lstStyle/>
          <a:p>
            <a:pPr>
              <a:buNone/>
            </a:pPr>
            <a:r>
              <a:rPr sz="1350" b="0" i="0">
                <a:solidFill>
                  <a:srgbClr val="DDE8F0"/>
                </a:solidFill>
                <a:latin typeface="Aptos"/>
              </a:rPr>
              <a:t>Ten pixels across a feature to map its margin reliably; so features of about a kilometer and up. Sub-kilometer tributaries will not resolve.</a:t>
            </a:r>
          </a:p>
        </p:txBody>
      </p:sp>
      <p:sp>
        <p:nvSpPr>
          <p:cNvPr id="10" name="Rectangle 9"/>
          <p:cNvSpPr/>
          <p:nvPr/>
        </p:nvSpPr>
        <p:spPr>
          <a:xfrm>
            <a:off x="4432300" y="1955800"/>
            <a:ext cx="33274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2300" y="2133600"/>
            <a:ext cx="3327400" cy="279400"/>
          </a:xfrm>
          <a:prstGeom prst="rect">
            <a:avLst/>
          </a:prstGeom>
          <a:noFill/>
        </p:spPr>
        <p:txBody>
          <a:bodyPr wrap="square" lIns="0" tIns="0" rIns="0" bIns="0" anchor="t">
            <a:spAutoFit/>
          </a:bodyPr>
          <a:lstStyle/>
          <a:p>
            <a:pPr>
              <a:buNone/>
            </a:pPr>
            <a:r>
              <a:rPr sz="1300" b="0" i="0" spc="160">
                <a:solidFill>
                  <a:srgbClr val="0E9ED4"/>
                </a:solidFill>
                <a:latin typeface="Aptos"/>
              </a:rPr>
              <a:t>SPECTRAL</a:t>
            </a:r>
          </a:p>
        </p:txBody>
      </p:sp>
      <p:sp>
        <p:nvSpPr>
          <p:cNvPr id="12" name="TextBox 11"/>
          <p:cNvSpPr txBox="1"/>
          <p:nvPr/>
        </p:nvSpPr>
        <p:spPr>
          <a:xfrm>
            <a:off x="4432300" y="2514600"/>
            <a:ext cx="3327400" cy="891540"/>
          </a:xfrm>
          <a:prstGeom prst="rect">
            <a:avLst/>
          </a:prstGeom>
          <a:noFill/>
        </p:spPr>
        <p:txBody>
          <a:bodyPr wrap="square" lIns="0" tIns="0" rIns="0" bIns="0" anchor="t">
            <a:spAutoFit/>
          </a:bodyPr>
          <a:lstStyle/>
          <a:p>
            <a:pPr>
              <a:buNone/>
            </a:pPr>
            <a:r>
              <a:rPr sz="1350" b="0" i="0">
                <a:solidFill>
                  <a:srgbClr val="DDE8F0"/>
                </a:solidFill>
                <a:latin typeface="Aptos"/>
              </a:rPr>
              <a:t>Four bands held: one thermal, three visible. Enough to separate broad unit types, not enough to identify minerals.</a:t>
            </a:r>
          </a:p>
        </p:txBody>
      </p:sp>
      <p:sp>
        <p:nvSpPr>
          <p:cNvPr id="13" name="Rectangle 12"/>
          <p:cNvSpPr/>
          <p:nvPr/>
        </p:nvSpPr>
        <p:spPr>
          <a:xfrm>
            <a:off x="8039100" y="1955800"/>
            <a:ext cx="33274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39100" y="2133600"/>
            <a:ext cx="3327400" cy="279400"/>
          </a:xfrm>
          <a:prstGeom prst="rect">
            <a:avLst/>
          </a:prstGeom>
          <a:noFill/>
        </p:spPr>
        <p:txBody>
          <a:bodyPr wrap="square" lIns="0" tIns="0" rIns="0" bIns="0" anchor="t">
            <a:spAutoFit/>
          </a:bodyPr>
          <a:lstStyle/>
          <a:p>
            <a:pPr>
              <a:buNone/>
            </a:pPr>
            <a:r>
              <a:rPr sz="1300" b="0" i="0" spc="160">
                <a:solidFill>
                  <a:srgbClr val="0E9ED4"/>
                </a:solidFill>
                <a:latin typeface="Aptos"/>
              </a:rPr>
              <a:t>RADIOMETRIC</a:t>
            </a:r>
          </a:p>
        </p:txBody>
      </p:sp>
      <p:sp>
        <p:nvSpPr>
          <p:cNvPr id="15" name="TextBox 14"/>
          <p:cNvSpPr txBox="1"/>
          <p:nvPr/>
        </p:nvSpPr>
        <p:spPr>
          <a:xfrm>
            <a:off x="8039100" y="2514600"/>
            <a:ext cx="3327400" cy="891540"/>
          </a:xfrm>
          <a:prstGeom prst="rect">
            <a:avLst/>
          </a:prstGeom>
          <a:noFill/>
        </p:spPr>
        <p:txBody>
          <a:bodyPr wrap="square" lIns="0" tIns="0" rIns="0" bIns="0" anchor="t">
            <a:spAutoFit/>
          </a:bodyPr>
          <a:lstStyle/>
          <a:p>
            <a:pPr>
              <a:buNone/>
            </a:pPr>
            <a:r>
              <a:rPr sz="1350" b="0" i="0">
                <a:solidFill>
                  <a:srgbClr val="DDE8F0"/>
                </a:solidFill>
                <a:latin typeface="Aptos"/>
              </a:rPr>
              <a:t>Both image mosaics are 8-bit as distributed, the practical limit on how finely units can be separated by DN alone.</a:t>
            </a:r>
          </a:p>
        </p:txBody>
      </p:sp>
      <p:sp>
        <p:nvSpPr>
          <p:cNvPr id="16" name="TextBox 15"/>
          <p:cNvSpPr txBox="1"/>
          <p:nvPr/>
        </p:nvSpPr>
        <p:spPr>
          <a:xfrm>
            <a:off x="8039100" y="3634740"/>
            <a:ext cx="3327400" cy="891540"/>
          </a:xfrm>
          <a:prstGeom prst="rect">
            <a:avLst/>
          </a:prstGeom>
          <a:noFill/>
        </p:spPr>
        <p:txBody>
          <a:bodyPr wrap="square" lIns="0" tIns="0" rIns="0" bIns="0" anchor="t">
            <a:spAutoFit/>
          </a:bodyPr>
          <a:lstStyle/>
          <a:p>
            <a:pPr>
              <a:buNone/>
            </a:pPr>
            <a:r>
              <a:rPr sz="1350" b="0" i="0">
                <a:solidFill>
                  <a:srgbClr val="DDE8F0"/>
                </a:solidFill>
                <a:latin typeface="Aptos"/>
              </a:rPr>
              <a:t>The DEM is the exception, carrying a real range of −8,528 m to +21,226 m. The quantitative measurements come from there.</a:t>
            </a:r>
          </a:p>
        </p:txBody>
      </p:sp>
      <p:sp>
        <p:nvSpPr>
          <p:cNvPr id="18" name="TextBox 17">
            <a:extLst>
              <a:ext uri="{FF2B5EF4-FFF2-40B4-BE49-F238E27FC236}">
                <a16:creationId xmlns:a16="http://schemas.microsoft.com/office/drawing/2014/main" id="{F6398BB6-5989-5CA9-BC0A-9B29EF033869}"/>
              </a:ext>
            </a:extLst>
          </p:cNvPr>
          <p:cNvSpPr txBox="1"/>
          <p:nvPr/>
        </p:nvSpPr>
        <p:spPr>
          <a:xfrm>
            <a:off x="825500" y="5574030"/>
            <a:ext cx="10541000" cy="138499"/>
          </a:xfrm>
          <a:prstGeom prst="rect">
            <a:avLst/>
          </a:prstGeom>
          <a:noFill/>
        </p:spPr>
        <p:txBody>
          <a:bodyPr wrap="square" lIns="0" tIns="0" rIns="0" bIns="0" anchor="t">
            <a:spAutoFit/>
          </a:bodyPr>
          <a:lstStyle/>
          <a:p>
            <a:pPr algn="ctr">
              <a:buNone/>
            </a:pPr>
            <a:r>
              <a:rPr lang="en-US" sz="900" b="0" i="0" spc="40" dirty="0">
                <a:solidFill>
                  <a:srgbClr val="6F8CA6"/>
                </a:solidFill>
                <a:latin typeface="Aptos"/>
              </a:rPr>
              <a:t>Temporal Resolution: Not relevant as changes in our time scale would be of negligible observability </a:t>
            </a:r>
            <a:endParaRPr sz="900" b="0" i="0" spc="40" dirty="0">
              <a:solidFill>
                <a:srgbClr val="6F8CA6"/>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Slope from Elevation</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13</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6" name="Picture 5" descr="s13_slope.png"/>
          <p:cNvPicPr>
            <a:picLocks noChangeAspect="1"/>
          </p:cNvPicPr>
          <p:nvPr/>
        </p:nvPicPr>
        <p:blipFill>
          <a:blip r:embed="rId2"/>
          <a:srcRect l="76" r="76"/>
          <a:stretch>
            <a:fillRect/>
          </a:stretch>
        </p:blipFill>
        <p:spPr>
          <a:xfrm>
            <a:off x="825500" y="1930400"/>
            <a:ext cx="5080000" cy="3479800"/>
          </a:xfrm>
          <a:prstGeom prst="rect">
            <a:avLst/>
          </a:prstGeom>
        </p:spPr>
      </p:pic>
      <p:sp>
        <p:nvSpPr>
          <p:cNvPr id="7" name="Rectangle 6"/>
          <p:cNvSpPr/>
          <p:nvPr/>
        </p:nvSpPr>
        <p:spPr>
          <a:xfrm>
            <a:off x="825500" y="5448300"/>
            <a:ext cx="50800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13_dem.jpg"/>
          <p:cNvPicPr>
            <a:picLocks noChangeAspect="1"/>
          </p:cNvPicPr>
          <p:nvPr/>
        </p:nvPicPr>
        <p:blipFill>
          <a:blip r:embed="rId3"/>
          <a:srcRect l="175" r="175"/>
          <a:stretch>
            <a:fillRect/>
          </a:stretch>
        </p:blipFill>
        <p:spPr>
          <a:xfrm>
            <a:off x="6286500" y="1930400"/>
            <a:ext cx="5080000" cy="3479800"/>
          </a:xfrm>
          <a:prstGeom prst="rect">
            <a:avLst/>
          </a:prstGeom>
        </p:spPr>
      </p:pic>
      <p:sp>
        <p:nvSpPr>
          <p:cNvPr id="9" name="Rectangle 8"/>
          <p:cNvSpPr/>
          <p:nvPr/>
        </p:nvSpPr>
        <p:spPr>
          <a:xfrm>
            <a:off x="6286500" y="5448300"/>
            <a:ext cx="50800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5500" y="5613400"/>
            <a:ext cx="5080000" cy="508000"/>
          </a:xfrm>
          <a:prstGeom prst="rect">
            <a:avLst/>
          </a:prstGeom>
          <a:noFill/>
        </p:spPr>
        <p:txBody>
          <a:bodyPr wrap="square" lIns="0" tIns="0" rIns="0" bIns="0" anchor="t">
            <a:spAutoFit/>
          </a:bodyPr>
          <a:lstStyle/>
          <a:p>
            <a:pPr>
              <a:buNone/>
            </a:pPr>
            <a:r>
              <a:rPr sz="1500" b="0" i="0">
                <a:solidFill>
                  <a:srgbClr val="FFFFFF"/>
                </a:solidFill>
                <a:latin typeface="Aptos"/>
              </a:rPr>
              <a:t>Slope Analysis</a:t>
            </a:r>
          </a:p>
        </p:txBody>
      </p:sp>
      <p:sp>
        <p:nvSpPr>
          <p:cNvPr id="11" name="TextBox 10"/>
          <p:cNvSpPr txBox="1"/>
          <p:nvPr/>
        </p:nvSpPr>
        <p:spPr>
          <a:xfrm>
            <a:off x="6286500" y="5613400"/>
            <a:ext cx="5080000" cy="508000"/>
          </a:xfrm>
          <a:prstGeom prst="rect">
            <a:avLst/>
          </a:prstGeom>
          <a:noFill/>
        </p:spPr>
        <p:txBody>
          <a:bodyPr wrap="square" lIns="0" tIns="0" rIns="0" bIns="0" anchor="t">
            <a:spAutoFit/>
          </a:bodyPr>
          <a:lstStyle/>
          <a:p>
            <a:pPr>
              <a:buNone/>
            </a:pPr>
            <a:r>
              <a:rPr sz="1500" b="0" i="0">
                <a:solidFill>
                  <a:srgbClr val="FFFFFF"/>
                </a:solidFill>
                <a:latin typeface="Aptos"/>
              </a:rPr>
              <a:t>Mars HRSC MOLA BlendDEM Global 200mp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Gradient Products</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14</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pic>
        <p:nvPicPr>
          <p:cNvPr id="6" name="Picture 5" descr="s14_vik_grad.jpg"/>
          <p:cNvPicPr>
            <a:picLocks noChangeAspect="1"/>
          </p:cNvPicPr>
          <p:nvPr/>
        </p:nvPicPr>
        <p:blipFill>
          <a:blip r:embed="rId2"/>
          <a:srcRect t="622" b="622"/>
          <a:stretch>
            <a:fillRect/>
          </a:stretch>
        </p:blipFill>
        <p:spPr>
          <a:xfrm>
            <a:off x="825500" y="1905000"/>
            <a:ext cx="5080000" cy="1828800"/>
          </a:xfrm>
          <a:prstGeom prst="rect">
            <a:avLst/>
          </a:prstGeom>
        </p:spPr>
      </p:pic>
      <p:pic>
        <p:nvPicPr>
          <p:cNvPr id="7" name="Picture 6" descr="s14_vik.jpg"/>
          <p:cNvPicPr>
            <a:picLocks noChangeAspect="1"/>
          </p:cNvPicPr>
          <p:nvPr/>
        </p:nvPicPr>
        <p:blipFill>
          <a:blip r:embed="rId3"/>
          <a:srcRect t="377" b="377"/>
          <a:stretch>
            <a:fillRect/>
          </a:stretch>
        </p:blipFill>
        <p:spPr>
          <a:xfrm>
            <a:off x="825500" y="3860800"/>
            <a:ext cx="5080000" cy="1828800"/>
          </a:xfrm>
          <a:prstGeom prst="rect">
            <a:avLst/>
          </a:prstGeom>
        </p:spPr>
      </p:pic>
      <p:pic>
        <p:nvPicPr>
          <p:cNvPr id="8" name="Picture 7" descr="s14_the_grad.jpg"/>
          <p:cNvPicPr>
            <a:picLocks noChangeAspect="1"/>
          </p:cNvPicPr>
          <p:nvPr/>
        </p:nvPicPr>
        <p:blipFill>
          <a:blip r:embed="rId4"/>
          <a:srcRect t="622" b="622"/>
          <a:stretch>
            <a:fillRect/>
          </a:stretch>
        </p:blipFill>
        <p:spPr>
          <a:xfrm>
            <a:off x="6286500" y="1905000"/>
            <a:ext cx="5080000" cy="1828800"/>
          </a:xfrm>
          <a:prstGeom prst="rect">
            <a:avLst/>
          </a:prstGeom>
        </p:spPr>
      </p:pic>
      <p:pic>
        <p:nvPicPr>
          <p:cNvPr id="9" name="Picture 8" descr="s14_the.jpg"/>
          <p:cNvPicPr>
            <a:picLocks noChangeAspect="1"/>
          </p:cNvPicPr>
          <p:nvPr/>
        </p:nvPicPr>
        <p:blipFill>
          <a:blip r:embed="rId5"/>
          <a:srcRect t="377" b="377"/>
          <a:stretch>
            <a:fillRect/>
          </a:stretch>
        </p:blipFill>
        <p:spPr>
          <a:xfrm>
            <a:off x="6286500" y="3860800"/>
            <a:ext cx="5080000" cy="1828800"/>
          </a:xfrm>
          <a:prstGeom prst="rect">
            <a:avLst/>
          </a:prstGeom>
        </p:spPr>
      </p:pic>
      <p:sp>
        <p:nvSpPr>
          <p:cNvPr id="10" name="Rectangle 9"/>
          <p:cNvSpPr/>
          <p:nvPr/>
        </p:nvSpPr>
        <p:spPr>
          <a:xfrm>
            <a:off x="825500" y="5727700"/>
            <a:ext cx="50800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6500" y="5727700"/>
            <a:ext cx="5080000" cy="3048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500" y="5867400"/>
            <a:ext cx="5080000" cy="508000"/>
          </a:xfrm>
          <a:prstGeom prst="rect">
            <a:avLst/>
          </a:prstGeom>
          <a:noFill/>
        </p:spPr>
        <p:txBody>
          <a:bodyPr wrap="square" lIns="0" tIns="0" rIns="0" bIns="0" anchor="t">
            <a:spAutoFit/>
          </a:bodyPr>
          <a:lstStyle/>
          <a:p>
            <a:pPr>
              <a:buNone/>
            </a:pPr>
            <a:r>
              <a:rPr sz="1500" b="0" i="0">
                <a:solidFill>
                  <a:srgbClr val="FFFFFF"/>
                </a:solidFill>
                <a:latin typeface="Aptos"/>
              </a:rPr>
              <a:t>Viking MDIM 2.1</a:t>
            </a:r>
          </a:p>
        </p:txBody>
      </p:sp>
      <p:sp>
        <p:nvSpPr>
          <p:cNvPr id="13" name="TextBox 12"/>
          <p:cNvSpPr txBox="1"/>
          <p:nvPr/>
        </p:nvSpPr>
        <p:spPr>
          <a:xfrm>
            <a:off x="6286500" y="5867400"/>
            <a:ext cx="5080000" cy="508000"/>
          </a:xfrm>
          <a:prstGeom prst="rect">
            <a:avLst/>
          </a:prstGeom>
          <a:noFill/>
        </p:spPr>
        <p:txBody>
          <a:bodyPr wrap="square" lIns="0" tIns="0" rIns="0" bIns="0" anchor="t">
            <a:spAutoFit/>
          </a:bodyPr>
          <a:lstStyle/>
          <a:p>
            <a:pPr>
              <a:buNone/>
            </a:pPr>
            <a:r>
              <a:rPr sz="1500" b="0" i="0">
                <a:solidFill>
                  <a:srgbClr val="FFFFFF"/>
                </a:solidFill>
                <a:latin typeface="Aptos"/>
              </a:rPr>
              <a:t>THEMIS Day IR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WHAT THIS PRODUCES</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Expected Results</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15</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7" name="Rectangle 6"/>
          <p:cNvSpPr/>
          <p:nvPr/>
        </p:nvSpPr>
        <p:spPr>
          <a:xfrm>
            <a:off x="825500" y="19050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500" y="211683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01</a:t>
            </a:r>
          </a:p>
        </p:txBody>
      </p:sp>
      <p:sp>
        <p:nvSpPr>
          <p:cNvPr id="9" name="TextBox 8"/>
          <p:cNvSpPr txBox="1"/>
          <p:nvPr/>
        </p:nvSpPr>
        <p:spPr>
          <a:xfrm>
            <a:off x="1562100" y="2091430"/>
            <a:ext cx="8153400" cy="495808"/>
          </a:xfrm>
          <a:prstGeom prst="rect">
            <a:avLst/>
          </a:prstGeom>
          <a:noFill/>
        </p:spPr>
        <p:txBody>
          <a:bodyPr wrap="square" lIns="0" tIns="0" rIns="0" bIns="0" anchor="t">
            <a:spAutoFit/>
          </a:bodyPr>
          <a:lstStyle/>
          <a:p>
            <a:pPr>
              <a:buNone/>
            </a:pPr>
            <a:r>
              <a:rPr sz="1600" b="1" i="0">
                <a:solidFill>
                  <a:srgbClr val="FFFFFF"/>
                </a:solidFill>
                <a:latin typeface="Aptos"/>
              </a:rPr>
              <a:t>One co-registered stack. </a:t>
            </a:r>
            <a:r>
              <a:rPr sz="1600" b="0" i="0">
                <a:solidFill>
                  <a:srgbClr val="DDE8F0"/>
                </a:solidFill>
                <a:latin typeface="Aptos"/>
              </a:rPr>
              <a:t>Viking RGB and THEMIS day IR in a single 232 m metric frame, with the DEM and a rebuilt slope layer readable at the same pixel.</a:t>
            </a:r>
          </a:p>
        </p:txBody>
      </p:sp>
      <p:sp>
        <p:nvSpPr>
          <p:cNvPr id="10" name="Rectangle 9"/>
          <p:cNvSpPr/>
          <p:nvPr/>
        </p:nvSpPr>
        <p:spPr>
          <a:xfrm>
            <a:off x="825500" y="2802238"/>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5500" y="3014068"/>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02</a:t>
            </a:r>
          </a:p>
        </p:txBody>
      </p:sp>
      <p:sp>
        <p:nvSpPr>
          <p:cNvPr id="12" name="TextBox 11"/>
          <p:cNvSpPr txBox="1"/>
          <p:nvPr/>
        </p:nvSpPr>
        <p:spPr>
          <a:xfrm>
            <a:off x="1562100" y="2988668"/>
            <a:ext cx="8153400" cy="495808"/>
          </a:xfrm>
          <a:prstGeom prst="rect">
            <a:avLst/>
          </a:prstGeom>
          <a:noFill/>
        </p:spPr>
        <p:txBody>
          <a:bodyPr wrap="square" lIns="0" tIns="0" rIns="0" bIns="0" anchor="t">
            <a:spAutoFit/>
          </a:bodyPr>
          <a:lstStyle/>
          <a:p>
            <a:pPr>
              <a:buNone/>
            </a:pPr>
            <a:r>
              <a:rPr sz="1600" b="1" i="0">
                <a:solidFill>
                  <a:srgbClr val="FFFFFF"/>
                </a:solidFill>
                <a:latin typeface="Aptos"/>
              </a:rPr>
              <a:t>A classified unit raster. </a:t>
            </a:r>
            <a:r>
              <a:rPr sz="1600" b="0" i="0">
                <a:solidFill>
                  <a:srgbClr val="DDE8F0"/>
                </a:solidFill>
                <a:latin typeface="Aptos"/>
              </a:rPr>
              <a:t>Iso Cluster then Maximum Likelihood over that stack; five to eight units expected to survive inspection against the imagery.</a:t>
            </a:r>
          </a:p>
        </p:txBody>
      </p:sp>
      <p:sp>
        <p:nvSpPr>
          <p:cNvPr id="13" name="Rectangle 12"/>
          <p:cNvSpPr/>
          <p:nvPr/>
        </p:nvSpPr>
        <p:spPr>
          <a:xfrm>
            <a:off x="825500" y="3699476"/>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500" y="3911306"/>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03</a:t>
            </a:r>
          </a:p>
        </p:txBody>
      </p:sp>
      <p:sp>
        <p:nvSpPr>
          <p:cNvPr id="15" name="TextBox 14"/>
          <p:cNvSpPr txBox="1"/>
          <p:nvPr/>
        </p:nvSpPr>
        <p:spPr>
          <a:xfrm>
            <a:off x="1562100" y="3885906"/>
            <a:ext cx="8153400" cy="495808"/>
          </a:xfrm>
          <a:prstGeom prst="rect">
            <a:avLst/>
          </a:prstGeom>
          <a:noFill/>
        </p:spPr>
        <p:txBody>
          <a:bodyPr wrap="square" lIns="0" tIns="0" rIns="0" bIns="0" anchor="t">
            <a:spAutoFit/>
          </a:bodyPr>
          <a:lstStyle/>
          <a:p>
            <a:pPr>
              <a:buNone/>
            </a:pPr>
            <a:r>
              <a:rPr sz="1600" b="1" i="0" dirty="0">
                <a:solidFill>
                  <a:srgbClr val="FFFFFF"/>
                </a:solidFill>
                <a:latin typeface="Aptos"/>
              </a:rPr>
              <a:t>Three </a:t>
            </a:r>
            <a:r>
              <a:rPr lang="en-US" sz="1600" b="1" dirty="0">
                <a:solidFill>
                  <a:srgbClr val="FFFFFF"/>
                </a:solidFill>
                <a:latin typeface="Aptos"/>
              </a:rPr>
              <a:t>primary </a:t>
            </a:r>
            <a:r>
              <a:rPr sz="1600" b="1" i="0" dirty="0">
                <a:solidFill>
                  <a:srgbClr val="FFFFFF"/>
                </a:solidFill>
                <a:latin typeface="Aptos"/>
              </a:rPr>
              <a:t>landform feature classes. </a:t>
            </a:r>
            <a:r>
              <a:rPr sz="1600" b="0" i="0" dirty="0">
                <a:solidFill>
                  <a:srgbClr val="DDE8F0"/>
                </a:solidFill>
                <a:latin typeface="Aptos"/>
              </a:rPr>
              <a:t>Flow margins, channel centerlines and crater rims as separate vectors, each carrying DEM gradient along its length.</a:t>
            </a:r>
          </a:p>
        </p:txBody>
      </p:sp>
      <p:sp>
        <p:nvSpPr>
          <p:cNvPr id="16" name="Rectangle 15"/>
          <p:cNvSpPr/>
          <p:nvPr/>
        </p:nvSpPr>
        <p:spPr>
          <a:xfrm>
            <a:off x="825500" y="4596714"/>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500" y="4808544"/>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04</a:t>
            </a:r>
          </a:p>
        </p:txBody>
      </p:sp>
      <p:sp>
        <p:nvSpPr>
          <p:cNvPr id="18" name="TextBox 17"/>
          <p:cNvSpPr txBox="1"/>
          <p:nvPr/>
        </p:nvSpPr>
        <p:spPr>
          <a:xfrm>
            <a:off x="1562100" y="4783144"/>
            <a:ext cx="8153400" cy="495808"/>
          </a:xfrm>
          <a:prstGeom prst="rect">
            <a:avLst/>
          </a:prstGeom>
          <a:noFill/>
        </p:spPr>
        <p:txBody>
          <a:bodyPr wrap="square" lIns="0" tIns="0" rIns="0" bIns="0" anchor="t">
            <a:spAutoFit/>
          </a:bodyPr>
          <a:lstStyle/>
          <a:p>
            <a:pPr>
              <a:buNone/>
            </a:pPr>
            <a:r>
              <a:rPr sz="1600" b="1" i="0" dirty="0">
                <a:solidFill>
                  <a:srgbClr val="FFFFFF"/>
                </a:solidFill>
                <a:latin typeface="Aptos"/>
              </a:rPr>
              <a:t>A measured band comparison. </a:t>
            </a:r>
            <a:r>
              <a:rPr sz="1600" b="0" i="0" dirty="0">
                <a:solidFill>
                  <a:srgbClr val="DDE8F0"/>
                </a:solidFill>
                <a:latin typeface="Aptos"/>
              </a:rPr>
              <a:t>The fraction of flow margin THEMIS recovers and Viking does not, quantified over a dust-mantled type area rather than asserted.</a:t>
            </a:r>
          </a:p>
        </p:txBody>
      </p:sp>
      <p:sp>
        <p:nvSpPr>
          <p:cNvPr id="19" name="Rectangle 18"/>
          <p:cNvSpPr/>
          <p:nvPr/>
        </p:nvSpPr>
        <p:spPr>
          <a:xfrm>
            <a:off x="825500" y="5493952"/>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500" y="5705782"/>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05</a:t>
            </a:r>
          </a:p>
        </p:txBody>
      </p:sp>
      <p:sp>
        <p:nvSpPr>
          <p:cNvPr id="21" name="TextBox 20"/>
          <p:cNvSpPr txBox="1"/>
          <p:nvPr/>
        </p:nvSpPr>
        <p:spPr>
          <a:xfrm>
            <a:off x="1562100" y="5680382"/>
            <a:ext cx="8153400" cy="495808"/>
          </a:xfrm>
          <a:prstGeom prst="rect">
            <a:avLst/>
          </a:prstGeom>
          <a:noFill/>
        </p:spPr>
        <p:txBody>
          <a:bodyPr wrap="square" lIns="0" tIns="0" rIns="0" bIns="0" anchor="t">
            <a:spAutoFit/>
          </a:bodyPr>
          <a:lstStyle/>
          <a:p>
            <a:pPr>
              <a:buNone/>
            </a:pPr>
            <a:r>
              <a:rPr sz="1600" b="1" i="0">
                <a:solidFill>
                  <a:srgbClr val="FFFFFF"/>
                </a:solidFill>
                <a:latin typeface="Aptos"/>
              </a:rPr>
              <a:t>Map sheets. </a:t>
            </a:r>
            <a:r>
              <a:rPr sz="1600" b="0" i="0">
                <a:solidFill>
                  <a:srgbClr val="DDE8F0"/>
                </a:solidFill>
                <a:latin typeface="Aptos"/>
              </a:rPr>
              <a:t>Global layouts at 60°N–60°S plus detail panels, with unit boundaries overlaid on the USGS global geologic map.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FALSIFIABLE CLAIMS</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Hypotheses to be Tested</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16</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7" name="Rectangle 6"/>
          <p:cNvSpPr/>
          <p:nvPr/>
        </p:nvSpPr>
        <p:spPr>
          <a:xfrm>
            <a:off x="825500" y="19050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500" y="209683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H1</a:t>
            </a:r>
          </a:p>
        </p:txBody>
      </p:sp>
      <p:sp>
        <p:nvSpPr>
          <p:cNvPr id="9" name="TextBox 8"/>
          <p:cNvSpPr txBox="1"/>
          <p:nvPr/>
        </p:nvSpPr>
        <p:spPr>
          <a:xfrm>
            <a:off x="1562100" y="2071430"/>
            <a:ext cx="8153400" cy="743712"/>
          </a:xfrm>
          <a:prstGeom prst="rect">
            <a:avLst/>
          </a:prstGeom>
          <a:noFill/>
        </p:spPr>
        <p:txBody>
          <a:bodyPr wrap="square" lIns="0" tIns="0" rIns="0" bIns="0" anchor="t">
            <a:spAutoFit/>
          </a:bodyPr>
          <a:lstStyle/>
          <a:p>
            <a:pPr>
              <a:buNone/>
            </a:pPr>
            <a:r>
              <a:rPr sz="1600" b="1" i="0">
                <a:solidFill>
                  <a:srgbClr val="FFFFFF"/>
                </a:solidFill>
                <a:latin typeface="Aptos"/>
              </a:rPr>
              <a:t>Thermal infrared recovers flow boundaries that visible albedo cannot.</a:t>
            </a:r>
          </a:p>
          <a:p>
            <a:pPr>
              <a:buNone/>
            </a:pPr>
            <a:r>
              <a:rPr sz="1600" b="0" i="0">
                <a:solidFill>
                  <a:srgbClr val="DDE8F0"/>
                </a:solidFill>
                <a:latin typeface="Aptos"/>
              </a:rPr>
              <a:t>Tested by digitizing margins on THEMIS and on Viking independently over one dust-mantled window; falsified if THEMIS adds nothing Viking already shows.</a:t>
            </a:r>
          </a:p>
        </p:txBody>
      </p:sp>
      <p:sp>
        <p:nvSpPr>
          <p:cNvPr id="10" name="Rectangle 9"/>
          <p:cNvSpPr/>
          <p:nvPr/>
        </p:nvSpPr>
        <p:spPr>
          <a:xfrm>
            <a:off x="825500" y="3000142"/>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5500" y="3191972"/>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H2</a:t>
            </a:r>
          </a:p>
        </p:txBody>
      </p:sp>
      <p:sp>
        <p:nvSpPr>
          <p:cNvPr id="12" name="TextBox 11"/>
          <p:cNvSpPr txBox="1"/>
          <p:nvPr/>
        </p:nvSpPr>
        <p:spPr>
          <a:xfrm>
            <a:off x="1562100" y="3166572"/>
            <a:ext cx="8153400" cy="743712"/>
          </a:xfrm>
          <a:prstGeom prst="rect">
            <a:avLst/>
          </a:prstGeom>
          <a:noFill/>
        </p:spPr>
        <p:txBody>
          <a:bodyPr wrap="square" lIns="0" tIns="0" rIns="0" bIns="0" anchor="t">
            <a:spAutoFit/>
          </a:bodyPr>
          <a:lstStyle/>
          <a:p>
            <a:pPr>
              <a:buNone/>
            </a:pPr>
            <a:r>
              <a:rPr sz="1600" b="1" i="0">
                <a:solidFill>
                  <a:srgbClr val="FFFFFF"/>
                </a:solidFill>
                <a:latin typeface="Aptos"/>
              </a:rPr>
              <a:t>Volcanic and fluvial channels separate on thermal response and long profile.</a:t>
            </a:r>
          </a:p>
          <a:p>
            <a:pPr>
              <a:buNone/>
            </a:pPr>
            <a:r>
              <a:rPr sz="1600" b="0" i="0">
                <a:solidFill>
                  <a:srgbClr val="DDE8F0"/>
                </a:solidFill>
                <a:latin typeface="Aptos"/>
              </a:rPr>
              <a:t>Tested on Athabasca Valles, long mapped as fluvial and reinterpreted as flood lava, against a known valley network; falsified if the signatures overlap.</a:t>
            </a:r>
          </a:p>
        </p:txBody>
      </p:sp>
      <p:sp>
        <p:nvSpPr>
          <p:cNvPr id="13" name="Rectangle 12"/>
          <p:cNvSpPr/>
          <p:nvPr/>
        </p:nvSpPr>
        <p:spPr>
          <a:xfrm>
            <a:off x="825500" y="4095284"/>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500" y="4287114"/>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H3</a:t>
            </a:r>
          </a:p>
        </p:txBody>
      </p:sp>
      <p:sp>
        <p:nvSpPr>
          <p:cNvPr id="15" name="TextBox 14"/>
          <p:cNvSpPr txBox="1"/>
          <p:nvPr/>
        </p:nvSpPr>
        <p:spPr>
          <a:xfrm>
            <a:off x="1562100" y="4261714"/>
            <a:ext cx="8153400" cy="743712"/>
          </a:xfrm>
          <a:prstGeom prst="rect">
            <a:avLst/>
          </a:prstGeom>
          <a:noFill/>
        </p:spPr>
        <p:txBody>
          <a:bodyPr wrap="square" lIns="0" tIns="0" rIns="0" bIns="0" anchor="t">
            <a:spAutoFit/>
          </a:bodyPr>
          <a:lstStyle/>
          <a:p>
            <a:pPr>
              <a:buNone/>
            </a:pPr>
            <a:r>
              <a:rPr sz="1600" b="1" i="0">
                <a:solidFill>
                  <a:srgbClr val="FFFFFF"/>
                </a:solidFill>
                <a:latin typeface="Aptos"/>
              </a:rPr>
              <a:t>The four-band stack classifies surface units better than any single band.</a:t>
            </a:r>
          </a:p>
          <a:p>
            <a:pPr>
              <a:buNone/>
            </a:pPr>
            <a:r>
              <a:rPr sz="1600" b="0" i="0">
                <a:solidFill>
                  <a:srgbClr val="DDE8F0"/>
                </a:solidFill>
                <a:latin typeface="Aptos"/>
              </a:rPr>
              <a:t>Tested by running Maximum Likelihood on the stack and on THEMIS alone and scoring both against the published USGS contacts.</a:t>
            </a:r>
          </a:p>
        </p:txBody>
      </p:sp>
      <p:sp>
        <p:nvSpPr>
          <p:cNvPr id="16" name="Rectangle 15"/>
          <p:cNvSpPr/>
          <p:nvPr/>
        </p:nvSpPr>
        <p:spPr>
          <a:xfrm>
            <a:off x="825500" y="5190426"/>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500" y="5382256"/>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H4</a:t>
            </a:r>
          </a:p>
        </p:txBody>
      </p:sp>
      <p:sp>
        <p:nvSpPr>
          <p:cNvPr id="18" name="TextBox 17"/>
          <p:cNvSpPr txBox="1"/>
          <p:nvPr/>
        </p:nvSpPr>
        <p:spPr>
          <a:xfrm>
            <a:off x="1562100" y="5356856"/>
            <a:ext cx="8153400" cy="743712"/>
          </a:xfrm>
          <a:prstGeom prst="rect">
            <a:avLst/>
          </a:prstGeom>
          <a:noFill/>
        </p:spPr>
        <p:txBody>
          <a:bodyPr wrap="square" lIns="0" tIns="0" rIns="0" bIns="0" anchor="t">
            <a:spAutoFit/>
          </a:bodyPr>
          <a:lstStyle/>
          <a:p>
            <a:pPr>
              <a:buNone/>
            </a:pPr>
            <a:r>
              <a:rPr sz="1600" b="1" i="0">
                <a:solidFill>
                  <a:srgbClr val="FFFFFF"/>
                </a:solidFill>
                <a:latin typeface="Aptos"/>
              </a:rPr>
              <a:t>At a 100 m floor the landform inventory is size-biased, not just incomplete.</a:t>
            </a:r>
          </a:p>
          <a:p>
            <a:pPr>
              <a:buNone/>
            </a:pPr>
            <a:r>
              <a:rPr sz="1600" b="0" i="0">
                <a:solidFill>
                  <a:srgbClr val="DDE8F0"/>
                </a:solidFill>
                <a:latin typeface="Aptos"/>
              </a:rPr>
              <a:t>Tested on the size-frequency distribution of mapped channels, which should roll over near 1 km rather than continue as a power law.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OPEN AT THIS STAGE</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Questions to be Answered</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17</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7" name="Rectangle 6"/>
          <p:cNvSpPr/>
          <p:nvPr/>
        </p:nvSpPr>
        <p:spPr>
          <a:xfrm>
            <a:off x="825500" y="19050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500" y="211683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01</a:t>
            </a:r>
          </a:p>
        </p:txBody>
      </p:sp>
      <p:sp>
        <p:nvSpPr>
          <p:cNvPr id="9" name="TextBox 8"/>
          <p:cNvSpPr txBox="1"/>
          <p:nvPr/>
        </p:nvSpPr>
        <p:spPr>
          <a:xfrm>
            <a:off x="1562100" y="2091430"/>
            <a:ext cx="8153400" cy="495808"/>
          </a:xfrm>
          <a:prstGeom prst="rect">
            <a:avLst/>
          </a:prstGeom>
          <a:noFill/>
        </p:spPr>
        <p:txBody>
          <a:bodyPr wrap="square" lIns="0" tIns="0" rIns="0" bIns="0" anchor="t">
            <a:spAutoFit/>
          </a:bodyPr>
          <a:lstStyle/>
          <a:p>
            <a:pPr>
              <a:buNone/>
            </a:pPr>
            <a:r>
              <a:rPr sz="1600" b="0" i="0">
                <a:solidFill>
                  <a:srgbClr val="FFFFFF"/>
                </a:solidFill>
                <a:latin typeface="Aptos"/>
              </a:rPr>
              <a:t>What fraction of the THEMIS flow-margin network is also recoverable from Viking?</a:t>
            </a:r>
          </a:p>
          <a:p>
            <a:pPr>
              <a:buNone/>
            </a:pPr>
            <a:r>
              <a:rPr sz="1600" b="0" i="0">
                <a:solidFill>
                  <a:srgbClr val="9CB3C6"/>
                </a:solidFill>
                <a:latin typeface="Aptos"/>
              </a:rPr>
              <a:t>Answered by digitizing both over one window and differencing.</a:t>
            </a:r>
          </a:p>
        </p:txBody>
      </p:sp>
      <p:sp>
        <p:nvSpPr>
          <p:cNvPr id="10" name="Rectangle 9"/>
          <p:cNvSpPr/>
          <p:nvPr/>
        </p:nvSpPr>
        <p:spPr>
          <a:xfrm>
            <a:off x="825500" y="2802238"/>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5500" y="3014068"/>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02</a:t>
            </a:r>
          </a:p>
        </p:txBody>
      </p:sp>
      <p:sp>
        <p:nvSpPr>
          <p:cNvPr id="12" name="TextBox 11"/>
          <p:cNvSpPr txBox="1"/>
          <p:nvPr/>
        </p:nvSpPr>
        <p:spPr>
          <a:xfrm>
            <a:off x="1562100" y="2988668"/>
            <a:ext cx="8153400" cy="495808"/>
          </a:xfrm>
          <a:prstGeom prst="rect">
            <a:avLst/>
          </a:prstGeom>
          <a:noFill/>
        </p:spPr>
        <p:txBody>
          <a:bodyPr wrap="square" lIns="0" tIns="0" rIns="0" bIns="0" anchor="t">
            <a:spAutoFit/>
          </a:bodyPr>
          <a:lstStyle/>
          <a:p>
            <a:pPr>
              <a:buNone/>
            </a:pPr>
            <a:r>
              <a:rPr sz="1600" b="0" i="0">
                <a:solidFill>
                  <a:srgbClr val="FFFFFF"/>
                </a:solidFill>
                <a:latin typeface="Aptos"/>
              </a:rPr>
              <a:t>Can Athabasca Valles be called lava rather than water from these three products?</a:t>
            </a:r>
          </a:p>
          <a:p>
            <a:pPr>
              <a:buNone/>
            </a:pPr>
            <a:r>
              <a:rPr sz="1600" b="0" i="0">
                <a:solidFill>
                  <a:srgbClr val="9CB3C6"/>
                </a:solidFill>
                <a:latin typeface="Aptos"/>
              </a:rPr>
              <a:t>Answered from the four-band signature and the DEM long profile.</a:t>
            </a:r>
          </a:p>
        </p:txBody>
      </p:sp>
      <p:sp>
        <p:nvSpPr>
          <p:cNvPr id="13" name="Rectangle 12"/>
          <p:cNvSpPr/>
          <p:nvPr/>
        </p:nvSpPr>
        <p:spPr>
          <a:xfrm>
            <a:off x="825500" y="3699476"/>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500" y="3911306"/>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03</a:t>
            </a:r>
          </a:p>
        </p:txBody>
      </p:sp>
      <p:sp>
        <p:nvSpPr>
          <p:cNvPr id="15" name="TextBox 14"/>
          <p:cNvSpPr txBox="1"/>
          <p:nvPr/>
        </p:nvSpPr>
        <p:spPr>
          <a:xfrm>
            <a:off x="1562100" y="3885906"/>
            <a:ext cx="8153400" cy="495808"/>
          </a:xfrm>
          <a:prstGeom prst="rect">
            <a:avLst/>
          </a:prstGeom>
          <a:noFill/>
        </p:spPr>
        <p:txBody>
          <a:bodyPr wrap="square" lIns="0" tIns="0" rIns="0" bIns="0" anchor="t">
            <a:spAutoFit/>
          </a:bodyPr>
          <a:lstStyle/>
          <a:p>
            <a:pPr>
              <a:buNone/>
            </a:pPr>
            <a:r>
              <a:rPr sz="1600" b="0" i="0">
                <a:solidFill>
                  <a:srgbClr val="FFFFFF"/>
                </a:solidFill>
                <a:latin typeface="Aptos"/>
              </a:rPr>
              <a:t>What is the smallest landform this stack maps reliably?</a:t>
            </a:r>
          </a:p>
          <a:p>
            <a:pPr>
              <a:buNone/>
            </a:pPr>
            <a:r>
              <a:rPr sz="1600" b="0" i="0">
                <a:solidFill>
                  <a:srgbClr val="9CB3C6"/>
                </a:solidFill>
                <a:latin typeface="Aptos"/>
              </a:rPr>
              <a:t>Answered from where the channel and crater populations roll over.</a:t>
            </a:r>
          </a:p>
        </p:txBody>
      </p:sp>
      <p:sp>
        <p:nvSpPr>
          <p:cNvPr id="16" name="Rectangle 15"/>
          <p:cNvSpPr/>
          <p:nvPr/>
        </p:nvSpPr>
        <p:spPr>
          <a:xfrm>
            <a:off x="825500" y="4596714"/>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500" y="4808544"/>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04</a:t>
            </a:r>
          </a:p>
        </p:txBody>
      </p:sp>
      <p:sp>
        <p:nvSpPr>
          <p:cNvPr id="18" name="TextBox 17"/>
          <p:cNvSpPr txBox="1"/>
          <p:nvPr/>
        </p:nvSpPr>
        <p:spPr>
          <a:xfrm>
            <a:off x="1562100" y="4783144"/>
            <a:ext cx="8153400" cy="495808"/>
          </a:xfrm>
          <a:prstGeom prst="rect">
            <a:avLst/>
          </a:prstGeom>
          <a:noFill/>
        </p:spPr>
        <p:txBody>
          <a:bodyPr wrap="square" lIns="0" tIns="0" rIns="0" bIns="0" anchor="t">
            <a:spAutoFit/>
          </a:bodyPr>
          <a:lstStyle/>
          <a:p>
            <a:pPr>
              <a:buNone/>
            </a:pPr>
            <a:r>
              <a:rPr sz="1600" b="0" i="0">
                <a:solidFill>
                  <a:srgbClr val="FFFFFF"/>
                </a:solidFill>
                <a:latin typeface="Aptos"/>
              </a:rPr>
              <a:t>Where does the classification disagree with the USGS geologic map?</a:t>
            </a:r>
          </a:p>
          <a:p>
            <a:pPr>
              <a:buNone/>
            </a:pPr>
            <a:r>
              <a:rPr sz="1600" b="0" i="0">
                <a:solidFill>
                  <a:srgbClr val="9CB3C6"/>
                </a:solidFill>
                <a:latin typeface="Aptos"/>
              </a:rPr>
              <a:t>Answered by overlaying unit boundaries on the published contacts.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Potential Problems</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18</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6" name="Rectangle 5"/>
          <p:cNvSpPr/>
          <p:nvPr/>
        </p:nvSpPr>
        <p:spPr>
          <a:xfrm>
            <a:off x="825500" y="19050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500" y="2071430"/>
            <a:ext cx="10541000" cy="216916"/>
          </a:xfrm>
          <a:prstGeom prst="rect">
            <a:avLst/>
          </a:prstGeom>
          <a:noFill/>
        </p:spPr>
        <p:txBody>
          <a:bodyPr wrap="square" lIns="0" tIns="0" rIns="0" bIns="0" anchor="t">
            <a:spAutoFit/>
          </a:bodyPr>
          <a:lstStyle/>
          <a:p>
            <a:pPr>
              <a:buNone/>
            </a:pPr>
            <a:r>
              <a:rPr sz="1400" b="1" i="0">
                <a:solidFill>
                  <a:srgbClr val="0E9ED4"/>
                </a:solidFill>
                <a:latin typeface="Aptos"/>
              </a:rPr>
              <a:t>Processing time is the schedule:</a:t>
            </a:r>
            <a:r>
              <a:rPr sz="1400" b="0" i="0">
                <a:solidFill>
                  <a:srgbClr val="DDE8F0"/>
                </a:solidFill>
                <a:latin typeface="Aptos"/>
              </a:rPr>
              <a:t> 1 h 27 min for surface parameters on Viking MDIM alone</a:t>
            </a:r>
          </a:p>
        </p:txBody>
      </p:sp>
      <p:sp>
        <p:nvSpPr>
          <p:cNvPr id="8" name="Rectangle 7"/>
          <p:cNvSpPr/>
          <p:nvPr/>
        </p:nvSpPr>
        <p:spPr>
          <a:xfrm>
            <a:off x="825500" y="2473346"/>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5500" y="2639776"/>
            <a:ext cx="10541000" cy="433832"/>
          </a:xfrm>
          <a:prstGeom prst="rect">
            <a:avLst/>
          </a:prstGeom>
          <a:noFill/>
        </p:spPr>
        <p:txBody>
          <a:bodyPr wrap="square" lIns="0" tIns="0" rIns="0" bIns="0" anchor="t">
            <a:spAutoFit/>
          </a:bodyPr>
          <a:lstStyle/>
          <a:p>
            <a:pPr>
              <a:buNone/>
            </a:pPr>
            <a:r>
              <a:rPr sz="1400" b="1" i="0" dirty="0">
                <a:solidFill>
                  <a:srgbClr val="0E9ED4"/>
                </a:solidFill>
                <a:latin typeface="Aptos"/>
              </a:rPr>
              <a:t>no sub-meter imagery:</a:t>
            </a:r>
            <a:r>
              <a:rPr sz="1400" b="0" i="0" dirty="0">
                <a:solidFill>
                  <a:srgbClr val="DDE8F0"/>
                </a:solidFill>
                <a:latin typeface="Aptos"/>
              </a:rPr>
              <a:t> The finest imagery held is 100 m</a:t>
            </a:r>
            <a:r>
              <a:rPr lang="en-US" sz="1400" b="0" i="0" dirty="0">
                <a:solidFill>
                  <a:srgbClr val="DDE8F0"/>
                </a:solidFill>
                <a:latin typeface="Aptos"/>
              </a:rPr>
              <a:t>,</a:t>
            </a:r>
            <a:r>
              <a:rPr sz="1400" b="0" i="0" dirty="0">
                <a:solidFill>
                  <a:srgbClr val="DDE8F0"/>
                </a:solidFill>
                <a:latin typeface="Aptos"/>
              </a:rPr>
              <a:t> as research grade 5 m imagery is over 10 TB of data. Even if it can be stored, processing time would be measured in days for simple tasks (Hence Consumer vs Researcher grade)</a:t>
            </a:r>
          </a:p>
        </p:txBody>
      </p:sp>
      <p:sp>
        <p:nvSpPr>
          <p:cNvPr id="10" name="Rectangle 9"/>
          <p:cNvSpPr/>
          <p:nvPr/>
        </p:nvSpPr>
        <p:spPr>
          <a:xfrm>
            <a:off x="825500" y="3258608"/>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5500" y="3425038"/>
            <a:ext cx="10541000" cy="433832"/>
          </a:xfrm>
          <a:prstGeom prst="rect">
            <a:avLst/>
          </a:prstGeom>
          <a:noFill/>
        </p:spPr>
        <p:txBody>
          <a:bodyPr wrap="square" lIns="0" tIns="0" rIns="0" bIns="0" anchor="t">
            <a:spAutoFit/>
          </a:bodyPr>
          <a:lstStyle/>
          <a:p>
            <a:pPr>
              <a:buNone/>
            </a:pPr>
            <a:r>
              <a:rPr sz="1400" b="1" i="0" dirty="0">
                <a:solidFill>
                  <a:srgbClr val="0E9ED4"/>
                </a:solidFill>
                <a:latin typeface="Aptos"/>
              </a:rPr>
              <a:t>Three coordinate frames:</a:t>
            </a:r>
            <a:r>
              <a:rPr sz="1400" b="0" i="0" dirty="0">
                <a:solidFill>
                  <a:srgbClr val="DDE8F0"/>
                </a:solidFill>
                <a:latin typeface="Aptos"/>
              </a:rPr>
              <a:t> THEMIS day IR sits on central meridian 180° while Viking and the DEM sit on 0°, and the DEM is on a degree grid while both mosaics are metric. A mismatch here misregisters silently rather than failing.</a:t>
            </a:r>
          </a:p>
        </p:txBody>
      </p:sp>
      <p:sp>
        <p:nvSpPr>
          <p:cNvPr id="12" name="Rectangle 11"/>
          <p:cNvSpPr/>
          <p:nvPr/>
        </p:nvSpPr>
        <p:spPr>
          <a:xfrm>
            <a:off x="825500" y="404387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500" y="4225300"/>
            <a:ext cx="10541000" cy="433832"/>
          </a:xfrm>
          <a:prstGeom prst="rect">
            <a:avLst/>
          </a:prstGeom>
          <a:noFill/>
        </p:spPr>
        <p:txBody>
          <a:bodyPr wrap="square" lIns="0" tIns="0" rIns="0" bIns="0" anchor="t">
            <a:spAutoFit/>
          </a:bodyPr>
          <a:lstStyle/>
          <a:p>
            <a:pPr>
              <a:buNone/>
            </a:pPr>
            <a:r>
              <a:rPr sz="1400" b="1" i="0" dirty="0">
                <a:solidFill>
                  <a:srgbClr val="0E9ED4"/>
                </a:solidFill>
                <a:latin typeface="Aptos"/>
              </a:rPr>
              <a:t>No ground truth:</a:t>
            </a:r>
            <a:r>
              <a:rPr sz="1400" b="0" i="0" dirty="0">
                <a:solidFill>
                  <a:srgbClr val="DDE8F0"/>
                </a:solidFill>
                <a:latin typeface="Aptos"/>
              </a:rPr>
              <a:t> the USGS geologic map and the IAU gazetteer are the only references, and the gazetteer is a names list </a:t>
            </a:r>
            <a:r>
              <a:rPr lang="en-US" sz="1400" b="0" i="0" dirty="0">
                <a:solidFill>
                  <a:srgbClr val="DDE8F0"/>
                </a:solidFill>
                <a:latin typeface="Aptos"/>
              </a:rPr>
              <a:t>(</a:t>
            </a:r>
            <a:r>
              <a:rPr sz="1400" b="0" i="0" dirty="0">
                <a:solidFill>
                  <a:srgbClr val="DDE8F0"/>
                </a:solidFill>
                <a:latin typeface="Aptos"/>
              </a:rPr>
              <a:t>141 craters above 100 km</a:t>
            </a:r>
            <a:r>
              <a:rPr lang="en-US" sz="1400" b="0" i="0" dirty="0">
                <a:solidFill>
                  <a:srgbClr val="DDE8F0"/>
                </a:solidFill>
                <a:latin typeface="Aptos"/>
              </a:rPr>
              <a:t>)</a:t>
            </a:r>
            <a:r>
              <a:rPr sz="1400" b="0" i="0" dirty="0">
                <a:solidFill>
                  <a:srgbClr val="DDE8F0"/>
                </a:solidFill>
                <a:latin typeface="Aptos"/>
              </a:rPr>
              <a:t> not a crater inventory.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558800"/>
            <a:ext cx="10541000" cy="203200"/>
          </a:xfrm>
          <a:prstGeom prst="rect">
            <a:avLst/>
          </a:prstGeom>
          <a:noFill/>
        </p:spPr>
        <p:txBody>
          <a:bodyPr wrap="square" lIns="0" tIns="0" rIns="0" bIns="0" anchor="t">
            <a:spAutoFit/>
          </a:bodyPr>
          <a:lstStyle/>
          <a:p>
            <a:pPr>
              <a:buNone/>
            </a:pPr>
            <a:r>
              <a:rPr sz="1050" b="0" i="0" spc="180">
                <a:solidFill>
                  <a:srgbClr val="0E9ED4"/>
                </a:solidFill>
                <a:latin typeface="Aptos"/>
              </a:rPr>
              <a:t>PLAN TO DELIVERY</a:t>
            </a:r>
          </a:p>
        </p:txBody>
      </p:sp>
      <p:sp>
        <p:nvSpPr>
          <p:cNvPr id="3" name="TextBox 2"/>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Project Schedule</a:t>
            </a:r>
          </a:p>
        </p:txBody>
      </p:sp>
      <p:sp>
        <p:nvSpPr>
          <p:cNvPr id="4" name="Rectangle 3"/>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19</a:t>
            </a:r>
          </a:p>
        </p:txBody>
      </p:sp>
      <p:sp>
        <p:nvSpPr>
          <p:cNvPr id="6" name="TextBox 5"/>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7" name="TextBox 6"/>
          <p:cNvSpPr txBox="1"/>
          <p:nvPr/>
        </p:nvSpPr>
        <p:spPr>
          <a:xfrm>
            <a:off x="3355500" y="1830000"/>
            <a:ext cx="2288857" cy="160000"/>
          </a:xfrm>
          <a:prstGeom prst="rect">
            <a:avLst/>
          </a:prstGeom>
          <a:noFill/>
        </p:spPr>
        <p:txBody>
          <a:bodyPr wrap="square" lIns="0" tIns="0" rIns="0" bIns="0" anchor="t">
            <a:spAutoFit/>
          </a:bodyPr>
          <a:lstStyle/>
          <a:p>
            <a:pPr>
              <a:buNone/>
            </a:pPr>
            <a:r>
              <a:rPr sz="1100" b="0" i="0" spc="60">
                <a:solidFill>
                  <a:srgbClr val="DDE8F0"/>
                </a:solidFill>
                <a:latin typeface="Aptos"/>
              </a:rPr>
              <a:t>Sep</a:t>
            </a:r>
          </a:p>
        </p:txBody>
      </p:sp>
      <p:sp>
        <p:nvSpPr>
          <p:cNvPr id="8" name="TextBox 7"/>
          <p:cNvSpPr txBox="1"/>
          <p:nvPr/>
        </p:nvSpPr>
        <p:spPr>
          <a:xfrm>
            <a:off x="5644357" y="1830000"/>
            <a:ext cx="2288857" cy="160000"/>
          </a:xfrm>
          <a:prstGeom prst="rect">
            <a:avLst/>
          </a:prstGeom>
          <a:noFill/>
        </p:spPr>
        <p:txBody>
          <a:bodyPr wrap="square" lIns="0" tIns="0" rIns="0" bIns="0" anchor="t">
            <a:spAutoFit/>
          </a:bodyPr>
          <a:lstStyle/>
          <a:p>
            <a:pPr>
              <a:buNone/>
            </a:pPr>
            <a:r>
              <a:rPr sz="1100" b="0" i="0" spc="60">
                <a:solidFill>
                  <a:srgbClr val="DDE8F0"/>
                </a:solidFill>
                <a:latin typeface="Aptos"/>
              </a:rPr>
              <a:t>Oct</a:t>
            </a:r>
          </a:p>
        </p:txBody>
      </p:sp>
      <p:sp>
        <p:nvSpPr>
          <p:cNvPr id="9" name="TextBox 8"/>
          <p:cNvSpPr txBox="1"/>
          <p:nvPr/>
        </p:nvSpPr>
        <p:spPr>
          <a:xfrm>
            <a:off x="7933214" y="1830000"/>
            <a:ext cx="2861071" cy="160000"/>
          </a:xfrm>
          <a:prstGeom prst="rect">
            <a:avLst/>
          </a:prstGeom>
          <a:noFill/>
        </p:spPr>
        <p:txBody>
          <a:bodyPr wrap="square" lIns="0" tIns="0" rIns="0" bIns="0" anchor="t">
            <a:spAutoFit/>
          </a:bodyPr>
          <a:lstStyle/>
          <a:p>
            <a:pPr>
              <a:buNone/>
            </a:pPr>
            <a:r>
              <a:rPr sz="1100" b="0" i="0" spc="60">
                <a:solidFill>
                  <a:srgbClr val="DDE8F0"/>
                </a:solidFill>
                <a:latin typeface="Aptos"/>
              </a:rPr>
              <a:t>Nov</a:t>
            </a:r>
          </a:p>
        </p:txBody>
      </p:sp>
      <p:sp>
        <p:nvSpPr>
          <p:cNvPr id="10" name="TextBox 9"/>
          <p:cNvSpPr txBox="1"/>
          <p:nvPr/>
        </p:nvSpPr>
        <p:spPr>
          <a:xfrm>
            <a:off x="10794285" y="1830000"/>
            <a:ext cx="572214" cy="160000"/>
          </a:xfrm>
          <a:prstGeom prst="rect">
            <a:avLst/>
          </a:prstGeom>
          <a:noFill/>
        </p:spPr>
        <p:txBody>
          <a:bodyPr wrap="square" lIns="0" tIns="0" rIns="0" bIns="0" anchor="t">
            <a:spAutoFit/>
          </a:bodyPr>
          <a:lstStyle/>
          <a:p>
            <a:pPr>
              <a:buNone/>
            </a:pPr>
            <a:r>
              <a:rPr sz="1100" b="0" i="0" spc="60">
                <a:solidFill>
                  <a:srgbClr val="DDE8F0"/>
                </a:solidFill>
                <a:latin typeface="Aptos"/>
              </a:rPr>
              <a:t>Dec</a:t>
            </a:r>
          </a:p>
        </p:txBody>
      </p:sp>
      <p:sp>
        <p:nvSpPr>
          <p:cNvPr id="11" name="TextBox 10"/>
          <p:cNvSpPr txBox="1"/>
          <p:nvPr/>
        </p:nvSpPr>
        <p:spPr>
          <a:xfrm>
            <a:off x="3355500"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7</a:t>
            </a:r>
          </a:p>
        </p:txBody>
      </p:sp>
      <p:sp>
        <p:nvSpPr>
          <p:cNvPr id="12" name="TextBox 11"/>
          <p:cNvSpPr txBox="1"/>
          <p:nvPr/>
        </p:nvSpPr>
        <p:spPr>
          <a:xfrm>
            <a:off x="3927714"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14</a:t>
            </a:r>
          </a:p>
        </p:txBody>
      </p:sp>
      <p:sp>
        <p:nvSpPr>
          <p:cNvPr id="13" name="TextBox 12"/>
          <p:cNvSpPr txBox="1"/>
          <p:nvPr/>
        </p:nvSpPr>
        <p:spPr>
          <a:xfrm>
            <a:off x="4499928"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21</a:t>
            </a:r>
          </a:p>
        </p:txBody>
      </p:sp>
      <p:sp>
        <p:nvSpPr>
          <p:cNvPr id="14" name="TextBox 13"/>
          <p:cNvSpPr txBox="1"/>
          <p:nvPr/>
        </p:nvSpPr>
        <p:spPr>
          <a:xfrm>
            <a:off x="5072142"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28</a:t>
            </a:r>
          </a:p>
        </p:txBody>
      </p:sp>
      <p:sp>
        <p:nvSpPr>
          <p:cNvPr id="15" name="TextBox 14"/>
          <p:cNvSpPr txBox="1"/>
          <p:nvPr/>
        </p:nvSpPr>
        <p:spPr>
          <a:xfrm>
            <a:off x="5644357"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5</a:t>
            </a:r>
          </a:p>
        </p:txBody>
      </p:sp>
      <p:sp>
        <p:nvSpPr>
          <p:cNvPr id="16" name="TextBox 15"/>
          <p:cNvSpPr txBox="1"/>
          <p:nvPr/>
        </p:nvSpPr>
        <p:spPr>
          <a:xfrm>
            <a:off x="6216571"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12</a:t>
            </a:r>
          </a:p>
        </p:txBody>
      </p:sp>
      <p:sp>
        <p:nvSpPr>
          <p:cNvPr id="17" name="TextBox 16"/>
          <p:cNvSpPr txBox="1"/>
          <p:nvPr/>
        </p:nvSpPr>
        <p:spPr>
          <a:xfrm>
            <a:off x="6788785"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19</a:t>
            </a:r>
          </a:p>
        </p:txBody>
      </p:sp>
      <p:sp>
        <p:nvSpPr>
          <p:cNvPr id="18" name="TextBox 17"/>
          <p:cNvSpPr txBox="1"/>
          <p:nvPr/>
        </p:nvSpPr>
        <p:spPr>
          <a:xfrm>
            <a:off x="7361000"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26</a:t>
            </a:r>
          </a:p>
        </p:txBody>
      </p:sp>
      <p:sp>
        <p:nvSpPr>
          <p:cNvPr id="19" name="TextBox 18"/>
          <p:cNvSpPr txBox="1"/>
          <p:nvPr/>
        </p:nvSpPr>
        <p:spPr>
          <a:xfrm>
            <a:off x="7933214"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2</a:t>
            </a:r>
          </a:p>
        </p:txBody>
      </p:sp>
      <p:sp>
        <p:nvSpPr>
          <p:cNvPr id="20" name="TextBox 19"/>
          <p:cNvSpPr txBox="1"/>
          <p:nvPr/>
        </p:nvSpPr>
        <p:spPr>
          <a:xfrm>
            <a:off x="8505428"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9</a:t>
            </a:r>
          </a:p>
        </p:txBody>
      </p:sp>
      <p:sp>
        <p:nvSpPr>
          <p:cNvPr id="21" name="TextBox 20"/>
          <p:cNvSpPr txBox="1"/>
          <p:nvPr/>
        </p:nvSpPr>
        <p:spPr>
          <a:xfrm>
            <a:off x="9077642"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16</a:t>
            </a:r>
          </a:p>
        </p:txBody>
      </p:sp>
      <p:sp>
        <p:nvSpPr>
          <p:cNvPr id="22" name="TextBox 21"/>
          <p:cNvSpPr txBox="1"/>
          <p:nvPr/>
        </p:nvSpPr>
        <p:spPr>
          <a:xfrm>
            <a:off x="9649857"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23</a:t>
            </a:r>
          </a:p>
        </p:txBody>
      </p:sp>
      <p:sp>
        <p:nvSpPr>
          <p:cNvPr id="23" name="TextBox 22"/>
          <p:cNvSpPr txBox="1"/>
          <p:nvPr/>
        </p:nvSpPr>
        <p:spPr>
          <a:xfrm>
            <a:off x="10222071"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30</a:t>
            </a:r>
          </a:p>
        </p:txBody>
      </p:sp>
      <p:sp>
        <p:nvSpPr>
          <p:cNvPr id="24" name="TextBox 23"/>
          <p:cNvSpPr txBox="1"/>
          <p:nvPr/>
        </p:nvSpPr>
        <p:spPr>
          <a:xfrm>
            <a:off x="10794285" y="2020000"/>
            <a:ext cx="572214" cy="140000"/>
          </a:xfrm>
          <a:prstGeom prst="rect">
            <a:avLst/>
          </a:prstGeom>
          <a:noFill/>
        </p:spPr>
        <p:txBody>
          <a:bodyPr wrap="square" lIns="0" tIns="0" rIns="0" bIns="0" anchor="t">
            <a:spAutoFit/>
          </a:bodyPr>
          <a:lstStyle/>
          <a:p>
            <a:pPr>
              <a:buNone/>
            </a:pPr>
            <a:r>
              <a:rPr sz="850" b="0" i="0">
                <a:solidFill>
                  <a:srgbClr val="6F8CA6"/>
                </a:solidFill>
                <a:latin typeface="Aptos"/>
              </a:rPr>
              <a:t>7</a:t>
            </a:r>
          </a:p>
        </p:txBody>
      </p:sp>
      <p:sp>
        <p:nvSpPr>
          <p:cNvPr id="25" name="Rectangle 24"/>
          <p:cNvSpPr/>
          <p:nvPr/>
        </p:nvSpPr>
        <p:spPr>
          <a:xfrm>
            <a:off x="825500" y="22100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5500" y="2620000"/>
            <a:ext cx="10541000" cy="330000"/>
          </a:xfrm>
          <a:prstGeom prst="rect">
            <a:avLst/>
          </a:prstGeom>
          <a:solidFill>
            <a:srgbClr val="123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5500" y="3280000"/>
            <a:ext cx="10541000" cy="330000"/>
          </a:xfrm>
          <a:prstGeom prst="rect">
            <a:avLst/>
          </a:prstGeom>
          <a:solidFill>
            <a:srgbClr val="123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5500" y="3940000"/>
            <a:ext cx="10541000" cy="330000"/>
          </a:xfrm>
          <a:prstGeom prst="rect">
            <a:avLst/>
          </a:prstGeom>
          <a:solidFill>
            <a:srgbClr val="123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5500" y="4600000"/>
            <a:ext cx="10541000" cy="330000"/>
          </a:xfrm>
          <a:prstGeom prst="rect">
            <a:avLst/>
          </a:prstGeom>
          <a:solidFill>
            <a:srgbClr val="123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5500" y="5260000"/>
            <a:ext cx="10541000" cy="330000"/>
          </a:xfrm>
          <a:prstGeom prst="rect">
            <a:avLst/>
          </a:prstGeom>
          <a:solidFill>
            <a:srgbClr val="123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927714"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499928"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72142"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44357"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6571"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788785"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361000"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933214"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505428"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077642"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649857"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0222071"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794285" y="2210000"/>
            <a:ext cx="6350" cy="3380000"/>
          </a:xfrm>
          <a:prstGeom prst="rect">
            <a:avLst/>
          </a:prstGeom>
          <a:solidFill>
            <a:srgbClr val="1C3C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5500" y="2377500"/>
            <a:ext cx="2380000" cy="155000"/>
          </a:xfrm>
          <a:prstGeom prst="rect">
            <a:avLst/>
          </a:prstGeom>
          <a:noFill/>
        </p:spPr>
        <p:txBody>
          <a:bodyPr wrap="square" lIns="0" tIns="0" rIns="0" bIns="0" anchor="t">
            <a:spAutoFit/>
          </a:bodyPr>
          <a:lstStyle/>
          <a:p>
            <a:pPr>
              <a:buNone/>
            </a:pPr>
            <a:r>
              <a:rPr sz="1000" b="0" i="0">
                <a:solidFill>
                  <a:srgbClr val="6F8CA6"/>
                </a:solidFill>
                <a:latin typeface="Aptos"/>
              </a:rPr>
              <a:t>Rasters acquired, viewer built</a:t>
            </a:r>
          </a:p>
        </p:txBody>
      </p:sp>
      <p:sp>
        <p:nvSpPr>
          <p:cNvPr id="45" name="Rectangle 44"/>
          <p:cNvSpPr/>
          <p:nvPr/>
        </p:nvSpPr>
        <p:spPr>
          <a:xfrm>
            <a:off x="3368200" y="2380000"/>
            <a:ext cx="1119028" cy="150000"/>
          </a:xfrm>
          <a:prstGeom prst="roundRect">
            <a:avLst>
              <a:gd name="adj" fmla="val 30000"/>
            </a:avLst>
          </a:prstGeom>
          <a:solidFill>
            <a:srgbClr val="37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5500" y="270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Build raster pyramids</a:t>
            </a:r>
          </a:p>
        </p:txBody>
      </p:sp>
      <p:sp>
        <p:nvSpPr>
          <p:cNvPr id="47" name="Rectangle 46"/>
          <p:cNvSpPr/>
          <p:nvPr/>
        </p:nvSpPr>
        <p:spPr>
          <a:xfrm>
            <a:off x="3940414" y="2710000"/>
            <a:ext cx="1119028"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5500" y="303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Reproject into one frame</a:t>
            </a:r>
          </a:p>
        </p:txBody>
      </p:sp>
      <p:sp>
        <p:nvSpPr>
          <p:cNvPr id="49" name="Rectangle 48"/>
          <p:cNvSpPr/>
          <p:nvPr/>
        </p:nvSpPr>
        <p:spPr>
          <a:xfrm>
            <a:off x="3940414" y="3040000"/>
            <a:ext cx="1691242"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5500" y="336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Rebuild slope and hillshade</a:t>
            </a:r>
          </a:p>
        </p:txBody>
      </p:sp>
      <p:sp>
        <p:nvSpPr>
          <p:cNvPr id="51" name="Rectangle 50"/>
          <p:cNvSpPr/>
          <p:nvPr/>
        </p:nvSpPr>
        <p:spPr>
          <a:xfrm>
            <a:off x="5084842" y="3370000"/>
            <a:ext cx="1119028"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5500" y="369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Composite Bands: four-band stack</a:t>
            </a:r>
          </a:p>
        </p:txBody>
      </p:sp>
      <p:sp>
        <p:nvSpPr>
          <p:cNvPr id="53" name="Rectangle 52"/>
          <p:cNvSpPr/>
          <p:nvPr/>
        </p:nvSpPr>
        <p:spPr>
          <a:xfrm>
            <a:off x="5084842" y="3700000"/>
            <a:ext cx="1691242"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25500" y="402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Image-gradient products</a:t>
            </a:r>
          </a:p>
        </p:txBody>
      </p:sp>
      <p:sp>
        <p:nvSpPr>
          <p:cNvPr id="55" name="Rectangle 54"/>
          <p:cNvSpPr/>
          <p:nvPr/>
        </p:nvSpPr>
        <p:spPr>
          <a:xfrm>
            <a:off x="6229271" y="4030000"/>
            <a:ext cx="1119028"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25500" y="435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Classify surface units</a:t>
            </a:r>
          </a:p>
        </p:txBody>
      </p:sp>
      <p:sp>
        <p:nvSpPr>
          <p:cNvPr id="57" name="Rectangle 56"/>
          <p:cNvSpPr/>
          <p:nvPr/>
        </p:nvSpPr>
        <p:spPr>
          <a:xfrm>
            <a:off x="6801485" y="4360000"/>
            <a:ext cx="1691242"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5500" y="468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Digitize landform vectors</a:t>
            </a:r>
          </a:p>
        </p:txBody>
      </p:sp>
      <p:sp>
        <p:nvSpPr>
          <p:cNvPr id="59" name="Rectangle 58"/>
          <p:cNvSpPr/>
          <p:nvPr/>
        </p:nvSpPr>
        <p:spPr>
          <a:xfrm>
            <a:off x="7373700" y="4690000"/>
            <a:ext cx="2835671"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5500" y="501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Crater inventory</a:t>
            </a:r>
          </a:p>
        </p:txBody>
      </p:sp>
      <p:sp>
        <p:nvSpPr>
          <p:cNvPr id="61" name="Rectangle 60"/>
          <p:cNvSpPr/>
          <p:nvPr/>
        </p:nvSpPr>
        <p:spPr>
          <a:xfrm>
            <a:off x="8518128" y="5020000"/>
            <a:ext cx="1691242"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25500" y="5347500"/>
            <a:ext cx="2380000" cy="155000"/>
          </a:xfrm>
          <a:prstGeom prst="rect">
            <a:avLst/>
          </a:prstGeom>
          <a:noFill/>
        </p:spPr>
        <p:txBody>
          <a:bodyPr wrap="square" lIns="0" tIns="0" rIns="0" bIns="0" anchor="t">
            <a:spAutoFit/>
          </a:bodyPr>
          <a:lstStyle/>
          <a:p>
            <a:pPr>
              <a:buNone/>
            </a:pPr>
            <a:r>
              <a:rPr sz="1000" b="0" i="0">
                <a:solidFill>
                  <a:srgbClr val="DDE8F0"/>
                </a:solidFill>
                <a:latin typeface="Aptos"/>
              </a:rPr>
              <a:t>Map layouts and final deck</a:t>
            </a:r>
          </a:p>
        </p:txBody>
      </p:sp>
      <p:sp>
        <p:nvSpPr>
          <p:cNvPr id="63" name="Rectangle 62"/>
          <p:cNvSpPr/>
          <p:nvPr/>
        </p:nvSpPr>
        <p:spPr>
          <a:xfrm>
            <a:off x="9662557" y="5350000"/>
            <a:ext cx="1691242" cy="150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172948" y="2210000"/>
            <a:ext cx="9525" cy="33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722948" y="5635000"/>
            <a:ext cx="900000" cy="130000"/>
          </a:xfrm>
          <a:prstGeom prst="rect">
            <a:avLst/>
          </a:prstGeom>
          <a:noFill/>
        </p:spPr>
        <p:txBody>
          <a:bodyPr wrap="square" lIns="0" tIns="0" rIns="0" bIns="0" anchor="t">
            <a:spAutoFit/>
          </a:bodyPr>
          <a:lstStyle/>
          <a:p>
            <a:pPr algn="ctr">
              <a:buNone/>
            </a:pPr>
            <a:r>
              <a:rPr sz="800" b="0" i="0" spc="80">
                <a:solidFill>
                  <a:srgbClr val="FFFFFF"/>
                </a:solidFill>
                <a:latin typeface="Aptos"/>
              </a:rPr>
              <a:t>TODAY</a:t>
            </a:r>
          </a:p>
        </p:txBody>
      </p:sp>
      <p:sp>
        <p:nvSpPr>
          <p:cNvPr id="66" name="Rectangle 65"/>
          <p:cNvSpPr/>
          <p:nvPr/>
        </p:nvSpPr>
        <p:spPr>
          <a:xfrm>
            <a:off x="825500" y="5905000"/>
            <a:ext cx="190000" cy="85000"/>
          </a:xfrm>
          <a:prstGeom prst="roundRect">
            <a:avLst>
              <a:gd name="adj" fmla="val 30000"/>
            </a:avLst>
          </a:prstGeom>
          <a:solidFill>
            <a:srgbClr val="37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85500" y="5880000"/>
            <a:ext cx="900000" cy="140000"/>
          </a:xfrm>
          <a:prstGeom prst="rect">
            <a:avLst/>
          </a:prstGeom>
          <a:noFill/>
        </p:spPr>
        <p:txBody>
          <a:bodyPr wrap="square" lIns="0" tIns="0" rIns="0" bIns="0" anchor="t">
            <a:spAutoFit/>
          </a:bodyPr>
          <a:lstStyle/>
          <a:p>
            <a:pPr>
              <a:buNone/>
            </a:pPr>
            <a:r>
              <a:rPr sz="900" b="0" i="0" spc="40">
                <a:solidFill>
                  <a:srgbClr val="6F8CA6"/>
                </a:solidFill>
                <a:latin typeface="Aptos"/>
              </a:rPr>
              <a:t>Complete</a:t>
            </a:r>
          </a:p>
        </p:txBody>
      </p:sp>
      <p:sp>
        <p:nvSpPr>
          <p:cNvPr id="68" name="Rectangle 67"/>
          <p:cNvSpPr/>
          <p:nvPr/>
        </p:nvSpPr>
        <p:spPr>
          <a:xfrm>
            <a:off x="1945500" y="5905000"/>
            <a:ext cx="190000" cy="85000"/>
          </a:xfrm>
          <a:prstGeom prst="roundRect">
            <a:avLst>
              <a:gd name="adj" fmla="val 30000"/>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205500" y="5880000"/>
            <a:ext cx="900000" cy="140000"/>
          </a:xfrm>
          <a:prstGeom prst="rect">
            <a:avLst/>
          </a:prstGeom>
          <a:noFill/>
        </p:spPr>
        <p:txBody>
          <a:bodyPr wrap="square" lIns="0" tIns="0" rIns="0" bIns="0" anchor="t">
            <a:spAutoFit/>
          </a:bodyPr>
          <a:lstStyle/>
          <a:p>
            <a:pPr>
              <a:buNone/>
            </a:pPr>
            <a:r>
              <a:rPr sz="900" b="0" i="0" spc="40">
                <a:solidFill>
                  <a:srgbClr val="6F8CA6"/>
                </a:solidFill>
                <a:latin typeface="Aptos"/>
              </a:rPr>
              <a:t>Planned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TextBox 1"/>
          <p:cNvSpPr txBox="1"/>
          <p:nvPr/>
        </p:nvSpPr>
        <p:spPr>
          <a:xfrm>
            <a:off x="825500" y="787400"/>
            <a:ext cx="10541000" cy="584200"/>
          </a:xfrm>
          <a:prstGeom prst="rect">
            <a:avLst/>
          </a:prstGeom>
          <a:noFill/>
        </p:spPr>
        <p:txBody>
          <a:bodyPr wrap="square" lIns="0" tIns="0" rIns="0" bIns="0" anchor="t">
            <a:spAutoFit/>
          </a:bodyPr>
          <a:lstStyle/>
          <a:p>
            <a:pPr>
              <a:buNone/>
            </a:pPr>
            <a:r>
              <a:rPr sz="3400" b="0" i="0">
                <a:solidFill>
                  <a:srgbClr val="FFFFFF"/>
                </a:solidFill>
                <a:latin typeface="Aptos Display"/>
              </a:rPr>
              <a:t>Where This Stands</a:t>
            </a:r>
          </a:p>
        </p:txBody>
      </p:sp>
      <p:sp>
        <p:nvSpPr>
          <p:cNvPr id="3" name="Rectangle 2"/>
          <p:cNvSpPr/>
          <p:nvPr/>
        </p:nvSpPr>
        <p:spPr>
          <a:xfrm>
            <a:off x="825500" y="15494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5500" y="1270000"/>
            <a:ext cx="10541000" cy="228600"/>
          </a:xfrm>
          <a:prstGeom prst="rect">
            <a:avLst/>
          </a:prstGeom>
          <a:noFill/>
        </p:spPr>
        <p:txBody>
          <a:bodyPr wrap="square" lIns="0" tIns="0" rIns="0" bIns="0" anchor="t">
            <a:spAutoFit/>
          </a:bodyPr>
          <a:lstStyle/>
          <a:p>
            <a:pPr algn="r">
              <a:buNone/>
            </a:pPr>
            <a:r>
              <a:rPr sz="1300" b="0" i="0" spc="30">
                <a:solidFill>
                  <a:srgbClr val="6F8CA6"/>
                </a:solidFill>
                <a:latin typeface="Aptos"/>
              </a:rPr>
              <a:t>20</a:t>
            </a:r>
          </a:p>
        </p:txBody>
      </p:sp>
      <p:sp>
        <p:nvSpPr>
          <p:cNvPr id="5" name="TextBox 4"/>
          <p:cNvSpPr txBox="1"/>
          <p:nvPr/>
        </p:nvSpPr>
        <p:spPr>
          <a:xfrm>
            <a:off x="825500" y="6426200"/>
            <a:ext cx="10541000" cy="177800"/>
          </a:xfrm>
          <a:prstGeom prst="rect">
            <a:avLst/>
          </a:prstGeom>
          <a:noFill/>
        </p:spPr>
        <p:txBody>
          <a:bodyPr wrap="square" lIns="0" tIns="0" rIns="0" bIns="0" anchor="t">
            <a:spAutoFit/>
          </a:bodyPr>
          <a:lstStyle/>
          <a:p>
            <a:pPr>
              <a:buNone/>
            </a:pPr>
            <a:r>
              <a:rPr sz="900" b="0" i="0" spc="40">
                <a:solidFill>
                  <a:srgbClr val="6F8CA6"/>
                </a:solidFill>
                <a:latin typeface="Aptos"/>
              </a:rPr>
              <a:t>Mars Global Mosaic  ·  OCN 4704</a:t>
            </a:r>
          </a:p>
        </p:txBody>
      </p:sp>
      <p:sp>
        <p:nvSpPr>
          <p:cNvPr id="6" name="Rectangle 5"/>
          <p:cNvSpPr/>
          <p:nvPr/>
        </p:nvSpPr>
        <p:spPr>
          <a:xfrm>
            <a:off x="825500" y="190500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500" y="209550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01</a:t>
            </a:r>
          </a:p>
        </p:txBody>
      </p:sp>
      <p:sp>
        <p:nvSpPr>
          <p:cNvPr id="8" name="TextBox 7"/>
          <p:cNvSpPr txBox="1"/>
          <p:nvPr/>
        </p:nvSpPr>
        <p:spPr>
          <a:xfrm>
            <a:off x="1562100" y="2070100"/>
            <a:ext cx="8153400" cy="495808"/>
          </a:xfrm>
          <a:prstGeom prst="rect">
            <a:avLst/>
          </a:prstGeom>
          <a:noFill/>
        </p:spPr>
        <p:txBody>
          <a:bodyPr wrap="square" lIns="0" tIns="0" rIns="0" bIns="0" anchor="t">
            <a:spAutoFit/>
          </a:bodyPr>
          <a:lstStyle/>
          <a:p>
            <a:pPr>
              <a:buNone/>
            </a:pPr>
            <a:r>
              <a:rPr sz="1600" b="0" i="0">
                <a:solidFill>
                  <a:srgbClr val="DDE8F0"/>
                </a:solidFill>
                <a:latin typeface="Aptos"/>
              </a:rPr>
              <a:t>Three global rasters on disk, characterized from the files themselves; 43.7 GB, 100–232 m/px, one of them 22.8 billion pixels.</a:t>
            </a:r>
          </a:p>
        </p:txBody>
      </p:sp>
      <p:sp>
        <p:nvSpPr>
          <p:cNvPr id="9" name="Rectangle 8"/>
          <p:cNvSpPr/>
          <p:nvPr/>
        </p:nvSpPr>
        <p:spPr>
          <a:xfrm>
            <a:off x="825500" y="2769108"/>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5500" y="2959608"/>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02</a:t>
            </a:r>
          </a:p>
        </p:txBody>
      </p:sp>
      <p:sp>
        <p:nvSpPr>
          <p:cNvPr id="11" name="TextBox 10"/>
          <p:cNvSpPr txBox="1"/>
          <p:nvPr/>
        </p:nvSpPr>
        <p:spPr>
          <a:xfrm>
            <a:off x="1562100" y="2934208"/>
            <a:ext cx="8153400" cy="743712"/>
          </a:xfrm>
          <a:prstGeom prst="rect">
            <a:avLst/>
          </a:prstGeom>
          <a:noFill/>
        </p:spPr>
        <p:txBody>
          <a:bodyPr wrap="square" lIns="0" tIns="0" rIns="0" bIns="0" anchor="t">
            <a:spAutoFit/>
          </a:bodyPr>
          <a:lstStyle/>
          <a:p>
            <a:pPr>
              <a:buNone/>
            </a:pPr>
            <a:r>
              <a:rPr sz="1600" b="0" i="0">
                <a:solidFill>
                  <a:srgbClr val="DDE8F0"/>
                </a:solidFill>
                <a:latin typeface="Aptos"/>
              </a:rPr>
              <a:t>The mapped extent is settled: all 360° of longitude between 60°N and 60°S, which is 86.6% of the surface and caps plate-carrée scale error at a factor of two.</a:t>
            </a:r>
          </a:p>
        </p:txBody>
      </p:sp>
      <p:sp>
        <p:nvSpPr>
          <p:cNvPr id="12" name="Rectangle 11"/>
          <p:cNvSpPr/>
          <p:nvPr/>
        </p:nvSpPr>
        <p:spPr>
          <a:xfrm>
            <a:off x="825500" y="3881120"/>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500" y="4071620"/>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03</a:t>
            </a:r>
          </a:p>
        </p:txBody>
      </p:sp>
      <p:sp>
        <p:nvSpPr>
          <p:cNvPr id="14" name="TextBox 13"/>
          <p:cNvSpPr txBox="1"/>
          <p:nvPr/>
        </p:nvSpPr>
        <p:spPr>
          <a:xfrm>
            <a:off x="1562100" y="4046220"/>
            <a:ext cx="8153400" cy="495808"/>
          </a:xfrm>
          <a:prstGeom prst="rect">
            <a:avLst/>
          </a:prstGeom>
          <a:noFill/>
        </p:spPr>
        <p:txBody>
          <a:bodyPr wrap="square" lIns="0" tIns="0" rIns="0" bIns="0" anchor="t">
            <a:spAutoFit/>
          </a:bodyPr>
          <a:lstStyle/>
          <a:p>
            <a:pPr>
              <a:buNone/>
            </a:pPr>
            <a:r>
              <a:rPr sz="1600" b="0" i="0">
                <a:solidFill>
                  <a:srgbClr val="DDE8F0"/>
                </a:solidFill>
                <a:latin typeface="Aptos"/>
              </a:rPr>
              <a:t>Next: project everything into one frame, rebuild slope and hillshade, then run Composite Bands to conjoin different data</a:t>
            </a:r>
          </a:p>
        </p:txBody>
      </p:sp>
      <p:sp>
        <p:nvSpPr>
          <p:cNvPr id="15" name="Rectangle 14"/>
          <p:cNvSpPr/>
          <p:nvPr/>
        </p:nvSpPr>
        <p:spPr>
          <a:xfrm>
            <a:off x="825500" y="4745228"/>
            <a:ext cx="10541000" cy="11430"/>
          </a:xfrm>
          <a:prstGeom prst="rect">
            <a:avLst/>
          </a:prstGeom>
          <a:solidFill>
            <a:srgbClr val="2A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500" y="4935728"/>
            <a:ext cx="609600" cy="228600"/>
          </a:xfrm>
          <a:prstGeom prst="rect">
            <a:avLst/>
          </a:prstGeom>
          <a:noFill/>
        </p:spPr>
        <p:txBody>
          <a:bodyPr wrap="square" lIns="0" tIns="0" rIns="0" bIns="0" anchor="t">
            <a:spAutoFit/>
          </a:bodyPr>
          <a:lstStyle/>
          <a:p>
            <a:pPr>
              <a:buNone/>
            </a:pPr>
            <a:r>
              <a:rPr sz="1350" b="0" i="0" spc="60">
                <a:solidFill>
                  <a:srgbClr val="0E9ED4"/>
                </a:solidFill>
                <a:latin typeface="Aptos"/>
              </a:rPr>
              <a:t>04</a:t>
            </a:r>
          </a:p>
        </p:txBody>
      </p:sp>
      <p:sp>
        <p:nvSpPr>
          <p:cNvPr id="17" name="TextBox 16"/>
          <p:cNvSpPr txBox="1"/>
          <p:nvPr/>
        </p:nvSpPr>
        <p:spPr>
          <a:xfrm>
            <a:off x="1562100" y="4910328"/>
            <a:ext cx="8153400" cy="743712"/>
          </a:xfrm>
          <a:prstGeom prst="rect">
            <a:avLst/>
          </a:prstGeom>
          <a:noFill/>
        </p:spPr>
        <p:txBody>
          <a:bodyPr wrap="square" lIns="0" tIns="0" rIns="0" bIns="0" anchor="t">
            <a:spAutoFit/>
          </a:bodyPr>
          <a:lstStyle/>
          <a:p>
            <a:pPr>
              <a:buNone/>
            </a:pPr>
            <a:r>
              <a:rPr sz="1600" b="0" i="0">
                <a:solidFill>
                  <a:srgbClr val="DDE8F0"/>
                </a:solidFill>
                <a:latin typeface="Aptos"/>
              </a:rPr>
              <a:t>The whole plan is testable without privileged data; the USGS global geologic map and the IAU gazetteer are the references, and the 100 m floor is stated as a limit rather than worked around.</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TotalTime>
  <Words>1771</Words>
  <Application>Microsoft Office PowerPoint</Application>
  <PresentationFormat>Widescreen</PresentationFormat>
  <Paragraphs>223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Logan Edwards</dc:creator>
  <cp:lastModifiedBy>Logan Edwards</cp:lastModifiedBy>
  <cp:revision>284</cp:revision>
  <dcterms:created xsi:type="dcterms:W3CDTF">2026-09-10T23:25:57Z</dcterms:created>
  <dcterms:modified xsi:type="dcterms:W3CDTF">2026-09-17T21:25:06Z</dcterms:modified>
</cp:coreProperties>
</file>