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M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Final Presentation ·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The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Lava or water at Athabasca Valles?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800" b="0" i="0">
                <a:solidFill>
                  <a:srgbClr val="000000"/>
                </a:solidFill>
                <a:latin typeface="Aptos"/>
              </a:rPr>
              <a:t>Athabasca Valles was read as a water-carved outflow channel for decades, then reinterpreted as flood lava. Can a co-registered visible and thermal-infrared mosaic tell lava, water and impact landforms apart, and how far does the thermal infrared carry the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3175000"/>
            <a:ext cx="10541000" cy="33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 and HRSC/MOLA topography on a single grid over ±60° (86.6% of the surface)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the three landform families from it: lava flows, fluvial channels, impact craters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labels, the Robbins crater database, the USGS geologic map, calibrated TES thermal inertia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hook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5_athabasca_type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7224757" cy="419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9657" y="1778000"/>
            <a:ext cx="3036843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150–162°E, 4–14°N: unit lAv, Late Amazonian volcanic (outlined)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1,760 and 2,183 on the older units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calibrated inertia here (r −0.55); the diurnal-contrast index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9657" y="5638800"/>
            <a:ext cx="303684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§14.4, §42, §63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Building the mosaic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Four datasets, three coordinate frames, one grid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dust, dark basalt; not stretched by region, so regional differences are real.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12.57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temperature. Ground that is bright in visible stays cooler by day (r −0.49 at Ius).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12.57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band least like the others, |r| ≤ 0.12.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Separates materials inside one area; not thermal inertia, not comparable across the planet.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The three Viking bands behave as one (r 0.93–0.99); day IR adds a second dimension and night IR a third. That is the measured case for fusing them.   PROJECT-KNOWLEDGE.md §18.3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±60°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latitude: the THEMIS night mosaic's coverage, 86.6% of the surface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 (canyon and tributaries) and Athabasca Valles (flood lava)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the geologic map's volcanic units,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§16, §44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on a 180° meridian, Viking on 0°, the DEM in degrees: a window read at face value lands half a planet away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One grid read off the night mosaic: day and night are never resampled; the DEM sits on it to 10 µm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Composite Bands failed four times globally by 13 Sep; on bounded extents it took 8.8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§4, §8, §18, §28.1, §28.2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The thermal pair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What it can and cannot 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Across ±60° the THEMIS mosaics carry local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dusty from rocky provinces by 47.67 DN; THEMIS day and night by −0.19 and +0.02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province repeats the mosaic-wide mean and spread: 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diurnal-contrast index is not thermal inertia and is never compared across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§24.1,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TES inertia across the planet (r −0.31 dayside, −0.36 nightside)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index: a weak signal inside 15° blocks only (|r| ≈ 0.1); day IR none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material signal at 3 km is in visible 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Landforms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Craters, channels, lava flows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Basins ≥ 20 km: the large craters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090" y="1676400"/>
            <a:ext cx="8533820" cy="2921000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530" y="4724400"/>
            <a:ext cx="1684970" cy="1727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724400"/>
            <a:ext cx="8652830" cy="1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closed basins ≥ 20 km from fill depth in 48 s at 1.6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recovered; 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Breached craters are invisible by construction (Oudemans is the type 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§26.3, §28.11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against the Robbins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pressions_vs_robb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05" y="1676400"/>
            <a:ext cx="9443589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 from an 11-hour pass at 200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Precision 15.3% at ≥ 1 km, 62.2% at ≥ 5 km, 83.1% at ≥ 20 km; chance under 11%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Recall levels off near half: degraded and breached craters stay hidden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 density follows the DEM's sharpness (r −0.11 with Robbins): prompts, not an inventory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Channels: the Fill trap at Ius Chasma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us_channel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4748980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3880" y="1778000"/>
            <a:ext cx="5512620" cy="40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Fill raised the canyon floor up to 2,077 m into a synthetic lake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56.1% of the first network routed across ground that does not exist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500" b="0" i="0">
                <a:solidFill>
                  <a:srgbClr val="000000"/>
                </a:solidFill>
                <a:latin typeface="Aptos"/>
              </a:rPr>
              <a:t>A fill mask (fill − DEM ≤ 1 m) removes it; 188 of 2,610 candidates are steep and rock-floored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3880" y="6121400"/>
            <a:ext cx="55126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§25.1, §25.2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segments; 60.5% of stream cells discarded as fill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order follows the threshold, about one order per tenfold (T7): a setting, not a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§47.4, §53.6, §54.4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Lava flows: the classes against the geologic map (T8)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413" y="1676400"/>
            <a:ext cx="880717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'Lava tube' sits on volcano flanks and aprons (×3.30, ×4.29), not on volcanic plains (×0.84)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flows are therefore taken from the geologic map's volcanic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§43.3, §57.1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flow margins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905 profiles across 10 lAv contacts at Athabasca, each against a random-line null (10%)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separates 21.0%, Viking red 12.3%: a lean toward H1, interval −1.7 to +18.1 pt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needs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Scored on labels the model never saw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four-class landform map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blocks: 329 train, 183 held out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11 × 11 majority filter: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solid; lava tube is not a result (user's 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 each held-out class lands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ccuracy_200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676400"/>
            <a:ext cx="9207500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Smoothing raises every score because the labelled polygons are large; the window is set by feature size (~2 km), not by score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to 200 m bought no held-out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§32.2, §55.3, §57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 (T1)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pt at 200 m and +1.97 at 400 m, both intervals above 0 (numpy: +1.3)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the classes are landform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§40.1, §56, §56.1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box detector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held-out polygons found, 87.6% of boxes right (always Crater: 71.1%)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Hills and lava tube never named; retrained unfrozen for 30 epochs, Normal Ground recall fell to 4.5%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Pixel classifier on the same stack and labels, over all of ±60°; a second pass 128 px offset removes its tile seams (ratio 8.6–9.2 → 1.2)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 98.9%, κ 0.980; lava tube user's 77.1%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two maps under one scorer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vm_vs_u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05" y="1676400"/>
            <a:ext cx="9443589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U-Net agrees with the hand-drawn areas at province scale; the SVM separates craters from their surroundings slightly better (57 / 46% against 91 / 83%)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Elevation alone reproduces 68% of the U-Net map, 55% of the SVM map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Of the four-class maps the SVM is the landform map; the U-Net stands beside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§57, §66.7, §66.8, §66.9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Seven classes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The labels revised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Seven classes: the landform map revised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b_global60_landforms_v2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b_global60_landforms_v2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277" y="5411427"/>
            <a:ext cx="2012223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325577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 narrowed to impact craters; volcanic edifice, apron and fluvial channel added; 971 reviewed labels (734 train, 237 held out)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42.5%, κ 0.31 held out, against the four-class map's 35.7% on the same polygons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Edifice ×4.15 on edifice units, apron ×5.69 on apron units; fluvial channel over-predicted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§69.8, §69.24, §69.26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Seven classes from a U-Net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b_unet_v2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7364574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69474" y="1676400"/>
            <a:ext cx="2897026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 69.0%, κ 0.606, against the seven-class SVM's 42.5% and the four-class U-Net's 44.1%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new class above its share of the labels: user's edifice 0.487, apron 0.798, fluvial 0.702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Volcanic edifice spreads over 40.0% of ±60°; on the four original classes 61.9% against 98.9%</a:t>
            </a:r>
          </a:p>
        </p:txBody>
      </p:sp>
      <p:pic>
        <p:nvPicPr>
          <p:cNvPr id="6" name="Picture 5" descr="17b_unet_v2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474" y="4013200"/>
            <a:ext cx="1841038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69474" y="6121400"/>
            <a:ext cx="28970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§69.25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Seven classes lead, at a measured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vm_vs_une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05" y="1676400"/>
            <a:ext cx="9443589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rule set before the run would keep the four-class maps: on classes 1–4 the SVM scores 66.0% against 79.9%, and Crater loses 25.7 points of producer's accuracy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seven-class maps are presented all the same: they separate craters from volcanoes and name what four classes cannot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four-class maps stay beside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§68.4, §69.24–69.26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It Adds Up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The hypotheses, the limits, the answer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The Hypotheses and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7" cy="444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4819"/>
                <a:gridCol w="3418702"/>
                <a:gridCol w="5697837"/>
                <a:gridCol w="949639"/>
              </a:tblGrid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/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Claim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Verdict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H1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Day IR shows lava-flow margins that Viking misses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Not supported at 1:20 M: day IR 21.0%, Viking red 12.3%, chance 10%; the difference's interval includes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§47.2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H2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Fluvial and volcanic channels separate on gradient and thermal response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Not supported at stage 1: the volcanic window's channels are shallower (1.4 against 10.2 m/km); thermal AUC 0.50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§51.1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H3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The composite gives more stable classes than any single input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Not supported: the composites are the least reproducible inputs (ARI 0.40 against 0.61–0.89)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§47.3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H4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Crater rims from DN gradient recover the large IAU craters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Answered by another method: fill depth recovers 68% of 117 craters ≥ 100 km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T1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Thermal IR improves the landform classification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Yes, a little: +1.3 pt (numpy), +1.36 and +1.97 pt (Pro SVM), every interval above 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§40.1, §56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T3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The THEMIS pair tracks calibrated thermal inertia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Weakly and only locally (|r| ≈ 0.1 within 15° blocks); Viking albedo carries the regional signal (r −0.36)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 i="0">
                          <a:solidFill>
                            <a:srgbClr val="000000"/>
                          </a:solidFill>
                          <a:latin typeface="Aptos"/>
                        </a:rPr>
                        <a:t>§43.1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Limits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held THEMIS mosaics are 8-bit products stretched region by region: no calibrated thermal inertia, and against TES only |r| ≈ 0.1 inside 15° blocks. In the classification thermal adds 1.3–2.0 points (§24, §28.10, §43.1, §56).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'lava tube' marks volcano flanks, not lava plains (§40.1, §43.2).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seven classes cost the old ones: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Five four-class 'Crater' labels were volcanoes (Arsia Mons alone 31% of the held-out Crater area); the revision fixes that, but both seven-class maps fall below the four-class ones on the original classes and over-predict fluvial channel (SVM) or volcanic edifice (U-Net) (§68.2, §69.24, §69.25).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Below ~5 km most are not catalogued craters, and breached craters are invisible; Robbins is the crater reference (§26.3, §53.4).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Channels and orders are DEM-limited: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Fill floods closed basins; 89.8% of ±60° channels lie under 2°; the stream order is a setting (§25.1, §47.4, §54.4).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review has only begun: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549 of 9,287 candidates reviewed, all at Ius Chasma (precision 54% on steep channels, 7% on depressions); the digitising classes hold 94 channels, 26 crater rims and no lava margins, so H1 and H2 wait (§69.7).</a:t>
            </a:r>
          </a:p>
          <a:p>
            <a:pPr marL="200000" indent="-200000">
              <a:spcAft>
                <a:spcPts val="8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held-out blocks used twice: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Once by the four-class models and once by the seven-class ones; any further tuning needs validation blocks of its own (§66.5).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Four global products now share one co-registered grid over ±60°; the co-registration that failed four times works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Visible albedo, day IR and night IR are three nearly independent dimensions, but the THEMIS mosaics carry local contrast only, and calibrated inertia follows Viking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Craters ≥ 5 km are mostly recovered as closed depressions (62.2% precision); smaller ones and breached craters are not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The four-class landform map scores 73.8%, κ 0.58 on blocks it never saw; thermal adds a resolved 1.4–2.0 points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A U-Net reaches 98.9% as a four-class province map and 69.0% with seven classes, which name volcanoes, aprons and valleys; lava flows still come from the geologic map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What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33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Review the 9,287 machine candidates at Ius Chasma and Athabasca Valles; draw breached craters and lava margins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Retest H1 on margins digitised at 100 m and H2 on reviewed channels with their origin set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Seven classes: curb the over-prediction of fluvial channel and volcanic edifice, and win back Crater and hills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Material labels, not landform labels, to price the thermal bands; calibrated THEMIS products where they exist</a:t>
            </a:r>
          </a:p>
          <a:p>
            <a:pPr marL="200000" indent="-200000">
              <a:spcAft>
                <a:spcPts val="1400"/>
              </a:spcAft>
              <a:buFont typeface="Arial" pitchFamily="34" charset="0"/>
              <a:buChar char="•"/>
            </a:pPr>
            <a:r>
              <a:rPr sz="1700" b="0" i="0">
                <a:solidFill>
                  <a:srgbClr val="000000"/>
                </a:solidFill>
                <a:latin typeface="Aptos"/>
              </a:rPr>
              <a:t>Validation blocks of their own before any further deep-learning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5588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Every map, script and model: github.com/loggger101/Mars_Terrestrial_GlobalMosaic_GIS-Data, release data-2026-10-21 (CC BY 4.0 data, MIT scripts)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400" b="0" i="0">
                <a:solidFill>
                  <a:srgbClr val="FFFFFF"/>
                </a:solidFill>
                <a:latin typeface="Aptos Display"/>
              </a:rP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2794000"/>
            <a:ext cx="10541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800" b="0" i="0">
                <a:solidFill>
                  <a:srgbClr val="0E9ED4"/>
                </a:solidFill>
                <a:latin typeface="Aptos"/>
              </a:rPr>
              <a:t>Mars Global Mosaic: Mapping Lava Flows, Fluvial Channels, and Impact Craters in Visible and Infrared</a:t>
            </a:r>
          </a:p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Logan M Edwards · REMOTE SENSING 2026 OCN 4704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