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89200"/>
            <a:ext cx="121920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6000" b="0" i="0">
                <a:solidFill>
                  <a:srgbClr val="000000"/>
                </a:solidFill>
                <a:latin typeface="Aptos Display"/>
              </a:rPr>
              <a:t>Mars Global Mosaic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81400"/>
            <a:ext cx="1219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200" b="0" i="0">
                <a:solidFill>
                  <a:srgbClr val="000000"/>
                </a:solidFill>
                <a:latin typeface="Aptos"/>
              </a:rPr>
              <a:t>Mars Global Mosaic: Mapping Lava Flows, Fluvial Channels, and Impact Craters in Visible and Infrared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73500"/>
            <a:ext cx="1219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200" b="0" i="0">
                <a:solidFill>
                  <a:srgbClr val="000000"/>
                </a:solidFill>
                <a:latin typeface="Aptos"/>
              </a:rPr>
              <a:t>REMOTE SENSING 2026 OCN 4704 · Logan M Edwards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65600"/>
            <a:ext cx="1219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200" b="0" i="0">
                <a:solidFill>
                  <a:srgbClr val="000000"/>
                </a:solidFill>
                <a:latin typeface="Aptos"/>
              </a:rPr>
              <a:t>Final Presentation · 22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2489200"/>
            <a:ext cx="10541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400" b="0" i="0">
                <a:solidFill>
                  <a:srgbClr val="0E9ED4"/>
                </a:solidFill>
                <a:latin typeface="Apto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2870200"/>
            <a:ext cx="10541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4800" b="0" i="0">
                <a:solidFill>
                  <a:srgbClr val="FFFFFF"/>
                </a:solidFill>
                <a:latin typeface="Aptos Display"/>
              </a:rPr>
              <a:t>The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500" y="38100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500" y="4064000"/>
            <a:ext cx="812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400" b="0" i="0">
                <a:solidFill>
                  <a:srgbClr val="9ED8ED"/>
                </a:solidFill>
                <a:latin typeface="Aptos"/>
              </a:rPr>
              <a:t>Lava or water at Athabasca Valles?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400" b="0" i="0">
                <a:solidFill>
                  <a:srgbClr val="000000"/>
                </a:solidFill>
                <a:latin typeface="Aptos Display"/>
              </a:rPr>
              <a:t>The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5500" y="1676400"/>
            <a:ext cx="10541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800" b="0" i="0">
                <a:solidFill>
                  <a:srgbClr val="000000"/>
                </a:solidFill>
                <a:latin typeface="Aptos"/>
              </a:rPr>
              <a:t>Athabasca Valles was read as a water-carved outflow channel for decades, then reinterpreted as flood lava. Can a co-registered visible and thermal-infrared mosaic tell lava, water and impact landforms apart, and how far does the thermal infrared carry the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" y="3175000"/>
            <a:ext cx="10541000" cy="330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1000"/>
              </a:spcAft>
              <a:buFont typeface="Arial" pitchFamily="34" charset="0"/>
              <a:buChar char="•"/>
            </a:pPr>
            <a:r>
              <a:rPr sz="1600" b="0" i="0">
                <a:solidFill>
                  <a:srgbClr val="000000"/>
                </a:solidFill>
                <a:latin typeface="Aptos"/>
              </a:rPr>
              <a:t>One co-registered stack: Viking visible colour, THEMIS day and night infrared and HRSC/MOLA topography on a single grid over ±60° (86.6% of the surface)</a:t>
            </a:r>
          </a:p>
          <a:p>
            <a:pPr marL="200000" indent="-200000">
              <a:spcAft>
                <a:spcPts val="1000"/>
              </a:spcAft>
              <a:buFont typeface="Arial" pitchFamily="34" charset="0"/>
              <a:buChar char="•"/>
            </a:pPr>
            <a:r>
              <a:rPr sz="1600" b="0" i="0">
                <a:solidFill>
                  <a:srgbClr val="000000"/>
                </a:solidFill>
                <a:latin typeface="Aptos"/>
              </a:rPr>
              <a:t>Map the three landform families from it: lava flows, fluvial channels, impact craters</a:t>
            </a:r>
          </a:p>
          <a:p>
            <a:pPr marL="200000" indent="-200000">
              <a:spcAft>
                <a:spcPts val="1000"/>
              </a:spcAft>
              <a:buFont typeface="Arial" pitchFamily="34" charset="0"/>
              <a:buChar char="•"/>
            </a:pPr>
            <a:r>
              <a:rPr sz="1600" b="0" i="0">
                <a:solidFill>
                  <a:srgbClr val="000000"/>
                </a:solidFill>
                <a:latin typeface="Aptos"/>
              </a:rPr>
              <a:t>Test whether thermal infrared separates surfaces that visible light cannot</a:t>
            </a:r>
          </a:p>
          <a:p>
            <a:pPr marL="200000" indent="-200000">
              <a:spcAft>
                <a:spcPts val="1000"/>
              </a:spcAft>
              <a:buFont typeface="Arial" pitchFamily="34" charset="0"/>
              <a:buChar char="•"/>
            </a:pPr>
            <a:r>
              <a:rPr sz="1600" b="0" i="0">
                <a:solidFill>
                  <a:srgbClr val="000000"/>
                </a:solidFill>
                <a:latin typeface="Aptos"/>
              </a:rPr>
              <a:t>Score every product against something it never saw: held-out labels, the Robbins crater database, the USGS geologic map, calibrated TES thermal inertia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000" b="0" i="0">
                <a:solidFill>
                  <a:srgbClr val="000000"/>
                </a:solidFill>
                <a:latin typeface="Aptos Display"/>
              </a:rPr>
              <a:t>Athabasca Valles: the hook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5_athabasca_type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1676400"/>
            <a:ext cx="7224757" cy="419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9657" y="1778000"/>
            <a:ext cx="3036843" cy="40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12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150–162°E, 4–14°N: unit lAv, Late Amazonian volcanic (outlined)</a:t>
            </a:r>
          </a:p>
          <a:p>
            <a:pPr marL="200000" indent="-200000">
              <a:spcAft>
                <a:spcPts val="12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Catalogued craters: 1,122 per million km² on lAv, 1,760 and 2,183 on the older units</a:t>
            </a:r>
          </a:p>
          <a:p>
            <a:pPr marL="200000" indent="-200000">
              <a:spcAft>
                <a:spcPts val="12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Viking albedo tracks calibrated inertia here (r −0.55); the diurnal-contrast index does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9657" y="5638800"/>
            <a:ext cx="303684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555F66"/>
                </a:solidFill>
                <a:latin typeface="Aptos"/>
              </a:rPr>
              <a:t>PROJECT-KNOWLEDGE.md §14.4, §42, §63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2489200"/>
            <a:ext cx="10541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400" b="0" i="0">
                <a:solidFill>
                  <a:srgbClr val="0E9ED4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2870200"/>
            <a:ext cx="10541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4800" b="0" i="0">
                <a:solidFill>
                  <a:srgbClr val="FFFFFF"/>
                </a:solidFill>
                <a:latin typeface="Aptos Display"/>
              </a:rPr>
              <a:t>Building the mosaic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500" y="38100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500" y="4064000"/>
            <a:ext cx="812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400" b="0" i="0">
                <a:solidFill>
                  <a:srgbClr val="9ED8ED"/>
                </a:solidFill>
                <a:latin typeface="Aptos"/>
              </a:rPr>
              <a:t>Four datasets, three coordinate frames, one grid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400" b="0" i="0">
                <a:solidFill>
                  <a:srgbClr val="000000"/>
                </a:solidFill>
                <a:latin typeface="Aptos Display"/>
              </a:rPr>
              <a:t>Relevant Spectral Bands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5500" y="1676400"/>
          <a:ext cx="10540998" cy="3048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4171"/>
                <a:gridCol w="1804315"/>
                <a:gridCol w="664747"/>
                <a:gridCol w="5887765"/>
              </a:tblGrid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Band or product</a:t>
                      </a:r>
                    </a:p>
                  </a:txBody>
                  <a:tcPr marL="76200" marR="76200" marT="38100" marB="381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Wavelength</a:t>
                      </a:r>
                    </a:p>
                  </a:txBody>
                  <a:tcPr marL="76200" marR="76200" marT="38100" marB="381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Cell</a:t>
                      </a:r>
                    </a:p>
                  </a:txBody>
                  <a:tcPr marL="76200" marR="76200" marT="38100" marB="381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What it contributes</a:t>
                      </a:r>
                    </a:p>
                  </a:txBody>
                  <a:tcPr marL="76200" marR="76200" marT="38100" marB="38100" anchor="ctr">
                    <a:solidFill>
                      <a:srgbClr val="0E284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Viking MDIM 2.1 R, G, B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visible, ~0.4–0.7 µm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232 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Albedo: bright dust against dark basalt. Keeps real regional differences (§28.10).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THEMIS Day IR (v12)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thermal IR, 6.8–14.9 µm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100 m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Daytime temperature: bright in visible = cool by day (r −0.49 at Ius, §18.3).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THEMIS Night IR (v14, ±60°)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thermal IR, 6.8–14.9 µm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100 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Night temperature: rock holds heat. The most independent band, |r| ≤ 0.12 (§18.3).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HRSC/MOLA blended DEM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altimetry + stereo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200 m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Slope in degrees, local relief, hillshade, flow routing, closed-depression depth (§20).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Diurnal contrast index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day − night, relative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100 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ptos"/>
                        </a:rPr>
                        <a:t>A local material discriminator inside one area; not thermal inertia, not planet-wide (§24, §28.10).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400" b="0" i="0">
                <a:solidFill>
                  <a:srgbClr val="000000"/>
                </a:solidFill>
                <a:latin typeface="Aptos Display"/>
              </a:rPr>
              <a:t>Why Fuse Them: Three Independent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5500" y="1676400"/>
          <a:ext cx="10540998" cy="2590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55393"/>
                <a:gridCol w="1597121"/>
                <a:gridCol w="1597121"/>
                <a:gridCol w="1597121"/>
                <a:gridCol w="1597121"/>
                <a:gridCol w="1597121"/>
              </a:tblGrid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Ius Chasma, r</a:t>
                      </a:r>
                    </a:p>
                  </a:txBody>
                  <a:tcPr marL="76200" marR="76200" marT="38100" marB="381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Viking R</a:t>
                      </a:r>
                    </a:p>
                  </a:txBody>
                  <a:tcPr marL="76200" marR="76200" marT="38100" marB="381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Viking G</a:t>
                      </a:r>
                    </a:p>
                  </a:txBody>
                  <a:tcPr marL="76200" marR="76200" marT="38100" marB="381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Viking B</a:t>
                      </a:r>
                    </a:p>
                  </a:txBody>
                  <a:tcPr marL="76200" marR="76200" marT="38100" marB="381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Day IR</a:t>
                      </a:r>
                    </a:p>
                  </a:txBody>
                  <a:tcPr marL="76200" marR="76200" marT="38100" marB="381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ptos"/>
                        </a:rPr>
                        <a:t>Night IR</a:t>
                      </a:r>
                    </a:p>
                  </a:txBody>
                  <a:tcPr marL="76200" marR="76200" marT="38100" marB="38100" anchor="ctr">
                    <a:solidFill>
                      <a:srgbClr val="0E284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Viking 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+0.960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+0.925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−0.486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E9ED4"/>
                          </a:solidFill>
                          <a:latin typeface="Aptos"/>
                        </a:rPr>
                        <a:t>−0.121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Viking G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+0.960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+0.993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−0.496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E9ED4"/>
                          </a:solidFill>
                          <a:latin typeface="Aptos"/>
                        </a:rPr>
                        <a:t>−0.085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Viking B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+0.925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+0.993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−0.488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E9ED4"/>
                          </a:solidFill>
                          <a:latin typeface="Aptos"/>
                        </a:rPr>
                        <a:t>−0.068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Day IR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−0.486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−0.496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−0.488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E9ED4"/>
                          </a:solidFill>
                          <a:latin typeface="Aptos"/>
                        </a:rPr>
                        <a:t>+0.105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Night IR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E9ED4"/>
                          </a:solidFill>
                          <a:latin typeface="Aptos"/>
                        </a:rPr>
                        <a:t>−0.121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E9ED4"/>
                          </a:solidFill>
                          <a:latin typeface="Aptos"/>
                        </a:rPr>
                        <a:t>−0.085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E9ED4"/>
                          </a:solidFill>
                          <a:latin typeface="Aptos"/>
                        </a:rPr>
                        <a:t>−0.068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E9ED4"/>
                          </a:solidFill>
                          <a:latin typeface="Aptos"/>
                        </a:rPr>
                        <a:t>+0.105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5500" y="4572000"/>
            <a:ext cx="1054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300" b="0" i="1">
                <a:solidFill>
                  <a:srgbClr val="555F66"/>
                </a:solidFill>
                <a:latin typeface="Aptos"/>
              </a:rPr>
              <a:t>Three visible bands are one dimension (r 0.93–0.99); day IR adds a second, night IR a third. Effective dimensionality ≈ 3: the measured case for fusing them.   PROJECT-KNOWLEDGE.md §18.3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000" b="0" i="0">
                <a:solidFill>
                  <a:srgbClr val="000000"/>
                </a:solidFill>
                <a:latin typeface="Aptos Display"/>
              </a:rPr>
              <a:t>Where: the ±60° extent and the two type areas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_global60_locator_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1676400"/>
            <a:ext cx="10541000" cy="3608027"/>
          </a:xfrm>
          <a:prstGeom prst="rect">
            <a:avLst/>
          </a:prstGeom>
        </p:spPr>
      </p:pic>
      <p:pic>
        <p:nvPicPr>
          <p:cNvPr id="5" name="Picture 4" descr="10_global60_locator__leg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9975" y="5411427"/>
            <a:ext cx="2116525" cy="10401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5500" y="5411427"/>
            <a:ext cx="8221275" cy="10401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±60° latitude: the THEMIS night mosaic's coverage, 86.6% of the surface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Ius Chasma (canyon and tributaries) and Athabasca Valles (flood lava)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Orange: the geologic map's volcanic units, the lava-flow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6553200"/>
            <a:ext cx="1054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555F66"/>
                </a:solidFill>
                <a:latin typeface="Aptos"/>
              </a:rPr>
              <a:t>PROJECT-KNOWLEDGE.md §14.3, §16, §44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000" b="0" i="0">
                <a:solidFill>
                  <a:srgbClr val="000000"/>
                </a:solidFill>
                <a:latin typeface="Aptos Display"/>
              </a:rPr>
              <a:t>The mosaic at ±60°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global60_mosa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112" y="1676400"/>
            <a:ext cx="8189776" cy="368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5500" y="5486400"/>
            <a:ext cx="1054100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THEMIS on a 180° meridian, Viking on 0°, the DEM in degrees: a window read at face value lands half a planet away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One grid read off the night mosaic: day and night are never resampled; the DEM sits on it to 10 µm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Composite Bands failed four times globally by 13 Sep; on bounded extents it took 8.8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6553200"/>
            <a:ext cx="1054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555F66"/>
                </a:solidFill>
                <a:latin typeface="Aptos"/>
              </a:rPr>
              <a:t>PROJECT-KNOWLEDGE.md §4, §8, §18, §28.1, §28.2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2489200"/>
            <a:ext cx="10541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400" b="0" i="0">
                <a:solidFill>
                  <a:srgbClr val="0E9ED4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2870200"/>
            <a:ext cx="10541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4800" b="0" i="0">
                <a:solidFill>
                  <a:srgbClr val="FFFFFF"/>
                </a:solidFill>
                <a:latin typeface="Aptos Display"/>
              </a:rPr>
              <a:t>The thermal pair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500" y="38100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500" y="4064000"/>
            <a:ext cx="812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400" b="0" i="0">
                <a:solidFill>
                  <a:srgbClr val="9ED8ED"/>
                </a:solidFill>
                <a:latin typeface="Aptos"/>
              </a:rPr>
              <a:t>What it can and cannot 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000" b="0" i="0">
                <a:solidFill>
                  <a:srgbClr val="000000"/>
                </a:solidFill>
                <a:latin typeface="Aptos Display"/>
              </a:rPr>
              <a:t>Across ±60° the THEMIS mosaics carry local contrast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bal60_the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112" y="1676400"/>
            <a:ext cx="8643775" cy="368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5500" y="5486400"/>
            <a:ext cx="1054100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Viking red separates dusty from rocky provinces by 47.67 DN; THEMIS day and night by −0.19 and +0.02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Every province repeats the mosaic-wide mean and spread: stretched region by region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So the diurnal-contrast index is not thermal inertia and is never compared across the planet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6553200"/>
            <a:ext cx="1054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555F66"/>
                </a:solidFill>
                <a:latin typeface="Aptos"/>
              </a:rPr>
              <a:t>PROJECT-KNOWLEDGE.md §24.1, §28.10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000" b="0" i="0">
                <a:solidFill>
                  <a:srgbClr val="000000"/>
                </a:solidFill>
                <a:latin typeface="Aptos Display"/>
              </a:rPr>
              <a:t>Checked against calibrated thermal inertia (TES)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s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773" y="1676400"/>
            <a:ext cx="8370454" cy="368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5500" y="5486400"/>
            <a:ext cx="1054100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Viking albedo tracks TES inertia across the planet (r −0.31 dayside, −0.36 nightside)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Night IR and the index: a weak signal inside 15° blocks only (|r| ≈ 0.1); day IR none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The material signal at 3 km is in visible albedo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6553200"/>
            <a:ext cx="1054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555F66"/>
                </a:solidFill>
                <a:latin typeface="Aptos"/>
              </a:rPr>
              <a:t>PROJECT-KNOWLEDGE.md §41, §42.4, §43.1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2489200"/>
            <a:ext cx="10541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400" b="0" i="0">
                <a:solidFill>
                  <a:srgbClr val="0E9ED4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2870200"/>
            <a:ext cx="10541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4800" b="0" i="0">
                <a:solidFill>
                  <a:srgbClr val="FFFFFF"/>
                </a:solidFill>
                <a:latin typeface="Aptos Display"/>
              </a:rPr>
              <a:t>Landforms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500" y="38100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500" y="4064000"/>
            <a:ext cx="812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400" b="0" i="0">
                <a:solidFill>
                  <a:srgbClr val="9ED8ED"/>
                </a:solidFill>
                <a:latin typeface="Aptos"/>
              </a:rPr>
              <a:t>Craters, channels, lava flows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000" b="0" i="0">
                <a:solidFill>
                  <a:srgbClr val="000000"/>
                </a:solidFill>
                <a:latin typeface="Aptos Display"/>
              </a:rPr>
              <a:t>Basins ≥ 20 km: the large craters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_global60_basins_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090" y="1676400"/>
            <a:ext cx="8533820" cy="2921000"/>
          </a:xfrm>
          <a:prstGeom prst="rect">
            <a:avLst/>
          </a:prstGeom>
        </p:spPr>
      </p:pic>
      <p:pic>
        <p:nvPicPr>
          <p:cNvPr id="5" name="Picture 4" descr="07_global60_basins__leg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530" y="4724400"/>
            <a:ext cx="1684970" cy="1727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5500" y="4724400"/>
            <a:ext cx="8652830" cy="172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5,144 closed basins ≥ 20 km from fill depth in 48 s at 1.6 km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68% of 117 IAU craters ≥ 100 km recovered; diameter error median +2.2%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Breached craters are invisible by construction (Oudemans is the type case)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6553200"/>
            <a:ext cx="1054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555F66"/>
                </a:solidFill>
                <a:latin typeface="Aptos"/>
              </a:rPr>
              <a:t>PROJECT-KNOWLEDGE.md §26.3, §28.11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000" b="0" i="0">
                <a:solidFill>
                  <a:srgbClr val="000000"/>
                </a:solidFill>
                <a:latin typeface="Aptos Display"/>
              </a:rPr>
              <a:t>Closed depressions ≥ 1 km against the Robbins database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pressions_vs_robb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205" y="1676400"/>
            <a:ext cx="9443589" cy="368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5500" y="5486400"/>
            <a:ext cx="1054100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465,354 closed depressions ≥ 1 km from an 11-hour pass at 200 m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Precision 15.3% at ≥ 1 km, 62.2% at ≥ 5 km, 83.1% at ≥ 20 km; chance under 11%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Recall levels off near half: degraded and breached craters stay hidden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Below ~5 km the density follows the DEM's sharpness (r −0.11 with Robbins): prompts, not an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6553200"/>
            <a:ext cx="1054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555F66"/>
                </a:solidFill>
                <a:latin typeface="Aptos"/>
              </a:rPr>
              <a:t>PROJECT-KNOWLEDGE.md §53.4, §53.6, §54.4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000" b="0" i="0">
                <a:solidFill>
                  <a:srgbClr val="000000"/>
                </a:solidFill>
                <a:latin typeface="Aptos Display"/>
              </a:rPr>
              <a:t>Channels: the Fill trap at Ius Chasma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us_channel_candi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1676400"/>
            <a:ext cx="4748980" cy="467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3880" y="1778000"/>
            <a:ext cx="5512620" cy="40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1200"/>
              </a:spcAft>
              <a:buFont typeface="Arial" pitchFamily="34" charset="0"/>
              <a:buChar char="•"/>
            </a:pPr>
            <a:r>
              <a:rPr sz="1500" b="0" i="0">
                <a:solidFill>
                  <a:srgbClr val="000000"/>
                </a:solidFill>
                <a:latin typeface="Aptos"/>
              </a:rPr>
              <a:t>Fill raised the canyon floor up to 2,077 m into a synthetic lake</a:t>
            </a:r>
          </a:p>
          <a:p>
            <a:pPr marL="200000" indent="-200000">
              <a:spcAft>
                <a:spcPts val="1200"/>
              </a:spcAft>
              <a:buFont typeface="Arial" pitchFamily="34" charset="0"/>
              <a:buChar char="•"/>
            </a:pPr>
            <a:r>
              <a:rPr sz="1500" b="0" i="0">
                <a:solidFill>
                  <a:srgbClr val="000000"/>
                </a:solidFill>
                <a:latin typeface="Aptos"/>
              </a:rPr>
              <a:t>56.1% of the first network routed across ground that does not exist</a:t>
            </a:r>
          </a:p>
          <a:p>
            <a:pPr marL="200000" indent="-200000">
              <a:spcAft>
                <a:spcPts val="1200"/>
              </a:spcAft>
              <a:buFont typeface="Arial" pitchFamily="34" charset="0"/>
              <a:buChar char="•"/>
            </a:pPr>
            <a:r>
              <a:rPr sz="1500" b="0" i="0">
                <a:solidFill>
                  <a:srgbClr val="000000"/>
                </a:solidFill>
                <a:latin typeface="Aptos"/>
              </a:rPr>
              <a:t>A fill mask (fill − DEM ≤ 1 m) removes it; 188 of 2,610 candidates are steep and rock-floored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3880" y="6121400"/>
            <a:ext cx="55126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555F66"/>
                </a:solidFill>
                <a:latin typeface="Aptos"/>
              </a:rPr>
              <a:t>PROJECT-KNOWLEDGE.md §25.1, §25.2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000" b="0" i="0">
                <a:solidFill>
                  <a:srgbClr val="000000"/>
                </a:solidFill>
                <a:latin typeface="Aptos Display"/>
              </a:rPr>
              <a:t>Channels across ±60°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_global60_channels_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1676400"/>
            <a:ext cx="10541000" cy="3608027"/>
          </a:xfrm>
          <a:prstGeom prst="rect">
            <a:avLst/>
          </a:prstGeom>
        </p:spPr>
      </p:pic>
      <p:pic>
        <p:nvPicPr>
          <p:cNvPr id="5" name="Picture 4" descr="12_global60_channels__leg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0" y="5411427"/>
            <a:ext cx="3810000" cy="354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5500" y="5411427"/>
            <a:ext cx="6527800" cy="10401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969,822 routed segments; 60.5% of stream cells discarded as fill artefact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89.8% lie on ground under 2°: plateau channels are DEM noise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Channel order follows the threshold, about one order per tenfold (T7): a setting, not a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6553200"/>
            <a:ext cx="1054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555F66"/>
                </a:solidFill>
                <a:latin typeface="Aptos"/>
              </a:rPr>
              <a:t>PROJECT-KNOWLEDGE.md §47.4, §53.6, §54.4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000" b="0" i="0">
                <a:solidFill>
                  <a:srgbClr val="000000"/>
                </a:solidFill>
                <a:latin typeface="Aptos Display"/>
              </a:rPr>
              <a:t>Lava flows: the classes against the geologic map (T8)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8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819" y="1676400"/>
            <a:ext cx="8826361" cy="368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5500" y="5486400"/>
            <a:ext cx="1054100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'Lava tube' sits on volcano flanks and aprons (×3.30, ×4.29), not on volcanic plains (×0.84)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76% of the volcanic plains come out Normal Ground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Lava flows are therefore taken from the geologic map's volcanic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6553200"/>
            <a:ext cx="1054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555F66"/>
                </a:solidFill>
                <a:latin typeface="Aptos"/>
              </a:rPr>
              <a:t>PROJECT-KNOWLEDGE.md §43.2, §43.3, §57.1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000" b="0" i="0">
                <a:solidFill>
                  <a:srgbClr val="000000"/>
                </a:solidFill>
                <a:latin typeface="Aptos Display"/>
              </a:rPr>
              <a:t>Do the infrared mosaics show flow margins Viking misses? (H1)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5_marg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773" y="1676400"/>
            <a:ext cx="8370454" cy="368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5500" y="5486400"/>
            <a:ext cx="1054100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905 profiles across 10 lAv contacts at Athabasca, each against a random-line null (10%)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Day IR separates 21.0%, Viking red 12.3%: a lean toward H1, interval −1.7 to +18.1 pt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A 1:20 M map's contacts are kilometres wide: H1 needs margins digitised at 100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6553200"/>
            <a:ext cx="1054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555F66"/>
                </a:solidFill>
                <a:latin typeface="Aptos"/>
              </a:rPr>
              <a:t>PROJECT-KNOWLEDGE.md §47.2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2489200"/>
            <a:ext cx="10541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400" b="0" i="0">
                <a:solidFill>
                  <a:srgbClr val="0E9ED4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2870200"/>
            <a:ext cx="10541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4800" b="0" i="0">
                <a:solidFill>
                  <a:srgbClr val="FFFFFF"/>
                </a:solidFill>
                <a:latin typeface="Aptos Display"/>
              </a:rPr>
              <a:t>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500" y="38100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500" y="4064000"/>
            <a:ext cx="812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400" b="0" i="0">
                <a:solidFill>
                  <a:srgbClr val="9ED8ED"/>
                </a:solidFill>
                <a:latin typeface="Aptos"/>
              </a:rPr>
              <a:t>Scored on labels the model never saw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000" b="0" i="0">
                <a:solidFill>
                  <a:srgbClr val="000000"/>
                </a:solidFill>
                <a:latin typeface="Aptos Display"/>
              </a:rPr>
              <a:t>The published landform map at ±60°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global60_landforms_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1676400"/>
            <a:ext cx="10541000" cy="3608027"/>
          </a:xfrm>
          <a:prstGeom prst="rect">
            <a:avLst/>
          </a:prstGeom>
        </p:spPr>
      </p:pic>
      <p:pic>
        <p:nvPicPr>
          <p:cNvPr id="5" name="Picture 4" descr="04_global60_landforms__leg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609" y="5411427"/>
            <a:ext cx="2364891" cy="10401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5500" y="5411427"/>
            <a:ext cx="7972909" cy="10401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SVM on 512 hand-drawn polygons, split by whole 15° blocks: 329 train, 183 held out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200 m, 11 × 11 majority filter: 73.8%, κ 0.58 held out (one class everywhere: 58.6%)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Normal Ground and cratered terrain solid; lava tube is not a result (user's 2%)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6553200"/>
            <a:ext cx="1054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555F66"/>
                </a:solidFill>
                <a:latin typeface="Aptos"/>
              </a:rPr>
              <a:t>PROJECT-KNOWLEDGE.md §31.3, §55.3, §57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000" b="0" i="0">
                <a:solidFill>
                  <a:srgbClr val="000000"/>
                </a:solidFill>
                <a:latin typeface="Aptos Display"/>
              </a:rPr>
              <a:t>Where each held-out class lands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curacy_200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250" y="1676400"/>
            <a:ext cx="9207500" cy="368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5500" y="5486400"/>
            <a:ext cx="1054100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Smoothing raises every score because the labelled polygons are large; the window is set by feature size (~2 km), not by score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Halving the cell to 200 m bought no held-out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6553200"/>
            <a:ext cx="1054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555F66"/>
                </a:solidFill>
                <a:latin typeface="Aptos"/>
              </a:rPr>
              <a:t>PROJECT-KNOWLEDGE.md §32.2, §55.3, §57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000" b="0" i="0">
                <a:solidFill>
                  <a:srgbClr val="000000"/>
                </a:solidFill>
                <a:latin typeface="Aptos Display"/>
              </a:rPr>
              <a:t>Does thermal infrared improve the classification? (T1)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1_p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476" y="1676400"/>
            <a:ext cx="8769047" cy="368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5500" y="5486400"/>
            <a:ext cx="1054100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Thermal adds +1.36 pt at 200 m and +1.97 at 400 m, both intervals above 0 (numpy: +1.3)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It helps craters and hills and hurts lava tube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Terrain alone ties the score but makes a poor crater map: the classes are landform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6553200"/>
            <a:ext cx="1054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555F66"/>
                </a:solidFill>
                <a:latin typeface="Aptos"/>
              </a:rPr>
              <a:t>PROJECT-KNOWLEDGE.md §40.1, §56, §56.1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000" b="0" i="0">
                <a:solidFill>
                  <a:srgbClr val="000000"/>
                </a:solidFill>
                <a:latin typeface="Aptos Display"/>
              </a:rPr>
              <a:t>Deep learning, 1: a box detector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6_x5_detections_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1676400"/>
            <a:ext cx="5609817" cy="467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14717" y="1676400"/>
            <a:ext cx="4651783" cy="223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6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RetinaNet on the 7-band stack, trained on the training blocks only</a:t>
            </a:r>
          </a:p>
          <a:p>
            <a:pPr marL="200000" indent="-200000">
              <a:spcAft>
                <a:spcPts val="6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Crater: 41.9% of held-out polygons found, 87.6% of boxes right (always Crater: 71.1%)</a:t>
            </a:r>
          </a:p>
          <a:p>
            <a:pPr marL="200000" indent="-200000">
              <a:spcAft>
                <a:spcPts val="6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Hills and lava tube never named; retrained unfrozen for 30 epochs, Normal Ground recall fell to 4.5%</a:t>
            </a:r>
          </a:p>
        </p:txBody>
      </p:sp>
      <p:pic>
        <p:nvPicPr>
          <p:cNvPr id="6" name="Picture 5" descr="16_x5_detections__leg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717" y="4013200"/>
            <a:ext cx="1837525" cy="20573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14717" y="6121400"/>
            <a:ext cx="465178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555F66"/>
                </a:solidFill>
                <a:latin typeface="Aptos"/>
              </a:rPr>
              <a:t>PROJECT-KNOWLEDGE.md §66.1, §66.2, §66.5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000" b="0" i="0">
                <a:solidFill>
                  <a:srgbClr val="000000"/>
                </a:solidFill>
                <a:latin typeface="Aptos Display"/>
              </a:rPr>
              <a:t>Deep learning, 2: a U-Net maps terrain provinces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7_x5c_unet_provinces_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1676400"/>
            <a:ext cx="5609817" cy="467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14717" y="1676400"/>
            <a:ext cx="4651783" cy="223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6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Pixel classifier on the same stack and labels, over all of ±60°; a second pass 128 px offset removes its tile seams (ratio 8.6–9.2 → 1.2)</a:t>
            </a:r>
          </a:p>
          <a:p>
            <a:pPr marL="200000" indent="-200000">
              <a:spcAft>
                <a:spcPts val="6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Held out 98.9%, κ 0.980; lava tube user's 77.1% against 2.4%</a:t>
            </a:r>
          </a:p>
          <a:p>
            <a:pPr marL="200000" indent="-200000">
              <a:spcAft>
                <a:spcPts val="6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Provinces, not features: 'Crater' covers 82.6% of the ring round named craters</a:t>
            </a:r>
          </a:p>
        </p:txBody>
      </p:sp>
      <p:pic>
        <p:nvPicPr>
          <p:cNvPr id="6" name="Picture 5" descr="17_x5c_unet_provinces__leg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717" y="4013200"/>
            <a:ext cx="1564783" cy="20573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14717" y="6121400"/>
            <a:ext cx="465178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555F66"/>
                </a:solidFill>
                <a:latin typeface="Aptos"/>
              </a:rPr>
              <a:t>PROJECT-KNOWLEDGE.md §66.6–66.9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000" b="0" i="0">
                <a:solidFill>
                  <a:srgbClr val="000000"/>
                </a:solidFill>
                <a:latin typeface="Aptos Display"/>
              </a:rPr>
              <a:t>The two maps under one scorer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vm_vs_u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205" y="1676400"/>
            <a:ext cx="9443589" cy="368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5500" y="5486400"/>
            <a:ext cx="1054100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The U-Net agrees with the hand-drawn areas at province scale; the SVM separates craters from their surroundings slightly better (57 / 46% against 91 / 83%)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Elevation alone reproduces 68% of the U-Net map, 55% of the SVM map</a:t>
            </a:r>
          </a:p>
          <a:p>
            <a:pPr marL="200000" indent="-200000">
              <a:spcAft>
                <a:spcPts val="400"/>
              </a:spcAft>
              <a:buFont typeface="Arial" pitchFamily="34" charset="0"/>
              <a:buChar char="•"/>
            </a:pPr>
            <a:r>
              <a:rPr sz="1400" b="0" i="0">
                <a:solidFill>
                  <a:srgbClr val="000000"/>
                </a:solidFill>
                <a:latin typeface="Aptos"/>
              </a:rPr>
              <a:t>The SVM map stays the published landform map; the U-Net map stands beside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6553200"/>
            <a:ext cx="1054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555F66"/>
                </a:solidFill>
                <a:latin typeface="Aptos"/>
              </a:rPr>
              <a:t>PROJECT-KNOWLEDGE.md §57, §66.7, §66.8, §66.9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2489200"/>
            <a:ext cx="10541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400" b="0" i="0">
                <a:solidFill>
                  <a:srgbClr val="0E9ED4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2870200"/>
            <a:ext cx="10541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4800" b="0" i="0">
                <a:solidFill>
                  <a:srgbClr val="FFFFFF"/>
                </a:solidFill>
                <a:latin typeface="Aptos Display"/>
              </a:rPr>
              <a:t>What It Adds Up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500" y="38100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500" y="4064000"/>
            <a:ext cx="812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400" b="0" i="0">
                <a:solidFill>
                  <a:srgbClr val="9ED8ED"/>
                </a:solidFill>
                <a:latin typeface="Aptos"/>
              </a:rPr>
              <a:t>The hypotheses, the limits, the answer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400" b="0" i="0">
                <a:solidFill>
                  <a:srgbClr val="000000"/>
                </a:solidFill>
                <a:latin typeface="Aptos Display"/>
              </a:rPr>
              <a:t>The Hypotheses and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5500" y="1676400"/>
          <a:ext cx="10540997" cy="444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74819"/>
                <a:gridCol w="3418702"/>
                <a:gridCol w="5697837"/>
                <a:gridCol w="949639"/>
              </a:tblGrid>
              <a:tr h="635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Claim</a:t>
                      </a:r>
                    </a:p>
                  </a:txBody>
                  <a:tcPr marL="76200" marR="76200" marT="38100" marB="381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Verdict</a:t>
                      </a:r>
                    </a:p>
                  </a:txBody>
                  <a:tcPr marL="76200" marR="76200" marT="38100" marB="381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ptos"/>
                        </a:rPr>
                        <a:t>KB</a:t>
                      </a:r>
                    </a:p>
                  </a:txBody>
                  <a:tcPr marL="76200" marR="76200" marT="38100" marB="38100" anchor="ctr">
                    <a:solidFill>
                      <a:srgbClr val="0E2841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H1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Day IR shows lava-flow margins that Viking misses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Not supported at 1:20 M: day IR 21.0%, Viking red 12.3%, chance 10%; the difference's interval includes 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§47.2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H2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Fluvial and volcanic channels separate on gradient and thermal response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Not supported at stage 1: the volcanic window's channels are shallower (1.4 against 10.2 m/km); thermal AUC 0.50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§51.1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H3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The composite gives more stable classes than any single input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Not supported: the composites are the least reproducible inputs (ARI 0.40 against 0.61–0.89)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§47.3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H4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Crater rims from DN gradient recover the large IAU craters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Answered by another method: fill depth recovers 68% of 117 craters ≥ 100 km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§28.11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T1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Thermal IR improves the landform classification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Yes, a little: +1.3 pt (numpy), +1.36 and +1.97 pt (Pro SVM), every interval above 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§40.1, §56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T3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The THEMIS pair tracks calibrated thermal inertia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Weakly and only locally (|r| ≈ 0.1 within 15° blocks); Viking albedo carries the regional signal (r −0.36)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Aptos"/>
                        </a:rPr>
                        <a:t>§43.1</a:t>
                      </a:r>
                    </a:p>
                  </a:txBody>
                  <a:tcPr marL="76200" marR="76200" marT="25400" marB="25400" anchor="ctr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400" b="0" i="0">
                <a:solidFill>
                  <a:srgbClr val="000000"/>
                </a:solidFill>
                <a:latin typeface="Aptos Display"/>
              </a:rPr>
              <a:t>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5500" y="1676400"/>
            <a:ext cx="10541000" cy="482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800"/>
              </a:spcAft>
              <a:buFont typeface="Arial" pitchFamily="34" charset="0"/>
              <a:buChar char="•"/>
            </a:pPr>
            <a:r>
              <a:rPr sz="1400" b="1" i="0">
                <a:solidFill>
                  <a:srgbClr val="0E2841"/>
                </a:solidFill>
                <a:latin typeface="Aptos"/>
              </a:rPr>
              <a:t>The thermal signal is weak where it can be checked: </a:t>
            </a:r>
            <a:r>
              <a:rPr sz="1400" b="0" i="0">
                <a:solidFill>
                  <a:srgbClr val="000000"/>
                </a:solidFill>
                <a:latin typeface="Aptos"/>
              </a:rPr>
              <a:t>The held THEMIS mosaics are 8-bit products stretched region by region: no calibrated thermal inertia, and against TES only |r| ≈ 0.1 inside 15° blocks. In the classification thermal adds 1.3–2.0 points (§24, §28.10, §43.1, §56).</a:t>
            </a:r>
          </a:p>
          <a:p>
            <a:pPr marL="200000" indent="-200000">
              <a:spcAft>
                <a:spcPts val="800"/>
              </a:spcAft>
              <a:buFont typeface="Arial" pitchFamily="34" charset="0"/>
              <a:buChar char="•"/>
            </a:pPr>
            <a:r>
              <a:rPr sz="1400" b="1" i="0">
                <a:solidFill>
                  <a:srgbClr val="0E2841"/>
                </a:solidFill>
                <a:latin typeface="Aptos"/>
              </a:rPr>
              <a:t>The landform classes are terrain classes: </a:t>
            </a:r>
            <a:r>
              <a:rPr sz="1400" b="0" i="0">
                <a:solidFill>
                  <a:srgbClr val="000000"/>
                </a:solidFill>
                <a:latin typeface="Aptos"/>
              </a:rPr>
              <a:t>Slope and relief alone match all seven bands; 'lava tube' marks volcano flanks, not lava plains (§40.1, §43.2).</a:t>
            </a:r>
          </a:p>
          <a:p>
            <a:pPr marL="200000" indent="-200000">
              <a:spcAft>
                <a:spcPts val="800"/>
              </a:spcAft>
              <a:buFont typeface="Arial" pitchFamily="34" charset="0"/>
              <a:buChar char="•"/>
            </a:pPr>
            <a:r>
              <a:rPr sz="1400" b="1" i="0">
                <a:solidFill>
                  <a:srgbClr val="0E2841"/>
                </a:solidFill>
                <a:latin typeface="Aptos"/>
              </a:rPr>
              <a:t>Five 'Crater' labels are volcanoes: </a:t>
            </a:r>
            <a:r>
              <a:rPr sz="1400" b="0" i="0">
                <a:solidFill>
                  <a:srgbClr val="000000"/>
                </a:solidFill>
                <a:latin typeface="Aptos"/>
              </a:rPr>
              <a:t>Arsia Mons alone is 31% of the held-out Crater area; one held-out label overlaps a training one by 51.5 km² (§68.2).</a:t>
            </a:r>
          </a:p>
          <a:p>
            <a:pPr marL="200000" indent="-200000">
              <a:spcAft>
                <a:spcPts val="800"/>
              </a:spcAft>
              <a:buFont typeface="Arial" pitchFamily="34" charset="0"/>
              <a:buChar char="•"/>
            </a:pPr>
            <a:r>
              <a:rPr sz="1400" b="1" i="0">
                <a:solidFill>
                  <a:srgbClr val="0E2841"/>
                </a:solidFill>
                <a:latin typeface="Aptos"/>
              </a:rPr>
              <a:t>Closed depressions are not a crater count: </a:t>
            </a:r>
            <a:r>
              <a:rPr sz="1400" b="0" i="0">
                <a:solidFill>
                  <a:srgbClr val="000000"/>
                </a:solidFill>
                <a:latin typeface="Aptos"/>
              </a:rPr>
              <a:t>Below ~5 km most are not catalogued craters, and breached craters are invisible; Robbins is the crater reference (§26.3, §53.4).</a:t>
            </a:r>
          </a:p>
          <a:p>
            <a:pPr marL="200000" indent="-200000">
              <a:spcAft>
                <a:spcPts val="800"/>
              </a:spcAft>
              <a:buFont typeface="Arial" pitchFamily="34" charset="0"/>
              <a:buChar char="•"/>
            </a:pPr>
            <a:r>
              <a:rPr sz="1400" b="1" i="0">
                <a:solidFill>
                  <a:srgbClr val="0E2841"/>
                </a:solidFill>
                <a:latin typeface="Aptos"/>
              </a:rPr>
              <a:t>Channels and orders are DEM-limited: </a:t>
            </a:r>
            <a:r>
              <a:rPr sz="1400" b="0" i="0">
                <a:solidFill>
                  <a:srgbClr val="000000"/>
                </a:solidFill>
                <a:latin typeface="Aptos"/>
              </a:rPr>
              <a:t>Fill floods closed basins; 89.8% of ±60° channels lie under 2°; the stream order is a setting (§25.1, §47.4, §54.4).</a:t>
            </a:r>
          </a:p>
          <a:p>
            <a:pPr marL="200000" indent="-200000">
              <a:spcAft>
                <a:spcPts val="800"/>
              </a:spcAft>
              <a:buFont typeface="Arial" pitchFamily="34" charset="0"/>
              <a:buChar char="•"/>
            </a:pPr>
            <a:r>
              <a:rPr sz="1400" b="1" i="0">
                <a:solidFill>
                  <a:srgbClr val="0E2841"/>
                </a:solidFill>
                <a:latin typeface="Aptos"/>
              </a:rPr>
              <a:t>The review has not started: </a:t>
            </a:r>
            <a:r>
              <a:rPr sz="1400" b="0" i="0">
                <a:solidFill>
                  <a:srgbClr val="000000"/>
                </a:solidFill>
                <a:latin typeface="Aptos"/>
              </a:rPr>
              <a:t>The three digitising classes hold 0 rows; 0 of 9,287 candidates are reviewed, so H1 and H2 wait for digitised margins and channels (NEXT-STEPS.md §6).</a:t>
            </a:r>
          </a:p>
          <a:p>
            <a:pPr marL="200000" indent="-200000">
              <a:spcAft>
                <a:spcPts val="800"/>
              </a:spcAft>
              <a:buFont typeface="Arial" pitchFamily="34" charset="0"/>
              <a:buChar char="•"/>
            </a:pPr>
            <a:r>
              <a:rPr sz="1400" b="1" i="0">
                <a:solidFill>
                  <a:srgbClr val="0E2841"/>
                </a:solidFill>
                <a:latin typeface="Aptos"/>
              </a:rPr>
              <a:t>A held-out test spent once: </a:t>
            </a:r>
            <a:r>
              <a:rPr sz="1400" b="0" i="0">
                <a:solidFill>
                  <a:srgbClr val="000000"/>
                </a:solidFill>
                <a:latin typeface="Aptos"/>
              </a:rPr>
              <a:t>Any further tuning of the deep-learning models needs validation blocks of its own (§66.5).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400" b="0" i="0">
                <a:solidFill>
                  <a:srgbClr val="000000"/>
                </a:solidFill>
                <a:latin typeface="Aptos Display"/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5500" y="1676400"/>
            <a:ext cx="10541000" cy="482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1400"/>
              </a:spcAft>
              <a:buFont typeface="Arial" pitchFamily="34" charset="0"/>
              <a:buChar char="•"/>
            </a:pPr>
            <a:r>
              <a:rPr sz="1700" b="0" i="0">
                <a:solidFill>
                  <a:srgbClr val="000000"/>
                </a:solidFill>
                <a:latin typeface="Aptos"/>
              </a:rPr>
              <a:t>Four global products now share one co-registered grid over ±60°; the co-registration that failed four times works</a:t>
            </a:r>
          </a:p>
          <a:p>
            <a:pPr marL="200000" indent="-200000">
              <a:spcAft>
                <a:spcPts val="1400"/>
              </a:spcAft>
              <a:buFont typeface="Arial" pitchFamily="34" charset="0"/>
              <a:buChar char="•"/>
            </a:pPr>
            <a:r>
              <a:rPr sz="1700" b="0" i="0">
                <a:solidFill>
                  <a:srgbClr val="000000"/>
                </a:solidFill>
                <a:latin typeface="Aptos"/>
              </a:rPr>
              <a:t>Visible albedo, day IR and night IR are three nearly independent dimensions, but the THEMIS mosaics carry local contrast only, and calibrated inertia follows Viking</a:t>
            </a:r>
          </a:p>
          <a:p>
            <a:pPr marL="200000" indent="-200000">
              <a:spcAft>
                <a:spcPts val="1400"/>
              </a:spcAft>
              <a:buFont typeface="Arial" pitchFamily="34" charset="0"/>
              <a:buChar char="•"/>
            </a:pPr>
            <a:r>
              <a:rPr sz="1700" b="0" i="0">
                <a:solidFill>
                  <a:srgbClr val="000000"/>
                </a:solidFill>
                <a:latin typeface="Aptos"/>
              </a:rPr>
              <a:t>Craters ≥ 5 km are mostly recovered as closed depressions (62.2% precision); smaller ones and breached craters are not</a:t>
            </a:r>
          </a:p>
          <a:p>
            <a:pPr marL="200000" indent="-200000">
              <a:spcAft>
                <a:spcPts val="1400"/>
              </a:spcAft>
              <a:buFont typeface="Arial" pitchFamily="34" charset="0"/>
              <a:buChar char="•"/>
            </a:pPr>
            <a:r>
              <a:rPr sz="1700" b="0" i="0">
                <a:solidFill>
                  <a:srgbClr val="000000"/>
                </a:solidFill>
                <a:latin typeface="Aptos"/>
              </a:rPr>
              <a:t>The published landform map scores 73.8%, κ 0.58 on blocks it never saw; thermal adds a resolved 1.4–2.0 points</a:t>
            </a:r>
          </a:p>
          <a:p>
            <a:pPr marL="200000" indent="-200000">
              <a:spcAft>
                <a:spcPts val="1400"/>
              </a:spcAft>
              <a:buFont typeface="Arial" pitchFamily="34" charset="0"/>
              <a:buChar char="•"/>
            </a:pPr>
            <a:r>
              <a:rPr sz="1700" b="0" i="0">
                <a:solidFill>
                  <a:srgbClr val="000000"/>
                </a:solidFill>
                <a:latin typeface="Aptos"/>
              </a:rPr>
              <a:t>A U-Net reaches 98.9% as a terrain-province map; lava flows still come from the geologic map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3400" b="0" i="0">
                <a:solidFill>
                  <a:srgbClr val="000000"/>
                </a:solidFill>
                <a:latin typeface="Aptos Display"/>
              </a:rPr>
              <a:t>What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5500" y="1676400"/>
            <a:ext cx="10541000" cy="330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0000" indent="-200000">
              <a:spcAft>
                <a:spcPts val="1400"/>
              </a:spcAft>
              <a:buFont typeface="Arial" pitchFamily="34" charset="0"/>
              <a:buChar char="•"/>
            </a:pPr>
            <a:r>
              <a:rPr sz="1700" b="0" i="0">
                <a:solidFill>
                  <a:srgbClr val="000000"/>
                </a:solidFill>
                <a:latin typeface="Aptos"/>
              </a:rPr>
              <a:t>Review the 9,287 machine candidates at Ius Chasma and Athabasca Valles; draw breached craters and lava margins</a:t>
            </a:r>
          </a:p>
          <a:p>
            <a:pPr marL="200000" indent="-200000">
              <a:spcAft>
                <a:spcPts val="1400"/>
              </a:spcAft>
              <a:buFont typeface="Arial" pitchFamily="34" charset="0"/>
              <a:buChar char="•"/>
            </a:pPr>
            <a:r>
              <a:rPr sz="1700" b="0" i="0">
                <a:solidFill>
                  <a:srgbClr val="000000"/>
                </a:solidFill>
                <a:latin typeface="Aptos"/>
              </a:rPr>
              <a:t>Retest H1 on margins digitised at 100 m and H2 on reviewed channels with their origin set</a:t>
            </a:r>
          </a:p>
          <a:p>
            <a:pPr marL="200000" indent="-200000">
              <a:spcAft>
                <a:spcPts val="1400"/>
              </a:spcAft>
              <a:buFont typeface="Arial" pitchFamily="34" charset="0"/>
              <a:buChar char="•"/>
            </a:pPr>
            <a:r>
              <a:rPr sz="1700" b="0" i="0">
                <a:solidFill>
                  <a:srgbClr val="000000"/>
                </a:solidFill>
                <a:latin typeface="Aptos"/>
              </a:rPr>
              <a:t>Seven classes (D17): impact craters only, plus volcanic edifice, apron and fluvial channel; both maps scored on the same held-out polygons</a:t>
            </a:r>
          </a:p>
          <a:p>
            <a:pPr marL="200000" indent="-200000">
              <a:spcAft>
                <a:spcPts val="1400"/>
              </a:spcAft>
              <a:buFont typeface="Arial" pitchFamily="34" charset="0"/>
              <a:buChar char="•"/>
            </a:pPr>
            <a:r>
              <a:rPr sz="1700" b="0" i="0">
                <a:solidFill>
                  <a:srgbClr val="000000"/>
                </a:solidFill>
                <a:latin typeface="Aptos"/>
              </a:rPr>
              <a:t>Material labels, not landform labels, to price the thermal bands; calibrated THEMIS products where they exist</a:t>
            </a:r>
          </a:p>
          <a:p>
            <a:pPr marL="200000" indent="-200000">
              <a:spcAft>
                <a:spcPts val="1400"/>
              </a:spcAft>
              <a:buFont typeface="Arial" pitchFamily="34" charset="0"/>
              <a:buChar char="•"/>
            </a:pPr>
            <a:r>
              <a:rPr sz="1700" b="0" i="0">
                <a:solidFill>
                  <a:srgbClr val="000000"/>
                </a:solidFill>
                <a:latin typeface="Aptos"/>
              </a:rPr>
              <a:t>Validation blocks of their own before any further deep-learning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" y="5588000"/>
            <a:ext cx="1054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300" b="0" i="1">
                <a:solidFill>
                  <a:srgbClr val="555F66"/>
                </a:solidFill>
                <a:latin typeface="Aptos"/>
              </a:rPr>
              <a:t>Every map, script and model: github.com/loggger101/Mars_Terrestrial_GlobalMosaic_GIS-Data, release data-2026-10-21 (CC BY 4.0 data, MIT scripts)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09600"/>
            <a:ext cx="1054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4400" b="0" i="0">
                <a:solidFill>
                  <a:srgbClr val="FFFFFF"/>
                </a:solidFill>
                <a:latin typeface="Aptos Display"/>
              </a:rP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320800"/>
            <a:ext cx="939800" cy="50800"/>
          </a:xfrm>
          <a:prstGeom prst="rect">
            <a:avLst/>
          </a:prstGeom>
          <a:solidFill>
            <a:srgbClr val="0E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5500" y="2794000"/>
            <a:ext cx="10541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buNone/>
            </a:pPr>
            <a:r>
              <a:rPr sz="1800" b="0" i="0">
                <a:solidFill>
                  <a:srgbClr val="0E9ED4"/>
                </a:solidFill>
                <a:latin typeface="Aptos"/>
              </a:rPr>
              <a:t>Mars Global Mosaic: Mapping Lava Flows, Fluvial Channels, and Impact Craters in Visible and Infrared</a:t>
            </a:r>
          </a:p>
          <a:p>
            <a:pPr>
              <a:buNone/>
            </a:pPr>
            <a:r>
              <a:rPr sz="1400" b="0" i="0">
                <a:solidFill>
                  <a:srgbClr val="0E9ED4"/>
                </a:solidFill>
                <a:latin typeface="Aptos"/>
              </a:rPr>
              <a:t>Logan M Edwards · REMOTE SENSING 2026 OCN 4704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