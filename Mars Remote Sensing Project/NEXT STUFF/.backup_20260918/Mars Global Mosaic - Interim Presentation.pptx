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2489200"/>
            <a:ext cx="12192000" cy="1016000"/>
          </a:xfrm>
          <a:prstGeom prst="rect">
            <a:avLst/>
          </a:prstGeom>
          <a:noFill/>
        </p:spPr>
        <p:txBody>
          <a:bodyPr wrap="square" anchor="t" lIns="0" rIns="0" tIns="0" bIns="0">
            <a:spAutoFit/>
          </a:bodyPr>
          <a:lstStyle/>
          <a:p>
            <a:pPr algn="ctr">
              <a:buNone/>
            </a:pPr>
            <a:r>
              <a:rPr sz="6000" b="0" i="0">
                <a:solidFill>
                  <a:srgbClr val="000000"/>
                </a:solidFill>
                <a:latin typeface="Aptos Display"/>
              </a:rPr>
              <a:t>Mars Global Mosaic</a:t>
            </a:r>
          </a:p>
        </p:txBody>
      </p:sp>
      <p:sp>
        <p:nvSpPr>
          <p:cNvPr id="3" name="TextBox 2"/>
          <p:cNvSpPr txBox="1"/>
          <p:nvPr/>
        </p:nvSpPr>
        <p:spPr>
          <a:xfrm>
            <a:off x="0" y="3581400"/>
            <a:ext cx="12192000" cy="304800"/>
          </a:xfrm>
          <a:prstGeom prst="rect">
            <a:avLst/>
          </a:prstGeom>
          <a:noFill/>
        </p:spPr>
        <p:txBody>
          <a:bodyPr wrap="square" anchor="t" lIns="0" rIns="0" tIns="0" bIns="0">
            <a:spAutoFit/>
          </a:bodyPr>
          <a:lstStyle/>
          <a:p>
            <a:pPr algn="ctr">
              <a:buNone/>
            </a:pPr>
            <a:r>
              <a:rPr sz="1200" b="0" i="0">
                <a:solidFill>
                  <a:srgbClr val="000000"/>
                </a:solidFill>
                <a:latin typeface="Aptos"/>
              </a:rPr>
              <a:t>REMOTE SENSING 2026 OCN 4704</a:t>
            </a:r>
          </a:p>
        </p:txBody>
      </p:sp>
      <p:sp>
        <p:nvSpPr>
          <p:cNvPr id="4" name="TextBox 3"/>
          <p:cNvSpPr txBox="1"/>
          <p:nvPr/>
        </p:nvSpPr>
        <p:spPr>
          <a:xfrm>
            <a:off x="0" y="3873500"/>
            <a:ext cx="12192000" cy="304800"/>
          </a:xfrm>
          <a:prstGeom prst="rect">
            <a:avLst/>
          </a:prstGeom>
          <a:noFill/>
        </p:spPr>
        <p:txBody>
          <a:bodyPr wrap="square" anchor="t" lIns="0" rIns="0" tIns="0" bIns="0">
            <a:spAutoFit/>
          </a:bodyPr>
          <a:lstStyle/>
          <a:p>
            <a:pPr algn="ctr">
              <a:buNone/>
            </a:pPr>
            <a:r>
              <a:rPr sz="1200" b="0" i="0">
                <a:solidFill>
                  <a:srgbClr val="000000"/>
                </a:solidFill>
                <a:latin typeface="Aptos"/>
              </a:rPr>
              <a:t>Logan Edwards</a:t>
            </a:r>
          </a:p>
        </p:txBody>
      </p:sp>
      <p:sp>
        <p:nvSpPr>
          <p:cNvPr id="5" name="TextBox 4"/>
          <p:cNvSpPr txBox="1"/>
          <p:nvPr/>
        </p:nvSpPr>
        <p:spPr>
          <a:xfrm>
            <a:off x="0" y="4165600"/>
            <a:ext cx="12192000" cy="304800"/>
          </a:xfrm>
          <a:prstGeom prst="rect">
            <a:avLst/>
          </a:prstGeom>
          <a:noFill/>
        </p:spPr>
        <p:txBody>
          <a:bodyPr wrap="square" anchor="t" lIns="0" rIns="0" tIns="0" bIns="0">
            <a:spAutoFit/>
          </a:bodyPr>
          <a:lstStyle/>
          <a:p>
            <a:pPr algn="ctr">
              <a:buNone/>
            </a:pPr>
            <a:r>
              <a:rPr sz="1200" b="0" i="0">
                <a:solidFill>
                  <a:srgbClr val="000000"/>
                </a:solidFill>
                <a:latin typeface="Aptos"/>
              </a:rPr>
              <a:t>Interim Presentation · 42% complete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Project Goals</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965200"/>
          </a:xfrm>
          <a:prstGeom prst="rect">
            <a:avLst/>
          </a:prstGeom>
          <a:noFill/>
        </p:spPr>
        <p:txBody>
          <a:bodyPr wrap="square" anchor="t" lIns="0" rIns="0" tIns="0" bIns="0">
            <a:spAutoFit/>
          </a:bodyPr>
          <a:lstStyle/>
          <a:p>
            <a:pPr>
              <a:buNone/>
            </a:pPr>
            <a:r>
              <a:rPr sz="1700" b="0" i="0">
                <a:solidFill>
                  <a:srgbClr val="000000"/>
                </a:solidFill>
                <a:latin typeface="Aptos"/>
              </a:rPr>
              <a:t>Assemble a co-registered global visible and thermal-infrared mosaic of Mars in ArcGIS Pro from three existing global products, and use it to map and classify three landform families — volcanic flow units, fluvial channels and valley networks, and impact craters — producing one internally consistent global landform inventory.</a:t>
            </a:r>
          </a:p>
        </p:txBody>
      </p:sp>
      <p:sp>
        <p:nvSpPr>
          <p:cNvPr id="5" name="TextBox 4"/>
          <p:cNvSpPr txBox="1"/>
          <p:nvPr/>
        </p:nvSpPr>
        <p:spPr>
          <a:xfrm>
            <a:off x="825500" y="2870200"/>
            <a:ext cx="10541000" cy="3175000"/>
          </a:xfrm>
          <a:prstGeom prst="rect">
            <a:avLst/>
          </a:prstGeom>
          <a:noFill/>
        </p:spPr>
        <p:txBody>
          <a:bodyPr wrap="square" anchor="t" lIns="0" rIns="0" tIns="0" bIns="0">
            <a:spAutoFit/>
          </a:bodyPr>
          <a:lstStyle/>
          <a:p>
            <a:pPr marL="200000" indent="-200000">
              <a:spcAft>
                <a:spcPts val="1300"/>
              </a:spcAft>
              <a:buFont typeface="Arial" pitchFamily="34" charset="0"/>
              <a:buChar char="•"/>
            </a:pPr>
            <a:r>
              <a:rPr sz="1600" b="0" i="0">
                <a:solidFill>
                  <a:srgbClr val="000000"/>
                </a:solidFill>
                <a:latin typeface="Aptos"/>
              </a:rPr>
              <a:t>Build one co-registered global visible + thermal-infrared mosaic of Mars in ArcGIS Pro.</a:t>
            </a:r>
          </a:p>
          <a:p>
            <a:pPr marL="200000" indent="-200000">
              <a:spcAft>
                <a:spcPts val="1300"/>
              </a:spcAft>
              <a:buFont typeface="Arial" pitchFamily="34" charset="0"/>
              <a:buChar char="•"/>
            </a:pPr>
            <a:r>
              <a:rPr sz="1600" b="0" i="0">
                <a:solidFill>
                  <a:srgbClr val="000000"/>
                </a:solidFill>
                <a:latin typeface="Aptos"/>
              </a:rPr>
              <a:t>Map and classify lava flow units, fluvial channels, and impact craters from it.</a:t>
            </a:r>
          </a:p>
          <a:p>
            <a:pPr marL="200000" indent="-200000">
              <a:spcAft>
                <a:spcPts val="1300"/>
              </a:spcAft>
              <a:buFont typeface="Arial" pitchFamily="34" charset="0"/>
              <a:buChar char="•"/>
            </a:pPr>
            <a:r>
              <a:rPr sz="1600" b="0" i="0">
                <a:solidFill>
                  <a:srgbClr val="000000"/>
                </a:solidFill>
                <a:latin typeface="Aptos"/>
              </a:rPr>
              <a:t>Test whether thermal infrared recovers flow boundaries that visible imagery misses under dust mantle.</a:t>
            </a:r>
          </a:p>
          <a:p>
            <a:pPr marL="200000" indent="-200000">
              <a:spcAft>
                <a:spcPts val="1300"/>
              </a:spcAft>
              <a:buFont typeface="Arial" pitchFamily="34" charset="0"/>
              <a:buChar char="•"/>
            </a:pPr>
            <a:r>
              <a:rPr sz="1600" b="0" i="0">
                <a:solidFill>
                  <a:srgbClr val="000000"/>
                </a:solidFill>
                <a:latin typeface="Aptos"/>
              </a:rPr>
              <a:t>Assess accuracy against the published USGS global geologic map and the IAU crater gazetteer — the only independent references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Project Tasks and Percent Complete</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5500" y="1676400"/>
          <a:ext cx="10540999" cy="4000500"/>
        </p:xfrm>
        <a:graphic>
          <a:graphicData uri="http://schemas.openxmlformats.org/drawingml/2006/table">
            <a:tbl>
              <a:tblPr firstRow="1">
                <a:tableStyleId>{5C22544A-7EE6-4342-B048-85BDC9FD1C3A}</a:tableStyleId>
              </a:tblPr>
              <a:tblGrid>
                <a:gridCol w="421640"/>
                <a:gridCol w="5902959"/>
                <a:gridCol w="1054100"/>
                <a:gridCol w="3162300"/>
              </a:tblGrid>
              <a:tr h="266700">
                <a:tc>
                  <a:txBody>
                    <a:bodyPr/>
                    <a:lstStyle/>
                    <a:p>
                      <a:pPr>
                        <a:buNone/>
                      </a:pPr>
                      <a:r>
                        <a:rPr sz="1000" b="1" i="0">
                          <a:solidFill>
                            <a:srgbClr val="FFFFFF"/>
                          </a:solidFill>
                          <a:latin typeface="Aptos"/>
                        </a:rPr>
                        <a:t>#</a:t>
                      </a:r>
                    </a:p>
                  </a:txBody>
                  <a:tcPr marL="76200" marR="76200" marT="38100" marB="38100" anchor="ctr">
                    <a:solidFill>
                      <a:srgbClr val="0E2841"/>
                    </a:solidFill>
                  </a:tcPr>
                </a:tc>
                <a:tc>
                  <a:txBody>
                    <a:bodyPr/>
                    <a:lstStyle/>
                    <a:p>
                      <a:pPr>
                        <a:buNone/>
                      </a:pPr>
                      <a:r>
                        <a:rPr sz="1000" b="1" i="0">
                          <a:solidFill>
                            <a:srgbClr val="FFFFFF"/>
                          </a:solidFill>
                          <a:latin typeface="Aptos"/>
                        </a:rPr>
                        <a:t>Task</a:t>
                      </a:r>
                    </a:p>
                  </a:txBody>
                  <a:tcPr marL="76200" marR="76200" marT="38100" marB="38100" anchor="ctr">
                    <a:solidFill>
                      <a:srgbClr val="0E2841"/>
                    </a:solidFill>
                  </a:tcPr>
                </a:tc>
                <a:tc>
                  <a:txBody>
                    <a:bodyPr/>
                    <a:lstStyle/>
                    <a:p>
                      <a:pPr>
                        <a:buNone/>
                      </a:pPr>
                      <a:r>
                        <a:rPr sz="1000" b="1" i="0">
                          <a:solidFill>
                            <a:srgbClr val="FFFFFF"/>
                          </a:solidFill>
                          <a:latin typeface="Aptos"/>
                        </a:rPr>
                        <a:t>Complete</a:t>
                      </a:r>
                    </a:p>
                  </a:txBody>
                  <a:tcPr marL="76200" marR="76200" marT="38100" marB="38100" anchor="ctr">
                    <a:solidFill>
                      <a:srgbClr val="0E2841"/>
                    </a:solidFill>
                  </a:tcPr>
                </a:tc>
                <a:tc>
                  <a:txBody>
                    <a:bodyPr/>
                    <a:lstStyle/>
                    <a:p>
                      <a:pPr>
                        <a:buNone/>
                      </a:pPr>
                      <a:r>
                        <a:rPr sz="1000" b="1" i="0">
                          <a:solidFill>
                            <a:srgbClr val="FFFFFF"/>
                          </a:solidFill>
                          <a:latin typeface="Aptos"/>
                        </a:rPr>
                        <a:t>Progress</a:t>
                      </a:r>
                    </a:p>
                  </a:txBody>
                  <a:tcPr marL="76200" marR="76200" marT="38100" marB="38100" anchor="ctr">
                    <a:solidFill>
                      <a:srgbClr val="0E2841"/>
                    </a:solidFill>
                  </a:tcPr>
                </a:tc>
              </a:tr>
              <a:tr h="266700">
                <a:tc>
                  <a:txBody>
                    <a:bodyPr/>
                    <a:lstStyle/>
                    <a:p>
                      <a:pPr>
                        <a:buNone/>
                      </a:pPr>
                      <a:r>
                        <a:rPr sz="1000" b="0" i="0">
                          <a:solidFill>
                            <a:srgbClr val="000000"/>
                          </a:solidFill>
                          <a:latin typeface="Aptos"/>
                        </a:rPr>
                        <a:t>1</a:t>
                      </a:r>
                    </a:p>
                  </a:txBody>
                  <a:tcPr marL="76200" marR="76200" marT="25400" marB="25400" anchor="ctr">
                    <a:solidFill>
                      <a:srgbClr val="FFFFFF"/>
                    </a:solidFill>
                  </a:tcPr>
                </a:tc>
                <a:tc>
                  <a:txBody>
                    <a:bodyPr/>
                    <a:lstStyle/>
                    <a:p>
                      <a:pPr>
                        <a:buNone/>
                      </a:pPr>
                      <a:r>
                        <a:rPr sz="1000" b="0" i="0">
                          <a:solidFill>
                            <a:srgbClr val="000000"/>
                          </a:solidFill>
                          <a:latin typeface="Aptos"/>
                        </a:rPr>
                        <a:t>Scope, targets, and type-area selection</a:t>
                      </a:r>
                    </a:p>
                  </a:txBody>
                  <a:tcPr marL="76200" marR="76200" marT="25400" marB="25400" anchor="ctr">
                    <a:solidFill>
                      <a:srgbClr val="FFFFFF"/>
                    </a:solidFill>
                  </a:tcPr>
                </a:tc>
                <a:tc>
                  <a:txBody>
                    <a:bodyPr/>
                    <a:lstStyle/>
                    <a:p>
                      <a:pPr>
                        <a:buNone/>
                      </a:pPr>
                      <a:r>
                        <a:rPr sz="1000" b="0" i="0">
                          <a:solidFill>
                            <a:srgbClr val="000000"/>
                          </a:solidFill>
                          <a:latin typeface="Aptos"/>
                        </a:rPr>
                        <a:t>90%</a:t>
                      </a:r>
                    </a:p>
                  </a:txBody>
                  <a:tcPr marL="76200" marR="76200" marT="25400" marB="25400" anchor="ctr">
                    <a:solidFill>
                      <a:srgbClr val="FFFFFF"/>
                    </a:solidFill>
                  </a:tcPr>
                </a:tc>
                <a:tc>
                  <a:txBody>
                    <a:bodyPr/>
                    <a:lstStyle/>
                    <a:p>
                      <a:pPr>
                        <a:buNone/>
                      </a:pPr>
                      <a:r>
                        <a:rPr sz="1000" b="0" i="0">
                          <a:solidFill>
                            <a:srgbClr val="0E9ED4"/>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2</a:t>
                      </a:r>
                    </a:p>
                  </a:txBody>
                  <a:tcPr marL="76200" marR="76200" marT="25400" marB="25400" anchor="ctr">
                    <a:solidFill>
                      <a:srgbClr val="EEF3F7"/>
                    </a:solidFill>
                  </a:tcPr>
                </a:tc>
                <a:tc>
                  <a:txBody>
                    <a:bodyPr/>
                    <a:lstStyle/>
                    <a:p>
                      <a:pPr>
                        <a:buNone/>
                      </a:pPr>
                      <a:r>
                        <a:rPr sz="1000" b="0" i="0">
                          <a:solidFill>
                            <a:srgbClr val="000000"/>
                          </a:solidFill>
                          <a:latin typeface="Aptos"/>
                        </a:rPr>
                        <a:t>Global raster acquisition — THEMIS, Viking, HRSC/MOLA</a:t>
                      </a:r>
                    </a:p>
                  </a:txBody>
                  <a:tcPr marL="76200" marR="76200" marT="25400" marB="25400" anchor="ctr">
                    <a:solidFill>
                      <a:srgbClr val="EEF3F7"/>
                    </a:solidFill>
                  </a:tcPr>
                </a:tc>
                <a:tc>
                  <a:txBody>
                    <a:bodyPr/>
                    <a:lstStyle/>
                    <a:p>
                      <a:pPr>
                        <a:buNone/>
                      </a:pPr>
                      <a:r>
                        <a:rPr sz="1000" b="0" i="0">
                          <a:solidFill>
                            <a:srgbClr val="000000"/>
                          </a:solidFill>
                          <a:latin typeface="Aptos"/>
                        </a:rPr>
                        <a:t>100%</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3</a:t>
                      </a:r>
                    </a:p>
                  </a:txBody>
                  <a:tcPr marL="76200" marR="76200" marT="25400" marB="25400" anchor="ctr">
                    <a:solidFill>
                      <a:srgbClr val="FFFFFF"/>
                    </a:solidFill>
                  </a:tcPr>
                </a:tc>
                <a:tc>
                  <a:txBody>
                    <a:bodyPr/>
                    <a:lstStyle/>
                    <a:p>
                      <a:pPr>
                        <a:buNone/>
                      </a:pPr>
                      <a:r>
                        <a:rPr sz="1000" b="0" i="0">
                          <a:solidFill>
                            <a:srgbClr val="000000"/>
                          </a:solidFill>
                          <a:latin typeface="Aptos"/>
                        </a:rPr>
                        <a:t>Statistics and display stretches built (pyramids still not built)</a:t>
                      </a:r>
                    </a:p>
                  </a:txBody>
                  <a:tcPr marL="76200" marR="76200" marT="25400" marB="25400" anchor="ctr">
                    <a:solidFill>
                      <a:srgbClr val="FFFFFF"/>
                    </a:solidFill>
                  </a:tcPr>
                </a:tc>
                <a:tc>
                  <a:txBody>
                    <a:bodyPr/>
                    <a:lstStyle/>
                    <a:p>
                      <a:pPr>
                        <a:buNone/>
                      </a:pPr>
                      <a:r>
                        <a:rPr sz="1000" b="0" i="0">
                          <a:solidFill>
                            <a:srgbClr val="000000"/>
                          </a:solidFill>
                          <a:latin typeface="Aptos"/>
                        </a:rPr>
                        <a:t>70%</a:t>
                      </a:r>
                    </a:p>
                  </a:txBody>
                  <a:tcPr marL="76200" marR="76200" marT="25400" marB="25400" anchor="ctr">
                    <a:solidFill>
                      <a:srgbClr val="FFFFFF"/>
                    </a:solidFill>
                  </a:tcPr>
                </a:tc>
                <a:tc>
                  <a:txBody>
                    <a:bodyPr/>
                    <a:lstStyle/>
                    <a:p>
                      <a:pPr>
                        <a:buNone/>
                      </a:pPr>
                      <a:r>
                        <a:rPr sz="1000" b="0" i="0">
                          <a:solidFill>
                            <a:srgbClr val="0E9ED4"/>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4</a:t>
                      </a:r>
                    </a:p>
                  </a:txBody>
                  <a:tcPr marL="76200" marR="76200" marT="25400" marB="25400" anchor="ctr">
                    <a:solidFill>
                      <a:srgbClr val="EEF3F7"/>
                    </a:solidFill>
                  </a:tcPr>
                </a:tc>
                <a:tc>
                  <a:txBody>
                    <a:bodyPr/>
                    <a:lstStyle/>
                    <a:p>
                      <a:pPr>
                        <a:buNone/>
                      </a:pPr>
                      <a:r>
                        <a:rPr sz="1000" b="0" i="0">
                          <a:solidFill>
                            <a:srgbClr val="000000"/>
                          </a:solidFill>
                          <a:latin typeface="Aptos"/>
                        </a:rPr>
                        <a:t>Grouped mosaic viewer assembled (Viking / IR / HRSC MOLA)</a:t>
                      </a:r>
                    </a:p>
                  </a:txBody>
                  <a:tcPr marL="76200" marR="76200" marT="25400" marB="25400" anchor="ctr">
                    <a:solidFill>
                      <a:srgbClr val="EEF3F7"/>
                    </a:solidFill>
                  </a:tcPr>
                </a:tc>
                <a:tc>
                  <a:txBody>
                    <a:bodyPr/>
                    <a:lstStyle/>
                    <a:p>
                      <a:pPr>
                        <a:buNone/>
                      </a:pPr>
                      <a:r>
                        <a:rPr sz="1000" b="0" i="0">
                          <a:solidFill>
                            <a:srgbClr val="000000"/>
                          </a:solidFill>
                          <a:latin typeface="Aptos"/>
                        </a:rPr>
                        <a:t>100%</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5</a:t>
                      </a:r>
                    </a:p>
                  </a:txBody>
                  <a:tcPr marL="76200" marR="76200" marT="25400" marB="25400" anchor="ctr">
                    <a:solidFill>
                      <a:srgbClr val="FFFFFF"/>
                    </a:solidFill>
                  </a:tcPr>
                </a:tc>
                <a:tc>
                  <a:txBody>
                    <a:bodyPr/>
                    <a:lstStyle/>
                    <a:p>
                      <a:pPr>
                        <a:buNone/>
                      </a:pPr>
                      <a:r>
                        <a:rPr sz="1000" b="0" i="0">
                          <a:solidFill>
                            <a:srgbClr val="000000"/>
                          </a:solidFill>
                          <a:latin typeface="Aptos"/>
                        </a:rPr>
                        <a:t>DEM terrain derivatives — slope and hillshade built</a:t>
                      </a:r>
                    </a:p>
                  </a:txBody>
                  <a:tcPr marL="76200" marR="76200" marT="25400" marB="25400" anchor="ctr">
                    <a:solidFill>
                      <a:srgbClr val="FFFFFF"/>
                    </a:solidFill>
                  </a:tcPr>
                </a:tc>
                <a:tc>
                  <a:txBody>
                    <a:bodyPr/>
                    <a:lstStyle/>
                    <a:p>
                      <a:pPr>
                        <a:buNone/>
                      </a:pPr>
                      <a:r>
                        <a:rPr sz="1000" b="0" i="0">
                          <a:solidFill>
                            <a:srgbClr val="000000"/>
                          </a:solidFill>
                          <a:latin typeface="Aptos"/>
                        </a:rPr>
                        <a:t>80%</a:t>
                      </a:r>
                    </a:p>
                  </a:txBody>
                  <a:tcPr marL="76200" marR="76200" marT="25400" marB="25400" anchor="ctr">
                    <a:solidFill>
                      <a:srgbClr val="FFFFFF"/>
                    </a:solidFill>
                  </a:tcPr>
                </a:tc>
                <a:tc>
                  <a:txBody>
                    <a:bodyPr/>
                    <a:lstStyle/>
                    <a:p>
                      <a:pPr>
                        <a:buNone/>
                      </a:pPr>
                      <a:r>
                        <a:rPr sz="1000" b="0" i="0">
                          <a:solidFill>
                            <a:srgbClr val="0E9ED4"/>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6</a:t>
                      </a:r>
                    </a:p>
                  </a:txBody>
                  <a:tcPr marL="76200" marR="76200" marT="25400" marB="25400" anchor="ctr">
                    <a:solidFill>
                      <a:srgbClr val="EEF3F7"/>
                    </a:solidFill>
                  </a:tcPr>
                </a:tc>
                <a:tc>
                  <a:txBody>
                    <a:bodyPr/>
                    <a:lstStyle/>
                    <a:p>
                      <a:pPr>
                        <a:buNone/>
                      </a:pPr>
                      <a:r>
                        <a:rPr sz="1000" b="0" i="0">
                          <a:solidFill>
                            <a:srgbClr val="000000"/>
                          </a:solidFill>
                          <a:latin typeface="Aptos"/>
                        </a:rPr>
                        <a:t>Image-gradient products from THEMIS and Viking</a:t>
                      </a:r>
                    </a:p>
                  </a:txBody>
                  <a:tcPr marL="76200" marR="76200" marT="25400" marB="25400" anchor="ctr">
                    <a:solidFill>
                      <a:srgbClr val="EEF3F7"/>
                    </a:solidFill>
                  </a:tcPr>
                </a:tc>
                <a:tc>
                  <a:txBody>
                    <a:bodyPr/>
                    <a:lstStyle/>
                    <a:p>
                      <a:pPr>
                        <a:buNone/>
                      </a:pPr>
                      <a:r>
                        <a:rPr sz="1000" b="0" i="0">
                          <a:solidFill>
                            <a:srgbClr val="000000"/>
                          </a:solidFill>
                          <a:latin typeface="Aptos"/>
                        </a:rPr>
                        <a:t>70%</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7</a:t>
                      </a:r>
                    </a:p>
                  </a:txBody>
                  <a:tcPr marL="76200" marR="76200" marT="25400" marB="25400" anchor="ctr">
                    <a:solidFill>
                      <a:srgbClr val="FFFFFF"/>
                    </a:solidFill>
                  </a:tcPr>
                </a:tc>
                <a:tc>
                  <a:txBody>
                    <a:bodyPr/>
                    <a:lstStyle/>
                    <a:p>
                      <a:pPr>
                        <a:buNone/>
                      </a:pPr>
                      <a:r>
                        <a:rPr sz="1000" b="0" i="0">
                          <a:solidFill>
                            <a:srgbClr val="000000"/>
                          </a:solidFill>
                          <a:latin typeface="Aptos"/>
                        </a:rPr>
                        <a:t>Jezero context map — hosted rover services only, no held imagery</a:t>
                      </a:r>
                    </a:p>
                  </a:txBody>
                  <a:tcPr marL="76200" marR="76200" marT="25400" marB="25400" anchor="ctr">
                    <a:solidFill>
                      <a:srgbClr val="FFFFFF"/>
                    </a:solidFill>
                  </a:tcPr>
                </a:tc>
                <a:tc>
                  <a:txBody>
                    <a:bodyPr/>
                    <a:lstStyle/>
                    <a:p>
                      <a:pPr>
                        <a:buNone/>
                      </a:pPr>
                      <a:r>
                        <a:rPr sz="1000" b="0" i="0">
                          <a:solidFill>
                            <a:srgbClr val="000000"/>
                          </a:solidFill>
                          <a:latin typeface="Aptos"/>
                        </a:rPr>
                        <a:t>20%</a:t>
                      </a:r>
                    </a:p>
                  </a:txBody>
                  <a:tcPr marL="76200" marR="76200" marT="25400" marB="25400" anchor="ctr">
                    <a:solidFill>
                      <a:srgbClr val="FFFFFF"/>
                    </a:solidFill>
                  </a:tcPr>
                </a:tc>
                <a:tc>
                  <a:txBody>
                    <a:bodyPr/>
                    <a:lstStyle/>
                    <a:p>
                      <a:pPr>
                        <a:buNone/>
                      </a:pPr>
                      <a:r>
                        <a:rPr sz="1000" b="0" i="0">
                          <a:solidFill>
                            <a:srgbClr val="0E9ED4"/>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8</a:t>
                      </a:r>
                    </a:p>
                  </a:txBody>
                  <a:tcPr marL="76200" marR="76200" marT="25400" marB="25400" anchor="ctr">
                    <a:solidFill>
                      <a:srgbClr val="EEF3F7"/>
                    </a:solidFill>
                  </a:tcPr>
                </a:tc>
                <a:tc>
                  <a:txBody>
                    <a:bodyPr/>
                    <a:lstStyle/>
                    <a:p>
                      <a:pPr>
                        <a:buNone/>
                      </a:pPr>
                      <a:r>
                        <a:rPr sz="1000" b="0" i="0">
                          <a:solidFill>
                            <a:srgbClr val="000000"/>
                          </a:solidFill>
                          <a:latin typeface="Aptos"/>
                        </a:rPr>
                        <a:t>Classification workflow — rehearsed on Mercury, not yet on Mars</a:t>
                      </a:r>
                    </a:p>
                  </a:txBody>
                  <a:tcPr marL="76200" marR="76200" marT="25400" marB="25400" anchor="ctr">
                    <a:solidFill>
                      <a:srgbClr val="EEF3F7"/>
                    </a:solidFill>
                  </a:tcPr>
                </a:tc>
                <a:tc>
                  <a:txBody>
                    <a:bodyPr/>
                    <a:lstStyle/>
                    <a:p>
                      <a:pPr>
                        <a:buNone/>
                      </a:pPr>
                      <a:r>
                        <a:rPr sz="1000" b="0" i="0">
                          <a:solidFill>
                            <a:srgbClr val="000000"/>
                          </a:solidFill>
                          <a:latin typeface="Aptos"/>
                        </a:rPr>
                        <a:t>20%</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9</a:t>
                      </a:r>
                    </a:p>
                  </a:txBody>
                  <a:tcPr marL="76200" marR="76200" marT="25400" marB="25400" anchor="ctr">
                    <a:solidFill>
                      <a:srgbClr val="FFFFFF"/>
                    </a:solidFill>
                  </a:tcPr>
                </a:tc>
                <a:tc>
                  <a:txBody>
                    <a:bodyPr/>
                    <a:lstStyle/>
                    <a:p>
                      <a:pPr>
                        <a:buNone/>
                      </a:pPr>
                      <a:r>
                        <a:rPr sz="1000" b="0" i="0">
                          <a:solidFill>
                            <a:srgbClr val="000000"/>
                          </a:solidFill>
                          <a:latin typeface="Aptos"/>
                        </a:rPr>
                        <a:t>CRS harmonization to one projected frame</a:t>
                      </a:r>
                    </a:p>
                  </a:txBody>
                  <a:tcPr marL="76200" marR="76200" marT="25400" marB="25400" anchor="ctr">
                    <a:solidFill>
                      <a:srgbClr val="FFFFFF"/>
                    </a:solidFill>
                  </a:tcPr>
                </a:tc>
                <a:tc>
                  <a:txBody>
                    <a:bodyPr/>
                    <a:lstStyle/>
                    <a:p>
                      <a:pPr>
                        <a:buNone/>
                      </a:pPr>
                      <a:r>
                        <a:rPr sz="1000" b="0" i="0">
                          <a:solidFill>
                            <a:srgbClr val="000000"/>
                          </a:solidFill>
                          <a:latin typeface="Aptos"/>
                        </a:rPr>
                        <a:t>15%</a:t>
                      </a:r>
                    </a:p>
                  </a:txBody>
                  <a:tcPr marL="76200" marR="76200" marT="25400" marB="25400" anchor="ctr">
                    <a:solidFill>
                      <a:srgbClr val="FFFFFF"/>
                    </a:solidFill>
                  </a:tcPr>
                </a:tc>
                <a:tc>
                  <a:txBody>
                    <a:bodyPr/>
                    <a:lstStyle/>
                    <a:p>
                      <a:pPr>
                        <a:buNone/>
                      </a:pPr>
                      <a:r>
                        <a:rPr sz="1000" b="0" i="0">
                          <a:solidFill>
                            <a:srgbClr val="0E9ED4"/>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10</a:t>
                      </a:r>
                    </a:p>
                  </a:txBody>
                  <a:tcPr marL="76200" marR="76200" marT="25400" marB="25400" anchor="ctr">
                    <a:solidFill>
                      <a:srgbClr val="EEF3F7"/>
                    </a:solidFill>
                  </a:tcPr>
                </a:tc>
                <a:tc>
                  <a:txBody>
                    <a:bodyPr/>
                    <a:lstStyle/>
                    <a:p>
                      <a:pPr>
                        <a:buNone/>
                      </a:pPr>
                      <a:r>
                        <a:rPr sz="1000" b="0" i="0">
                          <a:solidFill>
                            <a:srgbClr val="000000"/>
                          </a:solidFill>
                          <a:latin typeface="Aptos"/>
                        </a:rPr>
                        <a:t>Visible + infrared band composite</a:t>
                      </a:r>
                    </a:p>
                  </a:txBody>
                  <a:tcPr marL="76200" marR="76200" marT="25400" marB="25400" anchor="ctr">
                    <a:solidFill>
                      <a:srgbClr val="EEF3F7"/>
                    </a:solidFill>
                  </a:tcPr>
                </a:tc>
                <a:tc>
                  <a:txBody>
                    <a:bodyPr/>
                    <a:lstStyle/>
                    <a:p>
                      <a:pPr>
                        <a:buNone/>
                      </a:pPr>
                      <a:r>
                        <a:rPr sz="1000" b="0" i="0">
                          <a:solidFill>
                            <a:srgbClr val="000000"/>
                          </a:solidFill>
                          <a:latin typeface="Aptos"/>
                        </a:rPr>
                        <a:t>5%</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11</a:t>
                      </a:r>
                    </a:p>
                  </a:txBody>
                  <a:tcPr marL="76200" marR="76200" marT="25400" marB="25400" anchor="ctr">
                    <a:solidFill>
                      <a:srgbClr val="FFFFFF"/>
                    </a:solidFill>
                  </a:tcPr>
                </a:tc>
                <a:tc>
                  <a:txBody>
                    <a:bodyPr/>
                    <a:lstStyle/>
                    <a:p>
                      <a:pPr>
                        <a:buNone/>
                      </a:pPr>
                      <a:r>
                        <a:rPr sz="1000" b="0" i="0">
                          <a:solidFill>
                            <a:srgbClr val="000000"/>
                          </a:solidFill>
                          <a:latin typeface="Aptos"/>
                        </a:rPr>
                        <a:t>Landform digitizing — flows, channels, crater rims</a:t>
                      </a:r>
                    </a:p>
                  </a:txBody>
                  <a:tcPr marL="76200" marR="76200" marT="25400" marB="25400" anchor="ctr">
                    <a:solidFill>
                      <a:srgbClr val="FFFFFF"/>
                    </a:solidFill>
                  </a:tcPr>
                </a:tc>
                <a:tc>
                  <a:txBody>
                    <a:bodyPr/>
                    <a:lstStyle/>
                    <a:p>
                      <a:pPr>
                        <a:buNone/>
                      </a:pPr>
                      <a:r>
                        <a:rPr sz="1000" b="0" i="0">
                          <a:solidFill>
                            <a:srgbClr val="000000"/>
                          </a:solidFill>
                          <a:latin typeface="Aptos"/>
                        </a:rPr>
                        <a:t>0%</a:t>
                      </a:r>
                    </a:p>
                  </a:txBody>
                  <a:tcPr marL="76200" marR="76200" marT="25400" marB="25400" anchor="ctr">
                    <a:solidFill>
                      <a:srgbClr val="FFFFFF"/>
                    </a:solidFill>
                  </a:tcPr>
                </a:tc>
                <a:tc>
                  <a:txBody>
                    <a:bodyPr/>
                    <a:lstStyle/>
                    <a:p>
                      <a:pPr>
                        <a:buNone/>
                      </a:pPr>
                      <a:r>
                        <a:rPr sz="1000" b="0" i="0">
                          <a:solidFill>
                            <a:srgbClr val="555F66"/>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12</a:t>
                      </a:r>
                    </a:p>
                  </a:txBody>
                  <a:tcPr marL="76200" marR="76200" marT="25400" marB="25400" anchor="ctr">
                    <a:solidFill>
                      <a:srgbClr val="EEF3F7"/>
                    </a:solidFill>
                  </a:tcPr>
                </a:tc>
                <a:tc>
                  <a:txBody>
                    <a:bodyPr/>
                    <a:lstStyle/>
                    <a:p>
                      <a:pPr>
                        <a:buNone/>
                      </a:pPr>
                      <a:r>
                        <a:rPr sz="1000" b="0" i="0">
                          <a:solidFill>
                            <a:srgbClr val="000000"/>
                          </a:solidFill>
                          <a:latin typeface="Aptos"/>
                        </a:rPr>
                        <a:t>Crater inventory beyond the IAU gazetteer</a:t>
                      </a:r>
                    </a:p>
                  </a:txBody>
                  <a:tcPr marL="76200" marR="76200" marT="25400" marB="25400" anchor="ctr">
                    <a:solidFill>
                      <a:srgbClr val="EEF3F7"/>
                    </a:solidFill>
                  </a:tcPr>
                </a:tc>
                <a:tc>
                  <a:txBody>
                    <a:bodyPr/>
                    <a:lstStyle/>
                    <a:p>
                      <a:pPr>
                        <a:buNone/>
                      </a:pPr>
                      <a:r>
                        <a:rPr sz="1000" b="0" i="0">
                          <a:solidFill>
                            <a:srgbClr val="000000"/>
                          </a:solidFill>
                          <a:latin typeface="Aptos"/>
                        </a:rPr>
                        <a:t>0%</a:t>
                      </a:r>
                    </a:p>
                  </a:txBody>
                  <a:tcPr marL="76200" marR="76200" marT="25400" marB="25400" anchor="ctr">
                    <a:solidFill>
                      <a:srgbClr val="EEF3F7"/>
                    </a:solidFill>
                  </a:tcPr>
                </a:tc>
                <a:tc>
                  <a:txBody>
                    <a:bodyPr/>
                    <a:lstStyle/>
                    <a:p>
                      <a:pPr>
                        <a:buNone/>
                      </a:pPr>
                      <a:r>
                        <a:rPr sz="1000" b="0" i="0">
                          <a:solidFill>
                            <a:srgbClr val="555F66"/>
                          </a:solidFill>
                          <a:latin typeface="Aptos"/>
                        </a:rPr>
                        <a:t>–</a:t>
                      </a:r>
                    </a:p>
                  </a:txBody>
                  <a:tcPr marL="76200" marR="76200" marT="25400" marB="25400" anchor="ctr">
                    <a:solidFill>
                      <a:srgbClr val="EEF3F7"/>
                    </a:solidFill>
                  </a:tcPr>
                </a:tc>
              </a:tr>
              <a:tr h="266700">
                <a:tc>
                  <a:txBody>
                    <a:bodyPr/>
                    <a:lstStyle/>
                    <a:p>
                      <a:pPr>
                        <a:buNone/>
                      </a:pPr>
                      <a:r>
                        <a:rPr sz="1000" b="0" i="0">
                          <a:solidFill>
                            <a:srgbClr val="000000"/>
                          </a:solidFill>
                          <a:latin typeface="Aptos"/>
                        </a:rPr>
                        <a:t>13</a:t>
                      </a:r>
                    </a:p>
                  </a:txBody>
                  <a:tcPr marL="76200" marR="76200" marT="25400" marB="25400" anchor="ctr">
                    <a:solidFill>
                      <a:srgbClr val="FFFFFF"/>
                    </a:solidFill>
                  </a:tcPr>
                </a:tc>
                <a:tc>
                  <a:txBody>
                    <a:bodyPr/>
                    <a:lstStyle/>
                    <a:p>
                      <a:pPr>
                        <a:buNone/>
                      </a:pPr>
                      <a:r>
                        <a:rPr sz="1000" b="0" i="0">
                          <a:solidFill>
                            <a:srgbClr val="000000"/>
                          </a:solidFill>
                          <a:latin typeface="Aptos"/>
                        </a:rPr>
                        <a:t>Map layouts and figure production</a:t>
                      </a:r>
                    </a:p>
                  </a:txBody>
                  <a:tcPr marL="76200" marR="76200" marT="25400" marB="25400" anchor="ctr">
                    <a:solidFill>
                      <a:srgbClr val="FFFFFF"/>
                    </a:solidFill>
                  </a:tcPr>
                </a:tc>
                <a:tc>
                  <a:txBody>
                    <a:bodyPr/>
                    <a:lstStyle/>
                    <a:p>
                      <a:pPr>
                        <a:buNone/>
                      </a:pPr>
                      <a:r>
                        <a:rPr sz="1000" b="0" i="0">
                          <a:solidFill>
                            <a:srgbClr val="000000"/>
                          </a:solidFill>
                          <a:latin typeface="Aptos"/>
                        </a:rPr>
                        <a:t>0%</a:t>
                      </a:r>
                    </a:p>
                  </a:txBody>
                  <a:tcPr marL="76200" marR="76200" marT="25400" marB="25400" anchor="ctr">
                    <a:solidFill>
                      <a:srgbClr val="FFFFFF"/>
                    </a:solidFill>
                  </a:tcPr>
                </a:tc>
                <a:tc>
                  <a:txBody>
                    <a:bodyPr/>
                    <a:lstStyle/>
                    <a:p>
                      <a:pPr>
                        <a:buNone/>
                      </a:pPr>
                      <a:r>
                        <a:rPr sz="1000" b="0" i="0">
                          <a:solidFill>
                            <a:srgbClr val="555F66"/>
                          </a:solidFill>
                          <a:latin typeface="Aptos"/>
                        </a:rPr>
                        <a:t>–</a:t>
                      </a:r>
                    </a:p>
                  </a:txBody>
                  <a:tcPr marL="76200" marR="76200" marT="25400" marB="25400" anchor="ctr">
                    <a:solidFill>
                      <a:srgbClr val="FFFFFF"/>
                    </a:solidFill>
                  </a:tcPr>
                </a:tc>
              </a:tr>
              <a:tr h="266700">
                <a:tc>
                  <a:txBody>
                    <a:bodyPr/>
                    <a:lstStyle/>
                    <a:p>
                      <a:pPr>
                        <a:buNone/>
                      </a:pPr>
                      <a:r>
                        <a:rPr sz="1000" b="0" i="0">
                          <a:solidFill>
                            <a:srgbClr val="000000"/>
                          </a:solidFill>
                          <a:latin typeface="Aptos"/>
                        </a:rPr>
                        <a:t>14</a:t>
                      </a:r>
                    </a:p>
                  </a:txBody>
                  <a:tcPr marL="76200" marR="76200" marT="25400" marB="25400" anchor="ctr">
                    <a:solidFill>
                      <a:srgbClr val="EEF3F7"/>
                    </a:solidFill>
                  </a:tcPr>
                </a:tc>
                <a:tc>
                  <a:txBody>
                    <a:bodyPr/>
                    <a:lstStyle/>
                    <a:p>
                      <a:pPr>
                        <a:buNone/>
                      </a:pPr>
                      <a:r>
                        <a:rPr sz="1000" b="0" i="0">
                          <a:solidFill>
                            <a:srgbClr val="000000"/>
                          </a:solidFill>
                          <a:latin typeface="Aptos"/>
                        </a:rPr>
                        <a:t>Written report and presentations</a:t>
                      </a:r>
                    </a:p>
                  </a:txBody>
                  <a:tcPr marL="76200" marR="76200" marT="25400" marB="25400" anchor="ctr">
                    <a:solidFill>
                      <a:srgbClr val="EEF3F7"/>
                    </a:solidFill>
                  </a:tcPr>
                </a:tc>
                <a:tc>
                  <a:txBody>
                    <a:bodyPr/>
                    <a:lstStyle/>
                    <a:p>
                      <a:pPr>
                        <a:buNone/>
                      </a:pPr>
                      <a:r>
                        <a:rPr sz="1000" b="0" i="0">
                          <a:solidFill>
                            <a:srgbClr val="000000"/>
                          </a:solidFill>
                          <a:latin typeface="Aptos"/>
                        </a:rPr>
                        <a:t>25%</a:t>
                      </a:r>
                    </a:p>
                  </a:txBody>
                  <a:tcPr marL="76200" marR="76200" marT="25400" marB="25400" anchor="ctr">
                    <a:solidFill>
                      <a:srgbClr val="EEF3F7"/>
                    </a:solidFill>
                  </a:tcPr>
                </a:tc>
                <a:tc>
                  <a:txBody>
                    <a:bodyPr/>
                    <a:lstStyle/>
                    <a:p>
                      <a:pPr>
                        <a:buNone/>
                      </a:pPr>
                      <a:r>
                        <a:rPr sz="1000" b="0" i="0">
                          <a:solidFill>
                            <a:srgbClr val="0E9ED4"/>
                          </a:solidFill>
                          <a:latin typeface="Aptos"/>
                        </a:rPr>
                        <a:t>■■</a:t>
                      </a:r>
                    </a:p>
                  </a:txBody>
                  <a:tcPr marL="76200" marR="76200" marT="25400" marB="25400" anchor="ctr">
                    <a:solidFill>
                      <a:srgbClr val="EEF3F7"/>
                    </a:solidFill>
                  </a:tcPr>
                </a:tc>
              </a:tr>
            </a:tbl>
          </a:graphicData>
        </a:graphic>
      </p:graphicFrame>
      <p:sp>
        <p:nvSpPr>
          <p:cNvPr id="5" name="TextBox 4"/>
          <p:cNvSpPr txBox="1"/>
          <p:nvPr/>
        </p:nvSpPr>
        <p:spPr>
          <a:xfrm>
            <a:off x="825500" y="6121400"/>
            <a:ext cx="10541000" cy="508000"/>
          </a:xfrm>
          <a:prstGeom prst="rect">
            <a:avLst/>
          </a:prstGeom>
          <a:noFill/>
        </p:spPr>
        <p:txBody>
          <a:bodyPr wrap="square" anchor="t" lIns="0" rIns="0" tIns="0" bIns="0">
            <a:spAutoFit/>
          </a:bodyPr>
          <a:lstStyle/>
          <a:p>
            <a:pPr>
              <a:buNone/>
            </a:pPr>
            <a:r>
              <a:rPr sz="1100" b="0" i="1">
                <a:solidFill>
                  <a:srgbClr val="555F66"/>
                </a:solidFill>
                <a:latin typeface="Aptos"/>
              </a:rPr>
              <a:t>Overall completion is approximately 42%. The base mosaic and its derived rasters are the gating tasks — classification, digitizing, and crater counting all wait on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Processing Completed to Date</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5500" y="1676400"/>
          <a:ext cx="10540997" cy="3810000"/>
        </p:xfrm>
        <a:graphic>
          <a:graphicData uri="http://schemas.openxmlformats.org/drawingml/2006/table">
            <a:tbl>
              <a:tblPr firstRow="1">
                <a:tableStyleId>{5C22544A-7EE6-4342-B048-85BDC9FD1C3A}</a:tableStyleId>
              </a:tblPr>
              <a:tblGrid>
                <a:gridCol w="994433"/>
                <a:gridCol w="1988867"/>
                <a:gridCol w="3381075"/>
                <a:gridCol w="4176622"/>
              </a:tblGrid>
              <a:tr h="317500">
                <a:tc>
                  <a:txBody>
                    <a:bodyPr/>
                    <a:lstStyle/>
                    <a:p>
                      <a:pPr>
                        <a:buNone/>
                      </a:pPr>
                      <a:r>
                        <a:rPr sz="1000" b="1" i="0">
                          <a:solidFill>
                            <a:srgbClr val="FFFFFF"/>
                          </a:solidFill>
                          <a:latin typeface="Aptos"/>
                        </a:rPr>
                        <a:t>When</a:t>
                      </a:r>
                    </a:p>
                  </a:txBody>
                  <a:tcPr marL="76200" marR="76200" marT="38100" marB="38100" anchor="ctr">
                    <a:solidFill>
                      <a:srgbClr val="0E2841"/>
                    </a:solidFill>
                  </a:tcPr>
                </a:tc>
                <a:tc>
                  <a:txBody>
                    <a:bodyPr/>
                    <a:lstStyle/>
                    <a:p>
                      <a:pPr>
                        <a:buNone/>
                      </a:pPr>
                      <a:r>
                        <a:rPr sz="1000" b="1" i="0">
                          <a:solidFill>
                            <a:srgbClr val="FFFFFF"/>
                          </a:solidFill>
                          <a:latin typeface="Aptos"/>
                        </a:rPr>
                        <a:t>Tool</a:t>
                      </a:r>
                    </a:p>
                  </a:txBody>
                  <a:tcPr marL="76200" marR="76200" marT="38100" marB="38100" anchor="ctr">
                    <a:solidFill>
                      <a:srgbClr val="0E2841"/>
                    </a:solidFill>
                  </a:tcPr>
                </a:tc>
                <a:tc>
                  <a:txBody>
                    <a:bodyPr/>
                    <a:lstStyle/>
                    <a:p>
                      <a:pPr>
                        <a:buNone/>
                      </a:pPr>
                      <a:r>
                        <a:rPr sz="1000" b="1" i="0">
                          <a:solidFill>
                            <a:srgbClr val="FFFFFF"/>
                          </a:solidFill>
                          <a:latin typeface="Aptos"/>
                        </a:rPr>
                        <a:t>Parameters</a:t>
                      </a:r>
                    </a:p>
                  </a:txBody>
                  <a:tcPr marL="76200" marR="76200" marT="38100" marB="38100" anchor="ctr">
                    <a:solidFill>
                      <a:srgbClr val="0E2841"/>
                    </a:solidFill>
                  </a:tcPr>
                </a:tc>
                <a:tc>
                  <a:txBody>
                    <a:bodyPr/>
                    <a:lstStyle/>
                    <a:p>
                      <a:pPr>
                        <a:buNone/>
                      </a:pPr>
                      <a:r>
                        <a:rPr sz="1000" b="1" i="0">
                          <a:solidFill>
                            <a:srgbClr val="FFFFFF"/>
                          </a:solidFill>
                          <a:latin typeface="Aptos"/>
                        </a:rPr>
                        <a:t>Outcome</a:t>
                      </a:r>
                    </a:p>
                  </a:txBody>
                  <a:tcPr marL="76200" marR="76200" marT="38100" marB="38100" anchor="ctr">
                    <a:solidFill>
                      <a:srgbClr val="0E2841"/>
                    </a:solidFill>
                  </a:tcPr>
                </a:tc>
              </a:tr>
              <a:tr h="317500">
                <a:tc>
                  <a:txBody>
                    <a:bodyPr/>
                    <a:lstStyle/>
                    <a:p>
                      <a:pPr>
                        <a:buNone/>
                      </a:pPr>
                      <a:r>
                        <a:rPr sz="1000" b="0" i="0">
                          <a:solidFill>
                            <a:srgbClr val="000000"/>
                          </a:solidFill>
                          <a:latin typeface="Aptos"/>
                        </a:rPr>
                        <a:t>Sep 8, 18:34</a:t>
                      </a:r>
                    </a:p>
                  </a:txBody>
                  <a:tcPr marL="76200" marR="76200" marT="25400" marB="25400" anchor="ctr">
                    <a:solidFill>
                      <a:srgbClr val="FFFFFF"/>
                    </a:solidFill>
                  </a:tcPr>
                </a:tc>
                <a:tc>
                  <a:txBody>
                    <a:bodyPr/>
                    <a:lstStyle/>
                    <a:p>
                      <a:pPr>
                        <a:buNone/>
                      </a:pPr>
                      <a:r>
                        <a:rPr sz="1000" b="0" i="0">
                          <a:solidFill>
                            <a:srgbClr val="000000"/>
                          </a:solidFill>
                          <a:latin typeface="Aptos"/>
                        </a:rPr>
                        <a:t>Iso Cluster + ML Classify</a:t>
                      </a:r>
                    </a:p>
                  </a:txBody>
                  <a:tcPr marL="76200" marR="76200" marT="25400" marB="25400" anchor="ctr">
                    <a:solidFill>
                      <a:srgbClr val="FFFFFF"/>
                    </a:solidFill>
                  </a:tcPr>
                </a:tc>
                <a:tc>
                  <a:txBody>
                    <a:bodyPr/>
                    <a:lstStyle/>
                    <a:p>
                      <a:pPr>
                        <a:buNone/>
                      </a:pPr>
                      <a:r>
                        <a:rPr sz="1000" b="0" i="0">
                          <a:solidFill>
                            <a:srgbClr val="000000"/>
                          </a:solidFill>
                          <a:latin typeface="Aptos"/>
                        </a:rPr>
                        <a:t>Mercury MESSENGER MDIS 166 m, 10 classes</a:t>
                      </a:r>
                    </a:p>
                  </a:txBody>
                  <a:tcPr marL="76200" marR="76200" marT="25400" marB="25400" anchor="ctr">
                    <a:solidFill>
                      <a:srgbClr val="FFFFFF"/>
                    </a:solidFill>
                  </a:tcPr>
                </a:tc>
                <a:tc>
                  <a:txBody>
                    <a:bodyPr/>
                    <a:lstStyle/>
                    <a:p>
                      <a:pPr>
                        <a:buNone/>
                      </a:pPr>
                      <a:r>
                        <a:rPr sz="1000" b="0" i="0">
                          <a:solidFill>
                            <a:srgbClr val="000000"/>
                          </a:solidFill>
                          <a:latin typeface="Aptos"/>
                        </a:rPr>
                        <a:t>Succeeded — method rehearsal on another body</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Sep 9, 03:35</a:t>
                      </a:r>
                    </a:p>
                  </a:txBody>
                  <a:tcPr marL="76200" marR="76200" marT="25400" marB="25400" anchor="ctr">
                    <a:solidFill>
                      <a:srgbClr val="EEF3F7"/>
                    </a:solidFill>
                  </a:tcPr>
                </a:tc>
                <a:tc>
                  <a:txBody>
                    <a:bodyPr/>
                    <a:lstStyle/>
                    <a:p>
                      <a:pPr>
                        <a:buNone/>
                      </a:pPr>
                      <a:r>
                        <a:rPr sz="1000" b="0" i="0">
                          <a:solidFill>
                            <a:srgbClr val="000000"/>
                          </a:solidFill>
                          <a:latin typeface="Aptos"/>
                        </a:rPr>
                        <a:t>Segment Mean Shift</a:t>
                      </a:r>
                    </a:p>
                  </a:txBody>
                  <a:tcPr marL="76200" marR="76200" marT="25400" marB="25400" anchor="ctr">
                    <a:solidFill>
                      <a:srgbClr val="EEF3F7"/>
                    </a:solidFill>
                  </a:tcPr>
                </a:tc>
                <a:tc>
                  <a:txBody>
                    <a:bodyPr/>
                    <a:lstStyle/>
                    <a:p>
                      <a:pPr>
                        <a:buNone/>
                      </a:pPr>
                      <a:r>
                        <a:rPr sz="1000" b="0" i="0">
                          <a:solidFill>
                            <a:srgbClr val="000000"/>
                          </a:solidFill>
                          <a:latin typeface="Aptos"/>
                        </a:rPr>
                        <a:t>Spectral detail 20, spatial detail 20, min segment 5 px</a:t>
                      </a:r>
                    </a:p>
                  </a:txBody>
                  <a:tcPr marL="76200" marR="76200" marT="25400" marB="25400" anchor="ctr">
                    <a:solidFill>
                      <a:srgbClr val="EEF3F7"/>
                    </a:solidFill>
                  </a:tcPr>
                </a:tc>
                <a:tc>
                  <a:txBody>
                    <a:bodyPr/>
                    <a:lstStyle/>
                    <a:p>
                      <a:pPr>
                        <a:buNone/>
                      </a:pPr>
                      <a:r>
                        <a:rPr sz="1000" b="0" i="0">
                          <a:solidFill>
                            <a:srgbClr val="000000"/>
                          </a:solidFill>
                          <a:latin typeface="Aptos"/>
                        </a:rPr>
                        <a:t>Succeeded</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Sep 9, 11:52</a:t>
                      </a:r>
                    </a:p>
                  </a:txBody>
                  <a:tcPr marL="76200" marR="76200" marT="25400" marB="25400" anchor="ctr">
                    <a:solidFill>
                      <a:srgbClr val="FFFFFF"/>
                    </a:solidFill>
                  </a:tcPr>
                </a:tc>
                <a:tc>
                  <a:txBody>
                    <a:bodyPr/>
                    <a:lstStyle/>
                    <a:p>
                      <a:pPr>
                        <a:buNone/>
                      </a:pPr>
                      <a:r>
                        <a:rPr sz="1000" b="0" i="0">
                          <a:solidFill>
                            <a:srgbClr val="000000"/>
                          </a:solidFill>
                          <a:latin typeface="Aptos"/>
                        </a:rPr>
                        <a:t>Composite Bands</a:t>
                      </a:r>
                    </a:p>
                  </a:txBody>
                  <a:tcPr marL="76200" marR="76200" marT="25400" marB="25400" anchor="ctr">
                    <a:solidFill>
                      <a:srgbClr val="FFFFFF"/>
                    </a:solidFill>
                  </a:tcPr>
                </a:tc>
                <a:tc>
                  <a:txBody>
                    <a:bodyPr/>
                    <a:lstStyle/>
                    <a:p>
                      <a:pPr>
                        <a:buNone/>
                      </a:pPr>
                      <a:r>
                        <a:rPr sz="1000" b="0" i="0">
                          <a:solidFill>
                            <a:srgbClr val="000000"/>
                          </a:solidFill>
                          <a:latin typeface="Aptos"/>
                        </a:rPr>
                        <a:t>Global extent</a:t>
                      </a:r>
                    </a:p>
                  </a:txBody>
                  <a:tcPr marL="76200" marR="76200" marT="25400" marB="25400" anchor="ctr">
                    <a:solidFill>
                      <a:srgbClr val="FFFFFF"/>
                    </a:solidFill>
                  </a:tcPr>
                </a:tc>
                <a:tc>
                  <a:txBody>
                    <a:bodyPr/>
                    <a:lstStyle/>
                    <a:p>
                      <a:pPr>
                        <a:buNone/>
                      </a:pPr>
                      <a:r>
                        <a:rPr sz="1000" b="0" i="0">
                          <a:solidFill>
                            <a:srgbClr val="000000"/>
                          </a:solidFill>
                          <a:latin typeface="Aptos"/>
                        </a:rPr>
                        <a:t>Failed — cancelled after 47 min 57 s</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Sep 9, 12:43</a:t>
                      </a:r>
                    </a:p>
                  </a:txBody>
                  <a:tcPr marL="76200" marR="76200" marT="25400" marB="25400" anchor="ctr">
                    <a:solidFill>
                      <a:srgbClr val="EEF3F7"/>
                    </a:solidFill>
                  </a:tcPr>
                </a:tc>
                <a:tc>
                  <a:txBody>
                    <a:bodyPr/>
                    <a:lstStyle/>
                    <a:p>
                      <a:pPr>
                        <a:buNone/>
                      </a:pPr>
                      <a:r>
                        <a:rPr sz="1000" b="0" i="0">
                          <a:solidFill>
                            <a:srgbClr val="000000"/>
                          </a:solidFill>
                          <a:latin typeface="Aptos"/>
                        </a:rPr>
                        <a:t>Composite Bands</a:t>
                      </a:r>
                    </a:p>
                  </a:txBody>
                  <a:tcPr marL="76200" marR="76200" marT="25400" marB="25400" anchor="ctr">
                    <a:solidFill>
                      <a:srgbClr val="EEF3F7"/>
                    </a:solidFill>
                  </a:tcPr>
                </a:tc>
                <a:tc>
                  <a:txBody>
                    <a:bodyPr/>
                    <a:lstStyle/>
                    <a:p>
                      <a:pPr>
                        <a:buNone/>
                      </a:pPr>
                      <a:r>
                        <a:rPr sz="1000" b="0" i="0">
                          <a:solidFill>
                            <a:srgbClr val="000000"/>
                          </a:solidFill>
                          <a:latin typeface="Aptos"/>
                        </a:rPr>
                        <a:t>Retry</a:t>
                      </a:r>
                    </a:p>
                  </a:txBody>
                  <a:tcPr marL="76200" marR="76200" marT="25400" marB="25400" anchor="ctr">
                    <a:solidFill>
                      <a:srgbClr val="EEF3F7"/>
                    </a:solidFill>
                  </a:tcPr>
                </a:tc>
                <a:tc>
                  <a:txBody>
                    <a:bodyPr/>
                    <a:lstStyle/>
                    <a:p>
                      <a:pPr>
                        <a:buNone/>
                      </a:pPr>
                      <a:r>
                        <a:rPr sz="1000" b="0" i="0">
                          <a:solidFill>
                            <a:srgbClr val="000000"/>
                          </a:solidFill>
                          <a:latin typeface="Aptos"/>
                        </a:rPr>
                        <a:t>Failed — cancelled after 1 min 41 s</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Sep 9, 12:44</a:t>
                      </a:r>
                    </a:p>
                  </a:txBody>
                  <a:tcPr marL="76200" marR="76200" marT="25400" marB="25400" anchor="ctr">
                    <a:solidFill>
                      <a:srgbClr val="FFFFFF"/>
                    </a:solidFill>
                  </a:tcPr>
                </a:tc>
                <a:tc>
                  <a:txBody>
                    <a:bodyPr/>
                    <a:lstStyle/>
                    <a:p>
                      <a:pPr>
                        <a:buNone/>
                      </a:pPr>
                      <a:r>
                        <a:rPr sz="1000" b="0" i="0">
                          <a:solidFill>
                            <a:srgbClr val="000000"/>
                          </a:solidFill>
                          <a:latin typeface="Aptos"/>
                        </a:rPr>
                        <a:t>Composite Bands</a:t>
                      </a:r>
                    </a:p>
                  </a:txBody>
                  <a:tcPr marL="76200" marR="76200" marT="25400" marB="25400" anchor="ctr">
                    <a:solidFill>
                      <a:srgbClr val="FFFFFF"/>
                    </a:solidFill>
                  </a:tcPr>
                </a:tc>
                <a:tc>
                  <a:txBody>
                    <a:bodyPr/>
                    <a:lstStyle/>
                    <a:p>
                      <a:pPr>
                        <a:buNone/>
                      </a:pPr>
                      <a:r>
                        <a:rPr sz="1000" b="0" i="0">
                          <a:solidFill>
                            <a:srgbClr val="000000"/>
                          </a:solidFill>
                          <a:latin typeface="Aptos"/>
                        </a:rPr>
                        <a:t>Retry</a:t>
                      </a:r>
                    </a:p>
                  </a:txBody>
                  <a:tcPr marL="76200" marR="76200" marT="25400" marB="25400" anchor="ctr">
                    <a:solidFill>
                      <a:srgbClr val="FFFFFF"/>
                    </a:solidFill>
                  </a:tcPr>
                </a:tc>
                <a:tc>
                  <a:txBody>
                    <a:bodyPr/>
                    <a:lstStyle/>
                    <a:p>
                      <a:pPr>
                        <a:buNone/>
                      </a:pPr>
                      <a:r>
                        <a:rPr sz="1000" b="0" i="0">
                          <a:solidFill>
                            <a:srgbClr val="000000"/>
                          </a:solidFill>
                          <a:latin typeface="Aptos"/>
                        </a:rPr>
                        <a:t>Failed — cancelled after 1 h 14 min 51 s</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Sep 10, 19:44</a:t>
                      </a:r>
                    </a:p>
                  </a:txBody>
                  <a:tcPr marL="76200" marR="76200" marT="25400" marB="25400" anchor="ctr">
                    <a:solidFill>
                      <a:srgbClr val="EEF3F7"/>
                    </a:solidFill>
                  </a:tcPr>
                </a:tc>
                <a:tc>
                  <a:txBody>
                    <a:bodyPr/>
                    <a:lstStyle/>
                    <a:p>
                      <a:pPr>
                        <a:buNone/>
                      </a:pPr>
                      <a:r>
                        <a:rPr sz="1000" b="0" i="0">
                          <a:solidFill>
                            <a:srgbClr val="000000"/>
                          </a:solidFill>
                          <a:latin typeface="Aptos"/>
                        </a:rPr>
                        <a:t>Slope → Slope_Mars_H1</a:t>
                      </a:r>
                    </a:p>
                  </a:txBody>
                  <a:tcPr marL="76200" marR="76200" marT="25400" marB="25400" anchor="ctr">
                    <a:solidFill>
                      <a:srgbClr val="EEF3F7"/>
                    </a:solidFill>
                  </a:tcPr>
                </a:tc>
                <a:tc>
                  <a:txBody>
                    <a:bodyPr/>
                    <a:lstStyle/>
                    <a:p>
                      <a:pPr>
                        <a:buNone/>
                      </a:pPr>
                      <a:r>
                        <a:rPr sz="1000" b="0" i="0">
                          <a:solidFill>
                            <a:srgbClr val="000000"/>
                          </a:solidFill>
                          <a:latin typeface="Aptos"/>
                        </a:rPr>
                        <a:t>HRSC/MOLA DEM, percent rise, z-factor 1, planar</a:t>
                      </a:r>
                    </a:p>
                  </a:txBody>
                  <a:tcPr marL="76200" marR="76200" marT="25400" marB="25400" anchor="ctr">
                    <a:solidFill>
                      <a:srgbClr val="EEF3F7"/>
                    </a:solidFill>
                  </a:tcPr>
                </a:tc>
                <a:tc>
                  <a:txBody>
                    <a:bodyPr/>
                    <a:lstStyle/>
                    <a:p>
                      <a:pPr>
                        <a:buNone/>
                      </a:pPr>
                      <a:r>
                        <a:rPr sz="1000" b="0" i="0">
                          <a:solidFill>
                            <a:srgbClr val="000000"/>
                          </a:solidFill>
                          <a:latin typeface="Aptos"/>
                        </a:rPr>
                        <a:t>Succeeded in 7 min 15 s — WARNING 000869 (Z units undefined)</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Sep 11, 12:03</a:t>
                      </a:r>
                    </a:p>
                  </a:txBody>
                  <a:tcPr marL="76200" marR="76200" marT="25400" marB="25400" anchor="ctr">
                    <a:solidFill>
                      <a:srgbClr val="FFFFFF"/>
                    </a:solidFill>
                  </a:tcPr>
                </a:tc>
                <a:tc>
                  <a:txBody>
                    <a:bodyPr/>
                    <a:lstStyle/>
                    <a:p>
                      <a:pPr>
                        <a:buNone/>
                      </a:pPr>
                      <a:r>
                        <a:rPr sz="1000" b="0" i="0">
                          <a:solidFill>
                            <a:srgbClr val="000000"/>
                          </a:solidFill>
                          <a:latin typeface="Aptos"/>
                        </a:rPr>
                        <a:t>Slope → Slope_Mars_M1</a:t>
                      </a:r>
                    </a:p>
                  </a:txBody>
                  <a:tcPr marL="76200" marR="76200" marT="25400" marB="25400" anchor="ctr">
                    <a:solidFill>
                      <a:srgbClr val="FFFFFF"/>
                    </a:solidFill>
                  </a:tcPr>
                </a:tc>
                <a:tc>
                  <a:txBody>
                    <a:bodyPr/>
                    <a:lstStyle/>
                    <a:p>
                      <a:pPr>
                        <a:buNone/>
                      </a:pPr>
                      <a:r>
                        <a:rPr sz="1000" b="0" i="0">
                          <a:solidFill>
                            <a:srgbClr val="000000"/>
                          </a:solidFill>
                          <a:latin typeface="Aptos"/>
                        </a:rPr>
                        <a:t>THEMIS Day IR, percent rise, z-factor 1, planar</a:t>
                      </a:r>
                    </a:p>
                  </a:txBody>
                  <a:tcPr marL="76200" marR="76200" marT="25400" marB="25400" anchor="ctr">
                    <a:solidFill>
                      <a:srgbClr val="FFFFFF"/>
                    </a:solidFill>
                  </a:tcPr>
                </a:tc>
                <a:tc>
                  <a:txBody>
                    <a:bodyPr/>
                    <a:lstStyle/>
                    <a:p>
                      <a:pPr>
                        <a:buNone/>
                      </a:pPr>
                      <a:r>
                        <a:rPr sz="1000" b="0" i="0">
                          <a:solidFill>
                            <a:srgbClr val="000000"/>
                          </a:solidFill>
                          <a:latin typeface="Aptos"/>
                        </a:rPr>
                        <a:t>Succeeded</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Sep 11, 12:24</a:t>
                      </a:r>
                    </a:p>
                  </a:txBody>
                  <a:tcPr marL="76200" marR="76200" marT="25400" marB="25400" anchor="ctr">
                    <a:solidFill>
                      <a:srgbClr val="EEF3F7"/>
                    </a:solidFill>
                  </a:tcPr>
                </a:tc>
                <a:tc>
                  <a:txBody>
                    <a:bodyPr/>
                    <a:lstStyle/>
                    <a:p>
                      <a:pPr>
                        <a:buNone/>
                      </a:pPr>
                      <a:r>
                        <a:rPr sz="1000" b="0" i="0">
                          <a:solidFill>
                            <a:srgbClr val="000000"/>
                          </a:solidFill>
                          <a:latin typeface="Aptos"/>
                        </a:rPr>
                        <a:t>Surface Parameters → Surface_Mars1</a:t>
                      </a:r>
                    </a:p>
                  </a:txBody>
                  <a:tcPr marL="76200" marR="76200" marT="25400" marB="25400" anchor="ctr">
                    <a:solidFill>
                      <a:srgbClr val="EEF3F7"/>
                    </a:solidFill>
                  </a:tcPr>
                </a:tc>
                <a:tc>
                  <a:txBody>
                    <a:bodyPr/>
                    <a:lstStyle/>
                    <a:p>
                      <a:pPr>
                        <a:buNone/>
                      </a:pPr>
                      <a:r>
                        <a:rPr sz="1000" b="0" i="0">
                          <a:solidFill>
                            <a:srgbClr val="000000"/>
                          </a:solidFill>
                          <a:latin typeface="Aptos"/>
                        </a:rPr>
                        <a:t>Viking MDIM, slope, quadratic, 231.54 m fixed neighborhood</a:t>
                      </a:r>
                    </a:p>
                  </a:txBody>
                  <a:tcPr marL="76200" marR="76200" marT="25400" marB="25400" anchor="ctr">
                    <a:solidFill>
                      <a:srgbClr val="EEF3F7"/>
                    </a:solidFill>
                  </a:tcPr>
                </a:tc>
                <a:tc>
                  <a:txBody>
                    <a:bodyPr/>
                    <a:lstStyle/>
                    <a:p>
                      <a:pPr>
                        <a:buNone/>
                      </a:pPr>
                      <a:r>
                        <a:rPr sz="1000" b="0" i="0">
                          <a:solidFill>
                            <a:srgbClr val="000000"/>
                          </a:solidFill>
                          <a:latin typeface="Aptos"/>
                        </a:rPr>
                        <a:t>Succeeded in 1 h 26 min 45 s</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Sep 11, 20:34</a:t>
                      </a:r>
                    </a:p>
                  </a:txBody>
                  <a:tcPr marL="76200" marR="76200" marT="25400" marB="25400" anchor="ctr">
                    <a:solidFill>
                      <a:srgbClr val="FFFFFF"/>
                    </a:solidFill>
                  </a:tcPr>
                </a:tc>
                <a:tc>
                  <a:txBody>
                    <a:bodyPr/>
                    <a:lstStyle/>
                    <a:p>
                      <a:pPr>
                        <a:buNone/>
                      </a:pPr>
                      <a:r>
                        <a:rPr sz="1000" b="0" i="0">
                          <a:solidFill>
                            <a:srgbClr val="000000"/>
                          </a:solidFill>
                          <a:latin typeface="Aptos"/>
                        </a:rPr>
                        <a:t>Slope → Slope_Mars_V1</a:t>
                      </a:r>
                    </a:p>
                  </a:txBody>
                  <a:tcPr marL="76200" marR="76200" marT="25400" marB="25400" anchor="ctr">
                    <a:solidFill>
                      <a:srgbClr val="FFFFFF"/>
                    </a:solidFill>
                  </a:tcPr>
                </a:tc>
                <a:tc>
                  <a:txBody>
                    <a:bodyPr/>
                    <a:lstStyle/>
                    <a:p>
                      <a:pPr>
                        <a:buNone/>
                      </a:pPr>
                      <a:r>
                        <a:rPr sz="1000" b="0" i="0">
                          <a:solidFill>
                            <a:srgbClr val="000000"/>
                          </a:solidFill>
                          <a:latin typeface="Aptos"/>
                        </a:rPr>
                        <a:t>Viking MDIM, percent rise, GPU then CPU</a:t>
                      </a:r>
                    </a:p>
                  </a:txBody>
                  <a:tcPr marL="76200" marR="76200" marT="25400" marB="25400" anchor="ctr">
                    <a:solidFill>
                      <a:srgbClr val="FFFFFF"/>
                    </a:solidFill>
                  </a:tcPr>
                </a:tc>
                <a:tc>
                  <a:txBody>
                    <a:bodyPr/>
                    <a:lstStyle/>
                    <a:p>
                      <a:pPr>
                        <a:buNone/>
                      </a:pPr>
                      <a:r>
                        <a:rPr sz="1000" b="0" i="0">
                          <a:solidFill>
                            <a:srgbClr val="000000"/>
                          </a:solidFill>
                          <a:latin typeface="Aptos"/>
                        </a:rPr>
                        <a:t>Succeeded in 1 h 05 min 01 s — no compatible GPU detected, ran on CPU</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Sep 13, 03:03</a:t>
                      </a:r>
                    </a:p>
                  </a:txBody>
                  <a:tcPr marL="76200" marR="76200" marT="25400" marB="25400" anchor="ctr">
                    <a:solidFill>
                      <a:srgbClr val="EEF3F7"/>
                    </a:solidFill>
                  </a:tcPr>
                </a:tc>
                <a:tc>
                  <a:txBody>
                    <a:bodyPr/>
                    <a:lstStyle/>
                    <a:p>
                      <a:pPr>
                        <a:buNone/>
                      </a:pPr>
                      <a:r>
                        <a:rPr sz="1000" b="0" i="0">
                          <a:solidFill>
                            <a:srgbClr val="000000"/>
                          </a:solidFill>
                          <a:latin typeface="Aptos"/>
                        </a:rPr>
                        <a:t>Hillshade → HillSha_Mars1</a:t>
                      </a:r>
                    </a:p>
                  </a:txBody>
                  <a:tcPr marL="76200" marR="76200" marT="25400" marB="25400" anchor="ctr">
                    <a:solidFill>
                      <a:srgbClr val="EEF3F7"/>
                    </a:solidFill>
                  </a:tcPr>
                </a:tc>
                <a:tc>
                  <a:txBody>
                    <a:bodyPr/>
                    <a:lstStyle/>
                    <a:p>
                      <a:pPr>
                        <a:buNone/>
                      </a:pPr>
                      <a:r>
                        <a:rPr sz="1000" b="0" i="0">
                          <a:solidFill>
                            <a:srgbClr val="000000"/>
                          </a:solidFill>
                          <a:latin typeface="Aptos"/>
                        </a:rPr>
                        <a:t>HRSC/MOLA DEM, azimuth 225°, altitude 45°, shadows</a:t>
                      </a:r>
                    </a:p>
                  </a:txBody>
                  <a:tcPr marL="76200" marR="76200" marT="25400" marB="25400" anchor="ctr">
                    <a:solidFill>
                      <a:srgbClr val="EEF3F7"/>
                    </a:solidFill>
                  </a:tcPr>
                </a:tc>
                <a:tc>
                  <a:txBody>
                    <a:bodyPr/>
                    <a:lstStyle/>
                    <a:p>
                      <a:pPr>
                        <a:buNone/>
                      </a:pPr>
                      <a:r>
                        <a:rPr sz="1000" b="0" i="0">
                          <a:solidFill>
                            <a:srgbClr val="000000"/>
                          </a:solidFill>
                          <a:latin typeface="Aptos"/>
                        </a:rPr>
                        <a:t>Succeeded in 11 min 42 s — WARNING 000869 (Z units undefined)</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Sep 13, 14:48</a:t>
                      </a:r>
                    </a:p>
                  </a:txBody>
                  <a:tcPr marL="76200" marR="76200" marT="25400" marB="25400" anchor="ctr">
                    <a:solidFill>
                      <a:srgbClr val="FFFFFF"/>
                    </a:solidFill>
                  </a:tcPr>
                </a:tc>
                <a:tc>
                  <a:txBody>
                    <a:bodyPr/>
                    <a:lstStyle/>
                    <a:p>
                      <a:pPr>
                        <a:buNone/>
                      </a:pPr>
                      <a:r>
                        <a:rPr sz="1000" b="0" i="0">
                          <a:solidFill>
                            <a:srgbClr val="000000"/>
                          </a:solidFill>
                          <a:latin typeface="Aptos"/>
                        </a:rPr>
                        <a:t>Composite Bands</a:t>
                      </a:r>
                    </a:p>
                  </a:txBody>
                  <a:tcPr marL="76200" marR="76200" marT="25400" marB="25400" anchor="ctr">
                    <a:solidFill>
                      <a:srgbClr val="FFFFFF"/>
                    </a:solidFill>
                  </a:tcPr>
                </a:tc>
                <a:tc>
                  <a:txBody>
                    <a:bodyPr/>
                    <a:lstStyle/>
                    <a:p>
                      <a:pPr>
                        <a:buNone/>
                      </a:pPr>
                      <a:r>
                        <a:rPr sz="1000" b="0" i="0">
                          <a:solidFill>
                            <a:srgbClr val="000000"/>
                          </a:solidFill>
                          <a:latin typeface="Aptos"/>
                        </a:rPr>
                        <a:t>Global extent, first input Slope_Mars_V1</a:t>
                      </a:r>
                    </a:p>
                  </a:txBody>
                  <a:tcPr marL="76200" marR="76200" marT="25400" marB="25400" anchor="ctr">
                    <a:solidFill>
                      <a:srgbClr val="FFFFFF"/>
                    </a:solidFill>
                  </a:tcPr>
                </a:tc>
                <a:tc>
                  <a:txBody>
                    <a:bodyPr/>
                    <a:lstStyle/>
                    <a:p>
                      <a:pPr>
                        <a:buNone/>
                      </a:pPr>
                      <a:r>
                        <a:rPr sz="1000" b="0" i="0">
                          <a:solidFill>
                            <a:srgbClr val="000000"/>
                          </a:solidFill>
                          <a:latin typeface="Aptos"/>
                        </a:rPr>
                        <a:t>Did not complete — output registered, no raster data written</a:t>
                      </a:r>
                    </a:p>
                  </a:txBody>
                  <a:tcPr marL="76200" marR="76200" marT="25400" marB="25400" anchor="ctr">
                    <a:solidFill>
                      <a:srgbClr val="FFFFFF"/>
                    </a:solidFill>
                  </a:tcPr>
                </a:tc>
              </a:tr>
            </a:tbl>
          </a:graphicData>
        </a:graphic>
      </p:graphicFrame>
      <p:sp>
        <p:nvSpPr>
          <p:cNvPr id="5" name="TextBox 4"/>
          <p:cNvSpPr txBox="1"/>
          <p:nvPr/>
        </p:nvSpPr>
        <p:spPr>
          <a:xfrm>
            <a:off x="825500" y="5588000"/>
            <a:ext cx="10541000" cy="508000"/>
          </a:xfrm>
          <a:prstGeom prst="rect">
            <a:avLst/>
          </a:prstGeom>
          <a:noFill/>
        </p:spPr>
        <p:txBody>
          <a:bodyPr wrap="square" anchor="t" lIns="0" rIns="0" tIns="0" bIns="0">
            <a:spAutoFit/>
          </a:bodyPr>
          <a:lstStyle/>
          <a:p>
            <a:pPr>
              <a:buNone/>
            </a:pPr>
            <a:r>
              <a:rPr sz="1100" b="0" i="1">
                <a:solidFill>
                  <a:srgbClr val="555F66"/>
                </a:solidFill>
                <a:latin typeface="Aptos"/>
              </a:rPr>
              <a:t>Recovered from the geoprocessing lineage and tool logs in the project geodatabase — the actual run history, failures included.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Relevant Spectral Bands</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5500" y="1676400"/>
          <a:ext cx="10540999" cy="3175000"/>
        </p:xfrm>
        <a:graphic>
          <a:graphicData uri="http://schemas.openxmlformats.org/drawingml/2006/table">
            <a:tbl>
              <a:tblPr firstRow="1">
                <a:tableStyleId>{5C22544A-7EE6-4342-B048-85BDC9FD1C3A}</a:tableStyleId>
              </a:tblPr>
              <a:tblGrid>
                <a:gridCol w="2279135"/>
                <a:gridCol w="1614387"/>
                <a:gridCol w="6647477"/>
              </a:tblGrid>
              <a:tr h="317500">
                <a:tc>
                  <a:txBody>
                    <a:bodyPr/>
                    <a:lstStyle/>
                    <a:p>
                      <a:pPr>
                        <a:buNone/>
                      </a:pPr>
                      <a:r>
                        <a:rPr sz="1000" b="1" i="0">
                          <a:solidFill>
                            <a:srgbClr val="FFFFFF"/>
                          </a:solidFill>
                          <a:latin typeface="Aptos"/>
                        </a:rPr>
                        <a:t>Band or product</a:t>
                      </a:r>
                    </a:p>
                  </a:txBody>
                  <a:tcPr marL="76200" marR="76200" marT="38100" marB="38100" anchor="ctr">
                    <a:solidFill>
                      <a:srgbClr val="0E2841"/>
                    </a:solidFill>
                  </a:tcPr>
                </a:tc>
                <a:tc>
                  <a:txBody>
                    <a:bodyPr/>
                    <a:lstStyle/>
                    <a:p>
                      <a:pPr>
                        <a:buNone/>
                      </a:pPr>
                      <a:r>
                        <a:rPr sz="1000" b="1" i="0">
                          <a:solidFill>
                            <a:srgbClr val="FFFFFF"/>
                          </a:solidFill>
                          <a:latin typeface="Aptos"/>
                        </a:rPr>
                        <a:t>Wavelength</a:t>
                      </a:r>
                    </a:p>
                  </a:txBody>
                  <a:tcPr marL="76200" marR="76200" marT="38100" marB="38100" anchor="ctr">
                    <a:solidFill>
                      <a:srgbClr val="0E2841"/>
                    </a:solidFill>
                  </a:tcPr>
                </a:tc>
                <a:tc>
                  <a:txBody>
                    <a:bodyPr/>
                    <a:lstStyle/>
                    <a:p>
                      <a:pPr>
                        <a:buNone/>
                      </a:pPr>
                      <a:r>
                        <a:rPr sz="1000" b="1" i="0">
                          <a:solidFill>
                            <a:srgbClr val="FFFFFF"/>
                          </a:solidFill>
                          <a:latin typeface="Aptos"/>
                        </a:rPr>
                        <a:t>Why this band</a:t>
                      </a:r>
                    </a:p>
                  </a:txBody>
                  <a:tcPr marL="76200" marR="76200" marT="38100" marB="38100" anchor="ctr">
                    <a:solidFill>
                      <a:srgbClr val="0E2841"/>
                    </a:solidFill>
                  </a:tcPr>
                </a:tc>
              </a:tr>
              <a:tr h="317500">
                <a:tc>
                  <a:txBody>
                    <a:bodyPr/>
                    <a:lstStyle/>
                    <a:p>
                      <a:pPr>
                        <a:buNone/>
                      </a:pPr>
                      <a:r>
                        <a:rPr sz="1000" b="0" i="0">
                          <a:solidFill>
                            <a:srgbClr val="000000"/>
                          </a:solidFill>
                          <a:latin typeface="Aptos"/>
                        </a:rPr>
                        <a:t>THEMIS Day IR (v12 mosaic)</a:t>
                      </a:r>
                    </a:p>
                  </a:txBody>
                  <a:tcPr marL="76200" marR="76200" marT="25400" marB="25400" anchor="ctr">
                    <a:solidFill>
                      <a:srgbClr val="FFFFFF"/>
                    </a:solidFill>
                  </a:tcPr>
                </a:tc>
                <a:tc>
                  <a:txBody>
                    <a:bodyPr/>
                    <a:lstStyle/>
                    <a:p>
                      <a:pPr>
                        <a:buNone/>
                      </a:pPr>
                      <a:r>
                        <a:rPr sz="1000" b="0" i="0">
                          <a:solidFill>
                            <a:srgbClr val="000000"/>
                          </a:solidFill>
                          <a:latin typeface="Aptos"/>
                        </a:rPr>
                        <a:t>6.8–14.9 µm</a:t>
                      </a:r>
                    </a:p>
                  </a:txBody>
                  <a:tcPr marL="76200" marR="76200" marT="25400" marB="25400" anchor="ctr">
                    <a:solidFill>
                      <a:srgbClr val="FFFFFF"/>
                    </a:solidFill>
                  </a:tcPr>
                </a:tc>
                <a:tc>
                  <a:txBody>
                    <a:bodyPr/>
                    <a:lstStyle/>
                    <a:p>
                      <a:pPr>
                        <a:buNone/>
                      </a:pPr>
                      <a:r>
                        <a:rPr sz="1000" b="0" i="0">
                          <a:solidFill>
                            <a:srgbClr val="000000"/>
                          </a:solidFill>
                          <a:latin typeface="Aptos"/>
                        </a:rPr>
                        <a:t>The global morphology and composition base; the highest-resolution global layer held, at 100 m</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Viking MDIM 2.1 band 1 (red)</a:t>
                      </a:r>
                    </a:p>
                  </a:txBody>
                  <a:tcPr marL="76200" marR="76200" marT="25400" marB="25400" anchor="ctr">
                    <a:solidFill>
                      <a:srgbClr val="EEF3F7"/>
                    </a:solidFill>
                  </a:tcPr>
                </a:tc>
                <a:tc>
                  <a:txBody>
                    <a:bodyPr/>
                    <a:lstStyle/>
                    <a:p>
                      <a:pPr>
                        <a:buNone/>
                      </a:pPr>
                      <a:r>
                        <a:rPr sz="1000" b="0" i="0">
                          <a:solidFill>
                            <a:srgbClr val="000000"/>
                          </a:solidFill>
                          <a:latin typeface="Aptos"/>
                        </a:rPr>
                        <a:t>≈ 0.59 µm</a:t>
                      </a:r>
                    </a:p>
                  </a:txBody>
                  <a:tcPr marL="76200" marR="76200" marT="25400" marB="25400" anchor="ctr">
                    <a:solidFill>
                      <a:srgbClr val="EEF3F7"/>
                    </a:solidFill>
                  </a:tcPr>
                </a:tc>
                <a:tc>
                  <a:txBody>
                    <a:bodyPr/>
                    <a:lstStyle/>
                    <a:p>
                      <a:pPr>
                        <a:buNone/>
                      </a:pPr>
                      <a:r>
                        <a:rPr sz="1000" b="0" i="0">
                          <a:solidFill>
                            <a:srgbClr val="000000"/>
                          </a:solidFill>
                          <a:latin typeface="Aptos"/>
                        </a:rPr>
                        <a:t>Best contrast between ferric dust and darker basaltic surfaces</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Viking MDIM 2.1 bands 1/2/3</a:t>
                      </a:r>
                    </a:p>
                  </a:txBody>
                  <a:tcPr marL="76200" marR="76200" marT="25400" marB="25400" anchor="ctr">
                    <a:solidFill>
                      <a:srgbClr val="FFFFFF"/>
                    </a:solidFill>
                  </a:tcPr>
                </a:tc>
                <a:tc>
                  <a:txBody>
                    <a:bodyPr/>
                    <a:lstStyle/>
                    <a:p>
                      <a:pPr>
                        <a:buNone/>
                      </a:pPr>
                      <a:r>
                        <a:rPr sz="1000" b="0" i="0">
                          <a:solidFill>
                            <a:srgbClr val="000000"/>
                          </a:solidFill>
                          <a:latin typeface="Aptos"/>
                        </a:rPr>
                        <a:t>visible RGB</a:t>
                      </a:r>
                    </a:p>
                  </a:txBody>
                  <a:tcPr marL="76200" marR="76200" marT="25400" marB="25400" anchor="ctr">
                    <a:solidFill>
                      <a:srgbClr val="FFFFFF"/>
                    </a:solidFill>
                  </a:tcPr>
                </a:tc>
                <a:tc>
                  <a:txBody>
                    <a:bodyPr/>
                    <a:lstStyle/>
                    <a:p>
                      <a:pPr>
                        <a:buNone/>
                      </a:pPr>
                      <a:r>
                        <a:rPr sz="1000" b="0" i="0">
                          <a:solidFill>
                            <a:srgbClr val="000000"/>
                          </a:solidFill>
                          <a:latin typeface="Aptos"/>
                        </a:rPr>
                        <a:t>Natural-colour context and unit boundary confirmation; currently displayed with a 0.5% min-max stretch</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HRSC/MOLA elevation</a:t>
                      </a:r>
                    </a:p>
                  </a:txBody>
                  <a:tcPr marL="76200" marR="76200" marT="25400" marB="25400" anchor="ctr">
                    <a:solidFill>
                      <a:srgbClr val="EEF3F7"/>
                    </a:solidFill>
                  </a:tcPr>
                </a:tc>
                <a:tc>
                  <a:txBody>
                    <a:bodyPr/>
                    <a:lstStyle/>
                    <a:p>
                      <a:pPr>
                        <a:buNone/>
                      </a:pPr>
                      <a:r>
                        <a:rPr sz="1000" b="0" i="0">
                          <a:solidFill>
                            <a:srgbClr val="000000"/>
                          </a:solidFill>
                          <a:latin typeface="Aptos"/>
                        </a:rPr>
                        <a:t>n/a (altimetry)</a:t>
                      </a:r>
                    </a:p>
                  </a:txBody>
                  <a:tcPr marL="76200" marR="76200" marT="25400" marB="25400" anchor="ctr">
                    <a:solidFill>
                      <a:srgbClr val="EEF3F7"/>
                    </a:solidFill>
                  </a:tcPr>
                </a:tc>
                <a:tc>
                  <a:txBody>
                    <a:bodyPr/>
                    <a:lstStyle/>
                    <a:p>
                      <a:pPr>
                        <a:buNone/>
                      </a:pPr>
                      <a:r>
                        <a:rPr sz="1000" b="0" i="0">
                          <a:solidFill>
                            <a:srgbClr val="000000"/>
                          </a:solidFill>
                          <a:latin typeface="Aptos"/>
                        </a:rPr>
                        <a:t>Absolute elevation; the vertical reference for every channel gradient measured</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Derived: slope, percent rise</a:t>
                      </a:r>
                    </a:p>
                  </a:txBody>
                  <a:tcPr marL="76200" marR="76200" marT="25400" marB="25400" anchor="ctr">
                    <a:solidFill>
                      <a:srgbClr val="FFFFFF"/>
                    </a:solidFill>
                  </a:tcPr>
                </a:tc>
                <a:tc>
                  <a:txBody>
                    <a:bodyPr/>
                    <a:lstStyle/>
                    <a:p>
                      <a:pPr>
                        <a:buNone/>
                      </a:pPr>
                      <a:r>
                        <a:rPr sz="1000" b="0" i="0">
                          <a:solidFill>
                            <a:srgbClr val="000000"/>
                          </a:solidFill>
                          <a:latin typeface="Aptos"/>
                        </a:rPr>
                        <a:t>from elevation</a:t>
                      </a:r>
                    </a:p>
                  </a:txBody>
                  <a:tcPr marL="76200" marR="76200" marT="25400" marB="25400" anchor="ctr">
                    <a:solidFill>
                      <a:srgbClr val="FFFFFF"/>
                    </a:solidFill>
                  </a:tcPr>
                </a:tc>
                <a:tc>
                  <a:txBody>
                    <a:bodyPr/>
                    <a:lstStyle/>
                    <a:p>
                      <a:pPr>
                        <a:buNone/>
                      </a:pPr>
                      <a:r>
                        <a:rPr sz="1000" b="0" i="0">
                          <a:solidFill>
                            <a:srgbClr val="000000"/>
                          </a:solidFill>
                          <a:latin typeface="Aptos"/>
                        </a:rPr>
                        <a:t>Terrain slope for channel gradients and flow-front steepness</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Derived: hillshade 225°/45°</a:t>
                      </a:r>
                    </a:p>
                  </a:txBody>
                  <a:tcPr marL="76200" marR="76200" marT="25400" marB="25400" anchor="ctr">
                    <a:solidFill>
                      <a:srgbClr val="EEF3F7"/>
                    </a:solidFill>
                  </a:tcPr>
                </a:tc>
                <a:tc>
                  <a:txBody>
                    <a:bodyPr/>
                    <a:lstStyle/>
                    <a:p>
                      <a:pPr>
                        <a:buNone/>
                      </a:pPr>
                      <a:r>
                        <a:rPr sz="1000" b="0" i="0">
                          <a:solidFill>
                            <a:srgbClr val="000000"/>
                          </a:solidFill>
                          <a:latin typeface="Aptos"/>
                        </a:rPr>
                        <a:t>from elevation</a:t>
                      </a:r>
                    </a:p>
                  </a:txBody>
                  <a:tcPr marL="76200" marR="76200" marT="25400" marB="25400" anchor="ctr">
                    <a:solidFill>
                      <a:srgbClr val="EEF3F7"/>
                    </a:solidFill>
                  </a:tcPr>
                </a:tc>
                <a:tc>
                  <a:txBody>
                    <a:bodyPr/>
                    <a:lstStyle/>
                    <a:p>
                      <a:pPr>
                        <a:buNone/>
                      </a:pPr>
                      <a:r>
                        <a:rPr sz="1000" b="0" i="0">
                          <a:solidFill>
                            <a:srgbClr val="000000"/>
                          </a:solidFill>
                          <a:latin typeface="Aptos"/>
                        </a:rPr>
                        <a:t>Shaded relief for visual interpretation of flow lobes and crater rims</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Derived: THEMIS DN gradient</a:t>
                      </a:r>
                    </a:p>
                  </a:txBody>
                  <a:tcPr marL="76200" marR="76200" marT="25400" marB="25400" anchor="ctr">
                    <a:solidFill>
                      <a:srgbClr val="FFFFFF"/>
                    </a:solidFill>
                  </a:tcPr>
                </a:tc>
                <a:tc>
                  <a:txBody>
                    <a:bodyPr/>
                    <a:lstStyle/>
                    <a:p>
                      <a:pPr>
                        <a:buNone/>
                      </a:pPr>
                      <a:r>
                        <a:rPr sz="1000" b="0" i="0">
                          <a:solidFill>
                            <a:srgbClr val="000000"/>
                          </a:solidFill>
                          <a:latin typeface="Aptos"/>
                        </a:rPr>
                        <a:t>from thermal IR</a:t>
                      </a:r>
                    </a:p>
                  </a:txBody>
                  <a:tcPr marL="76200" marR="76200" marT="25400" marB="25400" anchor="ctr">
                    <a:solidFill>
                      <a:srgbClr val="FFFFFF"/>
                    </a:solidFill>
                  </a:tcPr>
                </a:tc>
                <a:tc>
                  <a:txBody>
                    <a:bodyPr/>
                    <a:lstStyle/>
                    <a:p>
                      <a:pPr>
                        <a:buNone/>
                      </a:pPr>
                      <a:r>
                        <a:rPr sz="1000" b="0" i="0">
                          <a:solidFill>
                            <a:srgbClr val="000000"/>
                          </a:solidFill>
                          <a:latin typeface="Aptos"/>
                        </a:rPr>
                        <a:t>Edge and texture measure — highlights thermal boundaries at flow margins</a:t>
                      </a:r>
                    </a:p>
                  </a:txBody>
                  <a:tcPr marL="76200" marR="76200" marT="25400" marB="25400" anchor="ctr">
                    <a:solidFill>
                      <a:srgbClr val="FFFFFF"/>
                    </a:solidFill>
                  </a:tcPr>
                </a:tc>
              </a:tr>
              <a:tr h="317500">
                <a:tc>
                  <a:txBody>
                    <a:bodyPr/>
                    <a:lstStyle/>
                    <a:p>
                      <a:pPr>
                        <a:buNone/>
                      </a:pPr>
                      <a:r>
                        <a:rPr sz="1000" b="0" i="0">
                          <a:solidFill>
                            <a:srgbClr val="000000"/>
                          </a:solidFill>
                          <a:latin typeface="Aptos"/>
                        </a:rPr>
                        <a:t>Derived: Viking DN gradient</a:t>
                      </a:r>
                    </a:p>
                  </a:txBody>
                  <a:tcPr marL="76200" marR="76200" marT="25400" marB="25400" anchor="ctr">
                    <a:solidFill>
                      <a:srgbClr val="EEF3F7"/>
                    </a:solidFill>
                  </a:tcPr>
                </a:tc>
                <a:tc>
                  <a:txBody>
                    <a:bodyPr/>
                    <a:lstStyle/>
                    <a:p>
                      <a:pPr>
                        <a:buNone/>
                      </a:pPr>
                      <a:r>
                        <a:rPr sz="1000" b="0" i="0">
                          <a:solidFill>
                            <a:srgbClr val="000000"/>
                          </a:solidFill>
                          <a:latin typeface="Aptos"/>
                        </a:rPr>
                        <a:t>from visible</a:t>
                      </a:r>
                    </a:p>
                  </a:txBody>
                  <a:tcPr marL="76200" marR="76200" marT="25400" marB="25400" anchor="ctr">
                    <a:solidFill>
                      <a:srgbClr val="EEF3F7"/>
                    </a:solidFill>
                  </a:tcPr>
                </a:tc>
                <a:tc>
                  <a:txBody>
                    <a:bodyPr/>
                    <a:lstStyle/>
                    <a:p>
                      <a:pPr>
                        <a:buNone/>
                      </a:pPr>
                      <a:r>
                        <a:rPr sz="1000" b="0" i="0">
                          <a:solidFill>
                            <a:srgbClr val="000000"/>
                          </a:solidFill>
                          <a:latin typeface="Aptos"/>
                        </a:rPr>
                        <a:t>Edge and texture measure — highlights albedo boundaries and crater rims</a:t>
                      </a:r>
                    </a:p>
                  </a:txBody>
                  <a:tcPr marL="76200" marR="76200" marT="25400" marB="25400" anchor="ctr">
                    <a:solidFill>
                      <a:srgbClr val="EEF3F7"/>
                    </a:solidFill>
                  </a:tcPr>
                </a:tc>
              </a:tr>
              <a:tr h="317500">
                <a:tc>
                  <a:txBody>
                    <a:bodyPr/>
                    <a:lstStyle/>
                    <a:p>
                      <a:pPr>
                        <a:buNone/>
                      </a:pPr>
                      <a:r>
                        <a:rPr sz="1000" b="0" i="0">
                          <a:solidFill>
                            <a:srgbClr val="000000"/>
                          </a:solidFill>
                          <a:latin typeface="Aptos"/>
                        </a:rPr>
                        <a:t>Planned: THEMIS day − night</a:t>
                      </a:r>
                    </a:p>
                  </a:txBody>
                  <a:tcPr marL="76200" marR="76200" marT="25400" marB="25400" anchor="ctr">
                    <a:solidFill>
                      <a:srgbClr val="FFFFFF"/>
                    </a:solidFill>
                  </a:tcPr>
                </a:tc>
                <a:tc>
                  <a:txBody>
                    <a:bodyPr/>
                    <a:lstStyle/>
                    <a:p>
                      <a:pPr>
                        <a:buNone/>
                      </a:pPr>
                      <a:r>
                        <a:rPr sz="1000" b="0" i="0">
                          <a:solidFill>
                            <a:srgbClr val="000000"/>
                          </a:solidFill>
                          <a:latin typeface="Aptos"/>
                        </a:rPr>
                        <a:t>6.8–14.9 µm</a:t>
                      </a:r>
                    </a:p>
                  </a:txBody>
                  <a:tcPr marL="76200" marR="76200" marT="25400" marB="25400" anchor="ctr">
                    <a:solidFill>
                      <a:srgbClr val="FFFFFF"/>
                    </a:solidFill>
                  </a:tcPr>
                </a:tc>
                <a:tc>
                  <a:txBody>
                    <a:bodyPr/>
                    <a:lstStyle/>
                    <a:p>
                      <a:pPr>
                        <a:buNone/>
                      </a:pPr>
                      <a:r>
                        <a:rPr sz="1000" b="0" i="0">
                          <a:solidFill>
                            <a:srgbClr val="000000"/>
                          </a:solidFill>
                          <a:latin typeface="Aptos"/>
                        </a:rPr>
                        <a:t>Thermal inertia proxy; requires the night mosaic to be acquired</a:t>
                      </a:r>
                    </a:p>
                  </a:txBody>
                  <a:tcPr marL="76200" marR="76200" marT="25400" marB="2540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Relevant Spectral Bands — by Region</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5500" y="1676400"/>
          <a:ext cx="10540999" cy="2667000"/>
        </p:xfrm>
        <a:graphic>
          <a:graphicData uri="http://schemas.openxmlformats.org/drawingml/2006/table">
            <a:tbl>
              <a:tblPr firstRow="1">
                <a:tableStyleId>{5C22544A-7EE6-4342-B048-85BDC9FD1C3A}</a:tableStyleId>
              </a:tblPr>
              <a:tblGrid>
                <a:gridCol w="1405466"/>
                <a:gridCol w="1706638"/>
                <a:gridCol w="7428895"/>
              </a:tblGrid>
              <a:tr h="533400">
                <a:tc>
                  <a:txBody>
                    <a:bodyPr/>
                    <a:lstStyle/>
                    <a:p>
                      <a:pPr>
                        <a:buNone/>
                      </a:pPr>
                      <a:r>
                        <a:rPr sz="1200" b="1" i="0">
                          <a:solidFill>
                            <a:srgbClr val="FFFFFF"/>
                          </a:solidFill>
                          <a:latin typeface="Aptos"/>
                        </a:rPr>
                        <a:t>Region</a:t>
                      </a:r>
                    </a:p>
                  </a:txBody>
                  <a:tcPr marL="76200" marR="76200" marT="38100" marB="38100" anchor="ctr">
                    <a:solidFill>
                      <a:srgbClr val="0E2841"/>
                    </a:solidFill>
                  </a:tcPr>
                </a:tc>
                <a:tc>
                  <a:txBody>
                    <a:bodyPr/>
                    <a:lstStyle/>
                    <a:p>
                      <a:pPr>
                        <a:buNone/>
                      </a:pPr>
                      <a:r>
                        <a:rPr sz="1200" b="1" i="0">
                          <a:solidFill>
                            <a:srgbClr val="FFFFFF"/>
                          </a:solidFill>
                          <a:latin typeface="Aptos"/>
                        </a:rPr>
                        <a:t>Wavelength</a:t>
                      </a:r>
                    </a:p>
                  </a:txBody>
                  <a:tcPr marL="76200" marR="76200" marT="38100" marB="38100" anchor="ctr">
                    <a:solidFill>
                      <a:srgbClr val="0E2841"/>
                    </a:solidFill>
                  </a:tcPr>
                </a:tc>
                <a:tc>
                  <a:txBody>
                    <a:bodyPr/>
                    <a:lstStyle/>
                    <a:p>
                      <a:pPr>
                        <a:buNone/>
                      </a:pPr>
                      <a:r>
                        <a:rPr sz="1200" b="1" i="0">
                          <a:solidFill>
                            <a:srgbClr val="FFFFFF"/>
                          </a:solidFill>
                          <a:latin typeface="Aptos"/>
                        </a:rPr>
                        <a:t>What it contributes</a:t>
                      </a:r>
                    </a:p>
                  </a:txBody>
                  <a:tcPr marL="76200" marR="76200" marT="38100" marB="38100" anchor="ctr">
                    <a:solidFill>
                      <a:srgbClr val="0E2841"/>
                    </a:solidFill>
                  </a:tcPr>
                </a:tc>
              </a:tr>
              <a:tr h="533400">
                <a:tc>
                  <a:txBody>
                    <a:bodyPr/>
                    <a:lstStyle/>
                    <a:p>
                      <a:pPr>
                        <a:buNone/>
                      </a:pPr>
                      <a:r>
                        <a:rPr sz="1200" b="0" i="0">
                          <a:solidFill>
                            <a:srgbClr val="000000"/>
                          </a:solidFill>
                          <a:latin typeface="Aptos"/>
                        </a:rPr>
                        <a:t>Visible</a:t>
                      </a:r>
                    </a:p>
                  </a:txBody>
                  <a:tcPr marL="76200" marR="76200" marT="25400" marB="25400" anchor="ctr">
                    <a:solidFill>
                      <a:srgbClr val="FFFFFF"/>
                    </a:solidFill>
                  </a:tcPr>
                </a:tc>
                <a:tc>
                  <a:txBody>
                    <a:bodyPr/>
                    <a:lstStyle/>
                    <a:p>
                      <a:pPr>
                        <a:buNone/>
                      </a:pPr>
                      <a:r>
                        <a:rPr sz="1200" b="0" i="0">
                          <a:solidFill>
                            <a:srgbClr val="000000"/>
                          </a:solidFill>
                          <a:latin typeface="Aptos"/>
                        </a:rPr>
                        <a:t>0.4 – 0.7 µm</a:t>
                      </a:r>
                    </a:p>
                  </a:txBody>
                  <a:tcPr marL="76200" marR="76200" marT="25400" marB="25400" anchor="ctr">
                    <a:solidFill>
                      <a:srgbClr val="FFFFFF"/>
                    </a:solidFill>
                  </a:tcPr>
                </a:tc>
                <a:tc>
                  <a:txBody>
                    <a:bodyPr/>
                    <a:lstStyle/>
                    <a:p>
                      <a:pPr>
                        <a:buNone/>
                      </a:pPr>
                      <a:r>
                        <a:rPr sz="1200" b="0" i="0">
                          <a:solidFill>
                            <a:srgbClr val="000000"/>
                          </a:solidFill>
                          <a:latin typeface="Aptos"/>
                        </a:rPr>
                        <a:t>Viking MDIM 2.1 colour. Morphology, albedo contrast, and shadow relief; the ferric absorption edge separates bright dust from darker basaltic surfaces.</a:t>
                      </a:r>
                    </a:p>
                  </a:txBody>
                  <a:tcPr marL="76200" marR="76200" marT="25400" marB="25400" anchor="ctr">
                    <a:solidFill>
                      <a:srgbClr val="FFFFFF"/>
                    </a:solidFill>
                  </a:tcPr>
                </a:tc>
              </a:tr>
              <a:tr h="533400">
                <a:tc>
                  <a:txBody>
                    <a:bodyPr/>
                    <a:lstStyle/>
                    <a:p>
                      <a:pPr>
                        <a:buNone/>
                      </a:pPr>
                      <a:r>
                        <a:rPr sz="1200" b="0" i="0">
                          <a:solidFill>
                            <a:srgbClr val="000000"/>
                          </a:solidFill>
                          <a:latin typeface="Aptos"/>
                        </a:rPr>
                        <a:t>Thermal IR</a:t>
                      </a:r>
                    </a:p>
                  </a:txBody>
                  <a:tcPr marL="76200" marR="76200" marT="25400" marB="25400" anchor="ctr">
                    <a:solidFill>
                      <a:srgbClr val="EEF3F7"/>
                    </a:solidFill>
                  </a:tcPr>
                </a:tc>
                <a:tc>
                  <a:txBody>
                    <a:bodyPr/>
                    <a:lstStyle/>
                    <a:p>
                      <a:pPr>
                        <a:buNone/>
                      </a:pPr>
                      <a:r>
                        <a:rPr sz="1200" b="0" i="0">
                          <a:solidFill>
                            <a:srgbClr val="000000"/>
                          </a:solidFill>
                          <a:latin typeface="Aptos"/>
                        </a:rPr>
                        <a:t>6.8 – 14.9 µm</a:t>
                      </a:r>
                    </a:p>
                  </a:txBody>
                  <a:tcPr marL="76200" marR="76200" marT="25400" marB="25400" anchor="ctr">
                    <a:solidFill>
                      <a:srgbClr val="EEF3F7"/>
                    </a:solidFill>
                  </a:tcPr>
                </a:tc>
                <a:tc>
                  <a:txBody>
                    <a:bodyPr/>
                    <a:lstStyle/>
                    <a:p>
                      <a:pPr>
                        <a:buNone/>
                      </a:pPr>
                      <a:r>
                        <a:rPr sz="1200" b="0" i="0">
                          <a:solidFill>
                            <a:srgbClr val="000000"/>
                          </a:solidFill>
                          <a:latin typeface="Aptos"/>
                        </a:rPr>
                        <a:t>THEMIS Day IR. Daytime brightness temperature carries both morphology and silicate composition through the Si–O reststrahlen bands.</a:t>
                      </a:r>
                    </a:p>
                  </a:txBody>
                  <a:tcPr marL="76200" marR="76200" marT="25400" marB="25400" anchor="ctr">
                    <a:solidFill>
                      <a:srgbClr val="EEF3F7"/>
                    </a:solidFill>
                  </a:tcPr>
                </a:tc>
              </a:tr>
              <a:tr h="533400">
                <a:tc>
                  <a:txBody>
                    <a:bodyPr/>
                    <a:lstStyle/>
                    <a:p>
                      <a:pPr>
                        <a:buNone/>
                      </a:pPr>
                      <a:r>
                        <a:rPr sz="1200" b="0" i="0">
                          <a:solidFill>
                            <a:srgbClr val="000000"/>
                          </a:solidFill>
                          <a:latin typeface="Aptos"/>
                        </a:rPr>
                        <a:t>Thermal IR (night)</a:t>
                      </a:r>
                    </a:p>
                  </a:txBody>
                  <a:tcPr marL="76200" marR="76200" marT="25400" marB="25400" anchor="ctr">
                    <a:solidFill>
                      <a:srgbClr val="FFFFFF"/>
                    </a:solidFill>
                  </a:tcPr>
                </a:tc>
                <a:tc>
                  <a:txBody>
                    <a:bodyPr/>
                    <a:lstStyle/>
                    <a:p>
                      <a:pPr>
                        <a:buNone/>
                      </a:pPr>
                      <a:r>
                        <a:rPr sz="1200" b="0" i="0">
                          <a:solidFill>
                            <a:srgbClr val="000000"/>
                          </a:solidFill>
                          <a:latin typeface="Aptos"/>
                        </a:rPr>
                        <a:t>6.8 – 14.9 µm</a:t>
                      </a:r>
                    </a:p>
                  </a:txBody>
                  <a:tcPr marL="76200" marR="76200" marT="25400" marB="25400" anchor="ctr">
                    <a:solidFill>
                      <a:srgbClr val="FFFFFF"/>
                    </a:solidFill>
                  </a:tcPr>
                </a:tc>
                <a:tc>
                  <a:txBody>
                    <a:bodyPr/>
                    <a:lstStyle/>
                    <a:p>
                      <a:pPr>
                        <a:buNone/>
                      </a:pPr>
                      <a:r>
                        <a:rPr sz="1200" b="0" i="0">
                          <a:solidFill>
                            <a:srgbClr val="000000"/>
                          </a:solidFill>
                          <a:latin typeface="Aptos"/>
                        </a:rPr>
                        <a:t>THEMIS Night IR — not yet acquired. Paired with the day mosaic it yields thermal inertia, the single best dust-versus-bedrock discriminator from orbit.</a:t>
                      </a:r>
                    </a:p>
                  </a:txBody>
                  <a:tcPr marL="76200" marR="76200" marT="25400" marB="25400" anchor="ctr">
                    <a:solidFill>
                      <a:srgbClr val="FFFFFF"/>
                    </a:solidFill>
                  </a:tcPr>
                </a:tc>
              </a:tr>
              <a:tr h="533400">
                <a:tc>
                  <a:txBody>
                    <a:bodyPr/>
                    <a:lstStyle/>
                    <a:p>
                      <a:pPr>
                        <a:buNone/>
                      </a:pPr>
                      <a:r>
                        <a:rPr sz="1200" b="0" i="0">
                          <a:solidFill>
                            <a:srgbClr val="000000"/>
                          </a:solidFill>
                          <a:latin typeface="Aptos"/>
                        </a:rPr>
                        <a:t>Laser altimetry</a:t>
                      </a:r>
                    </a:p>
                  </a:txBody>
                  <a:tcPr marL="76200" marR="76200" marT="25400" marB="25400" anchor="ctr">
                    <a:solidFill>
                      <a:srgbClr val="EEF3F7"/>
                    </a:solidFill>
                  </a:tcPr>
                </a:tc>
                <a:tc>
                  <a:txBody>
                    <a:bodyPr/>
                    <a:lstStyle/>
                    <a:p>
                      <a:pPr>
                        <a:buNone/>
                      </a:pPr>
                      <a:r>
                        <a:rPr sz="1200" b="0" i="0">
                          <a:solidFill>
                            <a:srgbClr val="000000"/>
                          </a:solidFill>
                          <a:latin typeface="Aptos"/>
                        </a:rPr>
                        <a:t>1064 nm (active)</a:t>
                      </a:r>
                    </a:p>
                  </a:txBody>
                  <a:tcPr marL="76200" marR="76200" marT="25400" marB="25400" anchor="ctr">
                    <a:solidFill>
                      <a:srgbClr val="EEF3F7"/>
                    </a:solidFill>
                  </a:tcPr>
                </a:tc>
                <a:tc>
                  <a:txBody>
                    <a:bodyPr/>
                    <a:lstStyle/>
                    <a:p>
                      <a:pPr>
                        <a:buNone/>
                      </a:pPr>
                      <a:r>
                        <a:rPr sz="1200" b="0" i="0">
                          <a:solidFill>
                            <a:srgbClr val="000000"/>
                          </a:solidFill>
                          <a:latin typeface="Aptos"/>
                        </a:rPr>
                        <a:t>HRSC/MOLA blended DEM. Not passive imaging, but it supplies the slope, gradient, and drainage context that separates channels from albedo streaks.</a:t>
                      </a:r>
                    </a:p>
                  </a:txBody>
                  <a:tcPr marL="76200" marR="76200" marT="25400" marB="25400" anchor="ctr">
                    <a:solidFill>
                      <a:srgbClr val="EEF3F7"/>
                    </a:solidFill>
                  </a:tcPr>
                </a:tc>
              </a:tr>
            </a:tbl>
          </a:graphicData>
        </a:graphic>
      </p:graphicFrame>
      <p:sp>
        <p:nvSpPr>
          <p:cNvPr id="5" name="TextBox 4"/>
          <p:cNvSpPr txBox="1"/>
          <p:nvPr/>
        </p:nvSpPr>
        <p:spPr>
          <a:xfrm>
            <a:off x="825500" y="4572000"/>
            <a:ext cx="10541000" cy="508000"/>
          </a:xfrm>
          <a:prstGeom prst="rect">
            <a:avLst/>
          </a:prstGeom>
          <a:noFill/>
        </p:spPr>
        <p:txBody>
          <a:bodyPr wrap="square" anchor="t" lIns="0" rIns="0" tIns="0" bIns="0">
            <a:spAutoFit/>
          </a:bodyPr>
          <a:lstStyle/>
          <a:p>
            <a:pPr>
              <a:buNone/>
            </a:pPr>
            <a:r>
              <a:rPr sz="1100" b="0" i="1">
                <a:solidFill>
                  <a:srgbClr val="555F66"/>
                </a:solidFill>
                <a:latin typeface="Aptos"/>
              </a:rPr>
              <a:t>Held today: THEMIS Day IR as the 100 m morphology base, Viking MDIM 2.1 colour for visible context, and the HRSC/MOLA DEM for slope and drainage. THEMIS Night IR is the one missing band.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Preliminary Results — Data and Measurements</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4826000"/>
          </a:xfrm>
          <a:prstGeom prst="rect">
            <a:avLst/>
          </a:prstGeom>
          <a:noFill/>
        </p:spPr>
        <p:txBody>
          <a:bodyPr wrap="square" anchor="t" lIns="0" rIns="0" tIns="0" bIns="0">
            <a:spAutoFit/>
          </a:bodyPr>
          <a:lstStyle/>
          <a:p>
            <a:pPr marL="200000" indent="-200000">
              <a:spcAft>
                <a:spcPts val="1600"/>
              </a:spcAft>
              <a:buFont typeface="Arial" pitchFamily="34" charset="0"/>
              <a:buChar char="•"/>
            </a:pPr>
            <a:r>
              <a:rPr sz="1500" b="1" i="0">
                <a:solidFill>
                  <a:srgbClr val="0E2841"/>
                </a:solidFill>
                <a:latin typeface="Aptos"/>
              </a:rPr>
              <a:t>Three global rasters loaded and characterized — </a:t>
            </a:r>
            <a:r>
              <a:rPr sz="1500" b="0" i="0">
                <a:solidFill>
                  <a:srgbClr val="000000"/>
                </a:solidFill>
                <a:latin typeface="Aptos"/>
              </a:rPr>
              <a:t>THEMIS Day IR v12 at 100 m (22.14 billion valid pixels, DN 1–255, mean 125.7, σ 34.4), Viking MDIM 2.1 colour at 232 m (92,160 × 46,080), and the HRSC/MOLA blended DEM at 200 m. 43.7 GB of source imagery, with statistics built on all three; pyramids are not built on any of them.</a:t>
            </a:r>
          </a:p>
          <a:p>
            <a:pPr marL="200000" indent="-200000">
              <a:spcAft>
                <a:spcPts val="1600"/>
              </a:spcAft>
              <a:buFont typeface="Arial" pitchFamily="34" charset="0"/>
              <a:buChar char="•"/>
            </a:pPr>
            <a:r>
              <a:rPr sz="1500" b="1" i="0">
                <a:solidFill>
                  <a:srgbClr val="0E2841"/>
                </a:solidFill>
                <a:latin typeface="Aptos"/>
              </a:rPr>
              <a:t>Global relief measured directly from the DEM — </a:t>
            </a:r>
            <a:r>
              <a:rPr sz="1500" b="0" i="0">
                <a:solidFill>
                  <a:srgbClr val="000000"/>
                </a:solidFill>
                <a:latin typeface="Aptos"/>
              </a:rPr>
              <a:t>Elevation ranges from −8,528 m to +21,226 m — a total relief of 29,754 m — with a mean of −720.5 m and σ of 2,976 m. The extremes fall where expected, at the Hellas basin floor and the Olympus Mons summit, which is a first confirmation that the DEM is correctly georeferenced.</a:t>
            </a:r>
          </a:p>
          <a:p>
            <a:pPr marL="200000" indent="-200000">
              <a:spcAft>
                <a:spcPts val="1600"/>
              </a:spcAft>
              <a:buFont typeface="Arial" pitchFamily="34" charset="0"/>
              <a:buChar char="•"/>
            </a:pPr>
            <a:r>
              <a:rPr sz="1500" b="1" i="0">
                <a:solidFill>
                  <a:srgbClr val="0E2841"/>
                </a:solidFill>
                <a:latin typeface="Aptos"/>
              </a:rPr>
              <a:t>Terrain derivatives built — </a:t>
            </a:r>
            <a:r>
              <a:rPr sz="1500" b="0" i="0">
                <a:solidFill>
                  <a:srgbClr val="000000"/>
                </a:solidFill>
                <a:latin typeface="Aptos"/>
              </a:rPr>
              <a:t>Slope (percent rise) and hillshade (azimuth 225°, altitude 45°, shadows on) from the DEM, in 7 min 15 s and 11 min 42 s. Both currently carry WARNING 000869 and will be rebuilt on a projected DEM before any measurement is taken from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Preliminary Results — Derived Products</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4826000"/>
          </a:xfrm>
          <a:prstGeom prst="rect">
            <a:avLst/>
          </a:prstGeom>
          <a:noFill/>
        </p:spPr>
        <p:txBody>
          <a:bodyPr wrap="square" anchor="t" lIns="0" rIns="0" tIns="0" bIns="0">
            <a:spAutoFit/>
          </a:bodyPr>
          <a:lstStyle/>
          <a:p>
            <a:pPr marL="200000" indent="-200000">
              <a:spcAft>
                <a:spcPts val="1600"/>
              </a:spcAft>
              <a:buFont typeface="Arial" pitchFamily="34" charset="0"/>
              <a:buChar char="•"/>
            </a:pPr>
            <a:r>
              <a:rPr sz="1500" b="1" i="0">
                <a:solidFill>
                  <a:srgbClr val="0E2841"/>
                </a:solidFill>
                <a:latin typeface="Aptos"/>
              </a:rPr>
              <a:t>Gradient products built from both image mosaics — </a:t>
            </a:r>
            <a:r>
              <a:rPr sz="1500" b="0" i="0">
                <a:solidFill>
                  <a:srgbClr val="000000"/>
                </a:solidFill>
                <a:latin typeface="Aptos"/>
              </a:rPr>
              <a:t>Slope was run on the THEMIS and Viking rasters, giving DN gradient rather than terrain slope — an edge and texture measure. Surface Parameters was also run on the Viking mosaic with a quadratic fit over a 231.54 m fixed neighborhood, taking 1 h 26 min 45 s.</a:t>
            </a:r>
          </a:p>
          <a:p>
            <a:pPr marL="200000" indent="-200000">
              <a:spcAft>
                <a:spcPts val="1600"/>
              </a:spcAft>
              <a:buFont typeface="Arial" pitchFamily="34" charset="0"/>
              <a:buChar char="•"/>
            </a:pPr>
            <a:r>
              <a:rPr sz="1500" b="1" i="0">
                <a:solidFill>
                  <a:srgbClr val="0E2841"/>
                </a:solidFill>
                <a:latin typeface="Aptos"/>
              </a:rPr>
              <a:t>Classification workflow proven on another body — </a:t>
            </a:r>
            <a:r>
              <a:rPr sz="1500" b="0" i="0">
                <a:solidFill>
                  <a:srgbClr val="000000"/>
                </a:solidFill>
                <a:latin typeface="Aptos"/>
              </a:rPr>
              <a:t>Iso Cluster with 10 classes followed by Maximum Likelihood, plus Segment Mean Shift (spectral 20, spatial 20, minimum segment 5 px), ran successfully end to end on the Mercury MESSENGER MDIS basemap. The method is proven; it has not yet been applied to the Mars stack.</a:t>
            </a:r>
          </a:p>
          <a:p>
            <a:pPr marL="200000" indent="-200000">
              <a:spcAft>
                <a:spcPts val="1600"/>
              </a:spcAft>
              <a:buFont typeface="Arial" pitchFamily="34" charset="0"/>
              <a:buChar char="•"/>
            </a:pPr>
            <a:r>
              <a:rPr sz="1500" b="1" i="0">
                <a:solidFill>
                  <a:srgbClr val="0E2841"/>
                </a:solidFill>
                <a:latin typeface="Aptos"/>
              </a:rPr>
              <a:t>One type area set up — </a:t>
            </a:r>
            <a:r>
              <a:rPr sz="1500" b="0" i="0">
                <a:solidFill>
                  <a:srgbClr val="000000"/>
                </a:solidFill>
                <a:latin typeface="Aptos"/>
              </a:rPr>
              <a:t>The mosaic viewer is parked over western Valles Marineris (about 271–286°E, 6–13°S) — Ius Chasma and the Louros Valles tributaries on its south wall. A second map covers Jezero Crater, but it carries only hosted Perseverance rover services; no imagery of Jezero is held locally.</a:t>
            </a:r>
          </a:p>
        </p:txBody>
      </p:sp>
      <p:sp>
        <p:nvSpPr>
          <p:cNvPr id="5" name="TextBox 4"/>
          <p:cNvSpPr txBox="1"/>
          <p:nvPr/>
        </p:nvSpPr>
        <p:spPr>
          <a:xfrm>
            <a:off x="825500" y="5969000"/>
            <a:ext cx="10541000" cy="508000"/>
          </a:xfrm>
          <a:prstGeom prst="rect">
            <a:avLst/>
          </a:prstGeom>
          <a:noFill/>
        </p:spPr>
        <p:txBody>
          <a:bodyPr wrap="square" anchor="t" lIns="0" rIns="0" tIns="0" bIns="0">
            <a:spAutoFit/>
          </a:bodyPr>
          <a:lstStyle/>
          <a:p>
            <a:pPr>
              <a:buNone/>
            </a:pPr>
            <a:r>
              <a:rPr sz="1100" b="0" i="1">
                <a:solidFill>
                  <a:srgbClr val="555F66"/>
                </a:solidFill>
                <a:latin typeface="Aptos"/>
              </a:rPr>
              <a:t>Every figure above was read from the project files themselves — raster statistics, geoprocessing lineage, and tool logs on 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Project Issues and Hurdles (1 of 2)</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4826000"/>
          </a:xfrm>
          <a:prstGeom prst="rect">
            <a:avLst/>
          </a:prstGeom>
          <a:noFill/>
        </p:spPr>
        <p:txBody>
          <a:bodyPr wrap="square" anchor="t" lIns="0" rIns="0" tIns="0" bIns="0">
            <a:spAutoFit/>
          </a:bodyPr>
          <a:lstStyle/>
          <a:p>
            <a:pPr marL="200000" indent="-200000">
              <a:spcAft>
                <a:spcPts val="1600"/>
              </a:spcAft>
              <a:buFont typeface="Arial" pitchFamily="34" charset="0"/>
              <a:buChar char="•"/>
            </a:pPr>
            <a:r>
              <a:rPr sz="1500" b="1" i="0">
                <a:solidFill>
                  <a:srgbClr val="0E2841"/>
                </a:solidFill>
                <a:latin typeface="Aptos"/>
              </a:rPr>
              <a:t>The project spans three coordinate frames — </a:t>
            </a:r>
            <a:r>
              <a:rPr sz="1500" b="0" i="0">
                <a:solidFill>
                  <a:srgbClr val="000000"/>
                </a:solidFill>
                <a:latin typeface="Aptos"/>
              </a:rPr>
              <a:t>The DEM and its derivatives are in GCS_Mars_2000_Sphere (degrees). Viking and THEMIS are both SimpleCylindrical_Mars in metres, but on central meridians 0° and 180° respectively — the THEMIS grid runs 0–360°E, the other two −180–180°E. Read at face value the THEMIS window lands half a planet from the others. This is the root cause of both problems below. Fix: project everything into one frame and check the meridian, not just the units.</a:t>
            </a:r>
          </a:p>
          <a:p>
            <a:pPr marL="200000" indent="-200000">
              <a:spcAft>
                <a:spcPts val="1600"/>
              </a:spcAft>
              <a:buFont typeface="Arial" pitchFamily="34" charset="0"/>
              <a:buChar char="•"/>
            </a:pPr>
            <a:r>
              <a:rPr sz="1500" b="1" i="0">
                <a:solidFill>
                  <a:srgbClr val="0E2841"/>
                </a:solidFill>
                <a:latin typeface="Aptos"/>
              </a:rPr>
              <a:t>Terrain derivatives carry an invalid z-factor — </a:t>
            </a:r>
            <a:r>
              <a:rPr sz="1500" b="0" i="0">
                <a:solidFill>
                  <a:srgbClr val="000000"/>
                </a:solidFill>
                <a:latin typeface="Aptos"/>
              </a:rPr>
              <a:t>Both DEM runs returned WARNING 000869 — metres of elevation against degrees of horizontal distance, default z-factor 1. Slope_Mars_H1 and HillSha_Mars1 are fine for display, not for measurement. They will be rebuilt after projection.</a:t>
            </a:r>
          </a:p>
          <a:p>
            <a:pPr marL="200000" indent="-200000">
              <a:spcAft>
                <a:spcPts val="1600"/>
              </a:spcAft>
              <a:buFont typeface="Arial" pitchFamily="34" charset="0"/>
              <a:buChar char="•"/>
            </a:pPr>
            <a:r>
              <a:rPr sz="1500" b="1" i="0">
                <a:solidFill>
                  <a:srgbClr val="0E2841"/>
                </a:solidFill>
                <a:latin typeface="Aptos"/>
              </a:rPr>
              <a:t>Composite Bands has failed three times — </a:t>
            </a:r>
            <a:r>
              <a:rPr sz="1500" b="0" i="0">
                <a:solidFill>
                  <a:srgbClr val="000000"/>
                </a:solidFill>
                <a:latin typeface="Aptos"/>
              </a:rPr>
              <a:t>Three attempts on 9 September, abandoned after 47 min 57 s, 1 min 41 s, and 1 h 14 min 51 s. The visible + IR composite is the centrepiece of the project and does not yet exist. Plan: project to a common CRS and cell size, then run over bounded extents instead of the full globe.</a:t>
            </a:r>
          </a:p>
          <a:p>
            <a:pPr marL="200000" indent="-200000">
              <a:spcAft>
                <a:spcPts val="1600"/>
              </a:spcAft>
              <a:buFont typeface="Arial" pitchFamily="34" charset="0"/>
              <a:buChar char="•"/>
            </a:pPr>
            <a:r>
              <a:rPr sz="1500" b="1" i="0">
                <a:solidFill>
                  <a:srgbClr val="0E2841"/>
                </a:solidFill>
                <a:latin typeface="Aptos"/>
              </a:rPr>
              <a:t>No GPU acceleration on this machine — </a:t>
            </a:r>
            <a:r>
              <a:rPr sz="1500" b="0" i="0">
                <a:solidFill>
                  <a:srgbClr val="000000"/>
                </a:solidFill>
                <a:latin typeface="Aptos"/>
              </a:rPr>
              <a:t>The Viking slope run requested GPU_THEN_CPU and logged 'No compatible GPU device has been detected', completing on CPU in 1 h 05 min. Every global run is CPU-bound, so processing time is effectively the project schedule.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Project Issues and Hurdles (2 of 2)</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4826000"/>
          </a:xfrm>
          <a:prstGeom prst="rect">
            <a:avLst/>
          </a:prstGeom>
          <a:noFill/>
        </p:spPr>
        <p:txBody>
          <a:bodyPr wrap="square" anchor="t" lIns="0" rIns="0" tIns="0" bIns="0">
            <a:spAutoFit/>
          </a:bodyPr>
          <a:lstStyle/>
          <a:p>
            <a:pPr marL="200000" indent="-200000">
              <a:spcAft>
                <a:spcPts val="1600"/>
              </a:spcAft>
              <a:buFont typeface="Arial" pitchFamily="34" charset="0"/>
              <a:buChar char="•"/>
            </a:pPr>
            <a:r>
              <a:rPr sz="1500" b="1" i="0">
                <a:solidFill>
                  <a:srgbClr val="0E2841"/>
                </a:solidFill>
                <a:latin typeface="Aptos"/>
              </a:rPr>
              <a:t>Thermal inertia is blocked on a missing dataset — </a:t>
            </a:r>
            <a:r>
              <a:rPr sz="1500" b="0" i="0">
                <a:solidFill>
                  <a:srgbClr val="000000"/>
                </a:solidFill>
                <a:latin typeface="Aptos"/>
              </a:rPr>
              <a:t>Only the THEMIS day mosaic is held. The dust-versus-bedrock argument needs the night mosaic for a diurnal difference. Same source and format as the day mosaic, so this is a download rather than a redesign — but it has not been done.</a:t>
            </a:r>
          </a:p>
          <a:p>
            <a:pPr marL="200000" indent="-200000">
              <a:spcAft>
                <a:spcPts val="1600"/>
              </a:spcAft>
              <a:buFont typeface="Arial" pitchFamily="34" charset="0"/>
              <a:buChar char="•"/>
            </a:pPr>
            <a:r>
              <a:rPr sz="1500" b="1" i="0">
                <a:solidFill>
                  <a:srgbClr val="0E2841"/>
                </a:solidFill>
                <a:latin typeface="Aptos"/>
              </a:rPr>
              <a:t>The crater layers cannot support crater dating — </a:t>
            </a:r>
            <a:r>
              <a:rPr sz="1500" b="0" i="0">
                <a:solidFill>
                  <a:srgbClr val="000000"/>
                </a:solidFill>
                <a:latin typeface="Aptos"/>
              </a:rPr>
              <a:t>The IAU nomenclature gives 141 named craters above 100 km and 972 below. That is a gazetteer, not a crater-count inventory, and size-frequency dating cannot be done from it. Craters must be digitized in the type area or a catalogue imported.</a:t>
            </a:r>
          </a:p>
          <a:p>
            <a:pPr marL="200000" indent="-200000">
              <a:spcAft>
                <a:spcPts val="1600"/>
              </a:spcAft>
              <a:buFont typeface="Arial" pitchFamily="34" charset="0"/>
              <a:buChar char="•"/>
            </a:pPr>
            <a:r>
              <a:rPr sz="1500" b="1" i="0">
                <a:solidFill>
                  <a:srgbClr val="0E2841"/>
                </a:solidFill>
                <a:latin typeface="Aptos"/>
              </a:rPr>
              <a:t>Three dead raster references — </a:t>
            </a:r>
            <a:r>
              <a:rPr sz="1500" b="0" i="0">
                <a:solidFill>
                  <a:srgbClr val="000000"/>
                </a:solidFill>
                <a:latin typeface="Aptos"/>
              </a:rPr>
              <a:t>The Jezero HiRISE orthomosaic, the Mercury MESSENGER basemap, and the Enceladus DEM are still referenced by their maps, but none of those files is on the drive. The three global rasters are the whole of the held imagery. None of the three is needed for the plan as scoped; they should be removed so the project opens clean.</a:t>
            </a:r>
          </a:p>
          <a:p>
            <a:pPr marL="200000" indent="-200000">
              <a:spcAft>
                <a:spcPts val="1600"/>
              </a:spcAft>
              <a:buFont typeface="Arial" pitchFamily="34" charset="0"/>
              <a:buChar char="•"/>
            </a:pPr>
            <a:r>
              <a:rPr sz="1500" b="1" i="0">
                <a:solidFill>
                  <a:srgbClr val="0E2841"/>
                </a:solidFill>
                <a:latin typeface="Aptos"/>
              </a:rPr>
              <a:t>Housekeeping — </a:t>
            </a:r>
            <a:r>
              <a:rPr sz="1500" b="0" i="0">
                <a:solidFill>
                  <a:srgbClr val="000000"/>
                </a:solidFill>
                <a:latin typeface="Aptos"/>
              </a:rPr>
              <a:t>The nomenclature layers were imported more than once — 14 feature classes where five would do (_2 and _3 duplicates of four of them, _2 of the fifth) — and no map layouts exist in the project yet. Neither blocks analysis, but both need clearing before the final deliverables.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Remaining Work — Immediate Next Steps</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5500" y="1676400"/>
            <a:ext cx="10541000" cy="4826000"/>
          </a:xfrm>
          <a:prstGeom prst="rect">
            <a:avLst/>
          </a:prstGeom>
          <a:noFill/>
        </p:spPr>
        <p:txBody>
          <a:bodyPr wrap="square" anchor="t" lIns="0" rIns="0" tIns="0" bIns="0">
            <a:spAutoFit/>
          </a:bodyPr>
          <a:lstStyle/>
          <a:p>
            <a:pPr marL="200000" indent="-200000">
              <a:spcAft>
                <a:spcPts val="1200"/>
              </a:spcAft>
              <a:buFont typeface="Arial" pitchFamily="34" charset="0"/>
              <a:buChar char="•"/>
            </a:pPr>
            <a:r>
              <a:rPr sz="1600" b="0" i="0">
                <a:solidFill>
                  <a:srgbClr val="000000"/>
                </a:solidFill>
                <a:latin typeface="Aptos"/>
              </a:rPr>
              <a:t>Project all three global rasters into one SimpleCylindrical_Mars frame at a common cell size and a common central meridian — THEMIS is on 180° and the other two on 0°. This unblocks everything else.</a:t>
            </a:r>
          </a:p>
          <a:p>
            <a:pPr marL="200000" indent="-200000">
              <a:spcAft>
                <a:spcPts val="1200"/>
              </a:spcAft>
              <a:buFont typeface="Arial" pitchFamily="34" charset="0"/>
              <a:buChar char="•"/>
            </a:pPr>
            <a:r>
              <a:rPr sz="1600" b="0" i="0">
                <a:solidFill>
                  <a:srgbClr val="000000"/>
                </a:solidFill>
                <a:latin typeface="Aptos"/>
              </a:rPr>
              <a:t>Rebuild Slope and Hillshade on the projected DEM so the z-factor is valid.</a:t>
            </a:r>
          </a:p>
          <a:p>
            <a:pPr marL="200000" indent="-200000">
              <a:spcAft>
                <a:spcPts val="1200"/>
              </a:spcAft>
              <a:buFont typeface="Arial" pitchFamily="34" charset="0"/>
              <a:buChar char="•"/>
            </a:pPr>
            <a:r>
              <a:rPr sz="1600" b="0" i="0">
                <a:solidFill>
                  <a:srgbClr val="000000"/>
                </a:solidFill>
                <a:latin typeface="Aptos"/>
              </a:rPr>
              <a:t>Retry Composite Bands over a bounded extent rather than the globe, and confirm the four-band stack is usable before scaling up.</a:t>
            </a:r>
          </a:p>
          <a:p>
            <a:pPr marL="200000" indent="-200000">
              <a:spcAft>
                <a:spcPts val="1200"/>
              </a:spcAft>
              <a:buFont typeface="Arial" pitchFamily="34" charset="0"/>
              <a:buChar char="•"/>
            </a:pPr>
            <a:r>
              <a:rPr sz="1600" b="0" i="0">
                <a:solidFill>
                  <a:srgbClr val="000000"/>
                </a:solidFill>
                <a:latin typeface="Aptos"/>
              </a:rPr>
              <a:t>Download the THEMIS Night IR global mosaic and difference it against the day mosaic.</a:t>
            </a:r>
          </a:p>
          <a:p>
            <a:pPr marL="200000" indent="-200000">
              <a:spcAft>
                <a:spcPts val="1200"/>
              </a:spcAft>
              <a:buFont typeface="Arial" pitchFamily="34" charset="0"/>
              <a:buChar char="•"/>
            </a:pPr>
            <a:r>
              <a:rPr sz="1600" b="0" i="0">
                <a:solidFill>
                  <a:srgbClr val="000000"/>
                </a:solidFill>
                <a:latin typeface="Aptos"/>
              </a:rPr>
              <a:t>Apply the Mercury classification workflow — Iso Cluster then Maximum Likelihood — to the Mars composite.</a:t>
            </a:r>
          </a:p>
          <a:p>
            <a:pPr marL="200000" indent="-200000">
              <a:spcAft>
                <a:spcPts val="1200"/>
              </a:spcAft>
              <a:buFont typeface="Arial" pitchFamily="34" charset="0"/>
              <a:buChar char="•"/>
            </a:pPr>
            <a:r>
              <a:rPr sz="1600" b="0" i="0">
                <a:solidFill>
                  <a:srgbClr val="000000"/>
                </a:solidFill>
                <a:latin typeface="Aptos"/>
              </a:rPr>
              <a:t>Rename the DN gradient products so they are not mistaken for terrain slope.</a:t>
            </a:r>
          </a:p>
          <a:p>
            <a:pPr marL="200000" indent="-200000">
              <a:spcAft>
                <a:spcPts val="1200"/>
              </a:spcAft>
              <a:buFont typeface="Arial" pitchFamily="34" charset="0"/>
              <a:buChar char="•"/>
            </a:pPr>
            <a:r>
              <a:rPr sz="1600" b="0" i="0">
                <a:solidFill>
                  <a:srgbClr val="000000"/>
                </a:solidFill>
                <a:latin typeface="Aptos"/>
              </a:rPr>
              <a:t>Delete the duplicate _2 and _3 nomenclature imports.</a:t>
            </a:r>
          </a:p>
          <a:p>
            <a:pPr marL="200000" indent="-200000">
              <a:spcAft>
                <a:spcPts val="1200"/>
              </a:spcAft>
              <a:buFont typeface="Arial" pitchFamily="34" charset="0"/>
              <a:buChar char="•"/>
            </a:pPr>
            <a:r>
              <a:rPr sz="1600" b="0" i="0">
                <a:solidFill>
                  <a:srgbClr val="000000"/>
                </a:solidFill>
                <a:latin typeface="Aptos"/>
              </a:rPr>
              <a:t>Build pyramids on the three global TIFFs — none of them has overviews, so every pass reads them at full resolution.</a:t>
            </a:r>
          </a:p>
          <a:p>
            <a:pPr marL="200000" indent="-200000">
              <a:spcAft>
                <a:spcPts val="1200"/>
              </a:spcAft>
              <a:buFont typeface="Arial" pitchFamily="34" charset="0"/>
              <a:buChar char="•"/>
            </a:pPr>
            <a:r>
              <a:rPr sz="1600" b="0" i="0">
                <a:solidFill>
                  <a:srgbClr val="000000"/>
                </a:solidFill>
                <a:latin typeface="Aptos"/>
              </a:rPr>
              <a:t>Remove the three dead raster references (HiRISE, Mercury, Enceladus) so the project opens without broken layers.</a:t>
            </a:r>
          </a:p>
          <a:p>
            <a:pPr marL="200000" indent="-200000">
              <a:spcAft>
                <a:spcPts val="1200"/>
              </a:spcAft>
              <a:buFont typeface="Arial" pitchFamily="34" charset="0"/>
              <a:buChar char="•"/>
            </a:pPr>
            <a:r>
              <a:rPr sz="1600" b="0" i="0">
                <a:solidFill>
                  <a:srgbClr val="000000"/>
                </a:solidFill>
                <a:latin typeface="Aptos"/>
              </a:rPr>
              <a:t>Start digitizing flow margins and channel centerlines in the Valles Marineris window.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5500" y="609600"/>
            <a:ext cx="10541000" cy="762000"/>
          </a:xfrm>
          <a:prstGeom prst="rect">
            <a:avLst/>
          </a:prstGeom>
          <a:noFill/>
        </p:spPr>
        <p:txBody>
          <a:bodyPr wrap="square" anchor="t" lIns="0" rIns="0" tIns="0" bIns="0">
            <a:spAutoFit/>
          </a:bodyPr>
          <a:lstStyle/>
          <a:p>
            <a:pPr>
              <a:buNone/>
            </a:pPr>
            <a:r>
              <a:rPr sz="3400" b="0" i="0">
                <a:solidFill>
                  <a:srgbClr val="000000"/>
                </a:solidFill>
                <a:latin typeface="Aptos Display"/>
              </a:rPr>
              <a:t>Remaining Schedule</a:t>
            </a:r>
          </a:p>
        </p:txBody>
      </p:sp>
      <p:sp>
        <p:nvSpPr>
          <p:cNvPr id="3" name="Rectangle 2"/>
          <p:cNvSpPr/>
          <p:nvPr/>
        </p:nvSpPr>
        <p:spPr>
          <a:xfrm>
            <a:off x="825500" y="1320800"/>
            <a:ext cx="939800" cy="50800"/>
          </a:xfrm>
          <a:prstGeom prst="rect">
            <a:avLst/>
          </a:prstGeom>
          <a:solidFill>
            <a:srgbClr val="0E9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5500" y="1676400"/>
          <a:ext cx="10540998" cy="3200400"/>
        </p:xfrm>
        <a:graphic>
          <a:graphicData uri="http://schemas.openxmlformats.org/drawingml/2006/table">
            <a:tbl>
              <a:tblPr firstRow="1">
                <a:tableStyleId>{5C22544A-7EE6-4342-B048-85BDC9FD1C3A}</a:tableStyleId>
              </a:tblPr>
              <a:tblGrid>
                <a:gridCol w="670790"/>
                <a:gridCol w="1533236"/>
                <a:gridCol w="6132945"/>
                <a:gridCol w="2204027"/>
              </a:tblGrid>
              <a:tr h="355600">
                <a:tc>
                  <a:txBody>
                    <a:bodyPr/>
                    <a:lstStyle/>
                    <a:p>
                      <a:pPr>
                        <a:buNone/>
                      </a:pPr>
                      <a:r>
                        <a:rPr sz="1050" b="1" i="0">
                          <a:solidFill>
                            <a:srgbClr val="FFFFFF"/>
                          </a:solidFill>
                          <a:latin typeface="Aptos"/>
                        </a:rPr>
                        <a:t>Week</a:t>
                      </a:r>
                    </a:p>
                  </a:txBody>
                  <a:tcPr marL="76200" marR="76200" marT="38100" marB="38100" anchor="ctr">
                    <a:solidFill>
                      <a:srgbClr val="0E2841"/>
                    </a:solidFill>
                  </a:tcPr>
                </a:tc>
                <a:tc>
                  <a:txBody>
                    <a:bodyPr/>
                    <a:lstStyle/>
                    <a:p>
                      <a:pPr>
                        <a:buNone/>
                      </a:pPr>
                      <a:r>
                        <a:rPr sz="1050" b="1" i="0">
                          <a:solidFill>
                            <a:srgbClr val="FFFFFF"/>
                          </a:solidFill>
                          <a:latin typeface="Aptos"/>
                        </a:rPr>
                        <a:t>Dates (2026)</a:t>
                      </a:r>
                    </a:p>
                  </a:txBody>
                  <a:tcPr marL="76200" marR="76200" marT="38100" marB="38100" anchor="ctr">
                    <a:solidFill>
                      <a:srgbClr val="0E2841"/>
                    </a:solidFill>
                  </a:tcPr>
                </a:tc>
                <a:tc>
                  <a:txBody>
                    <a:bodyPr/>
                    <a:lstStyle/>
                    <a:p>
                      <a:pPr>
                        <a:buNone/>
                      </a:pPr>
                      <a:r>
                        <a:rPr sz="1050" b="1" i="0">
                          <a:solidFill>
                            <a:srgbClr val="FFFFFF"/>
                          </a:solidFill>
                          <a:latin typeface="Aptos"/>
                        </a:rPr>
                        <a:t>Activity</a:t>
                      </a:r>
                    </a:p>
                  </a:txBody>
                  <a:tcPr marL="76200" marR="76200" marT="38100" marB="38100" anchor="ctr">
                    <a:solidFill>
                      <a:srgbClr val="0E2841"/>
                    </a:solidFill>
                  </a:tcPr>
                </a:tc>
                <a:tc>
                  <a:txBody>
                    <a:bodyPr/>
                    <a:lstStyle/>
                    <a:p>
                      <a:pPr>
                        <a:buNone/>
                      </a:pPr>
                      <a:r>
                        <a:rPr sz="1050" b="1" i="0">
                          <a:solidFill>
                            <a:srgbClr val="FFFFFF"/>
                          </a:solidFill>
                          <a:latin typeface="Aptos"/>
                        </a:rPr>
                        <a:t>Deliverable</a:t>
                      </a:r>
                    </a:p>
                  </a:txBody>
                  <a:tcPr marL="76200" marR="76200" marT="38100" marB="38100" anchor="ctr">
                    <a:solidFill>
                      <a:srgbClr val="0E2841"/>
                    </a:solidFill>
                  </a:tcPr>
                </a:tc>
              </a:tr>
              <a:tr h="355600">
                <a:tc>
                  <a:txBody>
                    <a:bodyPr/>
                    <a:lstStyle/>
                    <a:p>
                      <a:pPr>
                        <a:buNone/>
                      </a:pPr>
                      <a:r>
                        <a:rPr sz="1050" b="0" i="0">
                          <a:solidFill>
                            <a:srgbClr val="000000"/>
                          </a:solidFill>
                          <a:latin typeface="Aptos"/>
                        </a:rPr>
                        <a:t>5</a:t>
                      </a:r>
                    </a:p>
                  </a:txBody>
                  <a:tcPr marL="76200" marR="76200" marT="25400" marB="25400" anchor="ctr">
                    <a:solidFill>
                      <a:srgbClr val="FFFFFF"/>
                    </a:solidFill>
                  </a:tcPr>
                </a:tc>
                <a:tc>
                  <a:txBody>
                    <a:bodyPr/>
                    <a:lstStyle/>
                    <a:p>
                      <a:pPr>
                        <a:buNone/>
                      </a:pPr>
                      <a:r>
                        <a:rPr sz="1050" b="0" i="0">
                          <a:solidFill>
                            <a:srgbClr val="000000"/>
                          </a:solidFill>
                          <a:latin typeface="Aptos"/>
                        </a:rPr>
                        <a:t>Sep 21 – Sep 25</a:t>
                      </a:r>
                    </a:p>
                  </a:txBody>
                  <a:tcPr marL="76200" marR="76200" marT="25400" marB="25400" anchor="ctr">
                    <a:solidFill>
                      <a:srgbClr val="FFFFFF"/>
                    </a:solidFill>
                  </a:tcPr>
                </a:tc>
                <a:tc>
                  <a:txBody>
                    <a:bodyPr/>
                    <a:lstStyle/>
                    <a:p>
                      <a:pPr>
                        <a:buNone/>
                      </a:pPr>
                      <a:r>
                        <a:rPr sz="1050" b="0" i="0">
                          <a:solidFill>
                            <a:srgbClr val="000000"/>
                          </a:solidFill>
                          <a:latin typeface="Aptos"/>
                        </a:rPr>
                        <a:t>Composite Bands over bounded extents; acquire THEMIS Night IR</a:t>
                      </a:r>
                    </a:p>
                  </a:txBody>
                  <a:tcPr marL="76200" marR="76200" marT="25400" marB="25400" anchor="ctr">
                    <a:solidFill>
                      <a:srgbClr val="FFFFFF"/>
                    </a:solidFill>
                  </a:tcPr>
                </a:tc>
                <a:tc>
                  <a:txBody>
                    <a:bodyPr/>
                    <a:lstStyle/>
                    <a:p>
                      <a:pPr>
                        <a:buNone/>
                      </a:pPr>
                      <a:r>
                        <a:rPr sz="1050" b="0" i="0">
                          <a:solidFill>
                            <a:srgbClr val="000000"/>
                          </a:solidFill>
                          <a:latin typeface="Aptos"/>
                        </a:rPr>
                        <a:t>Visible + IR composite raster</a:t>
                      </a:r>
                    </a:p>
                  </a:txBody>
                  <a:tcPr marL="76200" marR="76200" marT="25400" marB="25400" anchor="ctr">
                    <a:solidFill>
                      <a:srgbClr val="FFFFFF"/>
                    </a:solidFill>
                  </a:tcPr>
                </a:tc>
              </a:tr>
              <a:tr h="355600">
                <a:tc>
                  <a:txBody>
                    <a:bodyPr/>
                    <a:lstStyle/>
                    <a:p>
                      <a:pPr>
                        <a:buNone/>
                      </a:pPr>
                      <a:r>
                        <a:rPr sz="1050" b="0" i="0">
                          <a:solidFill>
                            <a:srgbClr val="000000"/>
                          </a:solidFill>
                          <a:latin typeface="Aptos"/>
                        </a:rPr>
                        <a:t>6</a:t>
                      </a:r>
                    </a:p>
                  </a:txBody>
                  <a:tcPr marL="76200" marR="76200" marT="25400" marB="25400" anchor="ctr">
                    <a:solidFill>
                      <a:srgbClr val="EEF3F7"/>
                    </a:solidFill>
                  </a:tcPr>
                </a:tc>
                <a:tc>
                  <a:txBody>
                    <a:bodyPr/>
                    <a:lstStyle/>
                    <a:p>
                      <a:pPr>
                        <a:buNone/>
                      </a:pPr>
                      <a:r>
                        <a:rPr sz="1050" b="0" i="0">
                          <a:solidFill>
                            <a:srgbClr val="000000"/>
                          </a:solidFill>
                          <a:latin typeface="Aptos"/>
                        </a:rPr>
                        <a:t>Sep 28 – Oct 2</a:t>
                      </a:r>
                    </a:p>
                  </a:txBody>
                  <a:tcPr marL="76200" marR="76200" marT="25400" marB="25400" anchor="ctr">
                    <a:solidFill>
                      <a:srgbClr val="EEF3F7"/>
                    </a:solidFill>
                  </a:tcPr>
                </a:tc>
                <a:tc>
                  <a:txBody>
                    <a:bodyPr/>
                    <a:lstStyle/>
                    <a:p>
                      <a:pPr>
                        <a:buNone/>
                      </a:pPr>
                      <a:r>
                        <a:rPr sz="1050" b="0" i="0">
                          <a:solidFill>
                            <a:srgbClr val="000000"/>
                          </a:solidFill>
                          <a:latin typeface="Aptos"/>
                        </a:rPr>
                        <a:t>Day–night thermal difference; training polygons</a:t>
                      </a:r>
                    </a:p>
                  </a:txBody>
                  <a:tcPr marL="76200" marR="76200" marT="25400" marB="25400" anchor="ctr">
                    <a:solidFill>
                      <a:srgbClr val="EEF3F7"/>
                    </a:solidFill>
                  </a:tcPr>
                </a:tc>
                <a:tc>
                  <a:txBody>
                    <a:bodyPr/>
                    <a:lstStyle/>
                    <a:p>
                      <a:pPr>
                        <a:buNone/>
                      </a:pPr>
                      <a:r>
                        <a:rPr sz="1050" b="0" i="0">
                          <a:solidFill>
                            <a:srgbClr val="000000"/>
                          </a:solidFill>
                          <a:latin typeface="Aptos"/>
                        </a:rPr>
                        <a:t>Thermal inertia proxy</a:t>
                      </a:r>
                    </a:p>
                  </a:txBody>
                  <a:tcPr marL="76200" marR="76200" marT="25400" marB="25400" anchor="ctr">
                    <a:solidFill>
                      <a:srgbClr val="EEF3F7"/>
                    </a:solidFill>
                  </a:tcPr>
                </a:tc>
              </a:tr>
              <a:tr h="355600">
                <a:tc>
                  <a:txBody>
                    <a:bodyPr/>
                    <a:lstStyle/>
                    <a:p>
                      <a:pPr>
                        <a:buNone/>
                      </a:pPr>
                      <a:r>
                        <a:rPr sz="1050" b="0" i="0">
                          <a:solidFill>
                            <a:srgbClr val="000000"/>
                          </a:solidFill>
                          <a:latin typeface="Aptos"/>
                        </a:rPr>
                        <a:t>7–8</a:t>
                      </a:r>
                    </a:p>
                  </a:txBody>
                  <a:tcPr marL="76200" marR="76200" marT="25400" marB="25400" anchor="ctr">
                    <a:solidFill>
                      <a:srgbClr val="FFFFFF"/>
                    </a:solidFill>
                  </a:tcPr>
                </a:tc>
                <a:tc>
                  <a:txBody>
                    <a:bodyPr/>
                    <a:lstStyle/>
                    <a:p>
                      <a:pPr>
                        <a:buNone/>
                      </a:pPr>
                      <a:r>
                        <a:rPr sz="1050" b="0" i="0">
                          <a:solidFill>
                            <a:srgbClr val="000000"/>
                          </a:solidFill>
                          <a:latin typeface="Aptos"/>
                        </a:rPr>
                        <a:t>Oct 5 – Oct 16</a:t>
                      </a:r>
                    </a:p>
                  </a:txBody>
                  <a:tcPr marL="76200" marR="76200" marT="25400" marB="25400" anchor="ctr">
                    <a:solidFill>
                      <a:srgbClr val="FFFFFF"/>
                    </a:solidFill>
                  </a:tcPr>
                </a:tc>
                <a:tc>
                  <a:txBody>
                    <a:bodyPr/>
                    <a:lstStyle/>
                    <a:p>
                      <a:pPr>
                        <a:buNone/>
                      </a:pPr>
                      <a:r>
                        <a:rPr sz="1050" b="0" i="0">
                          <a:solidFill>
                            <a:srgbClr val="000000"/>
                          </a:solidFill>
                          <a:latin typeface="Aptos"/>
                        </a:rPr>
                        <a:t>Iso Cluster and Maximum Likelihood classification of the Mars stack</a:t>
                      </a:r>
                    </a:p>
                  </a:txBody>
                  <a:tcPr marL="76200" marR="76200" marT="25400" marB="25400" anchor="ctr">
                    <a:solidFill>
                      <a:srgbClr val="FFFFFF"/>
                    </a:solidFill>
                  </a:tcPr>
                </a:tc>
                <a:tc>
                  <a:txBody>
                    <a:bodyPr/>
                    <a:lstStyle/>
                    <a:p>
                      <a:pPr>
                        <a:buNone/>
                      </a:pPr>
                      <a:r>
                        <a:rPr sz="1050" b="0" i="0">
                          <a:solidFill>
                            <a:srgbClr val="000000"/>
                          </a:solidFill>
                          <a:latin typeface="Aptos"/>
                        </a:rPr>
                        <a:t>Interim presentation; classified raster</a:t>
                      </a:r>
                    </a:p>
                  </a:txBody>
                  <a:tcPr marL="76200" marR="76200" marT="25400" marB="25400" anchor="ctr">
                    <a:solidFill>
                      <a:srgbClr val="FFFFFF"/>
                    </a:solidFill>
                  </a:tcPr>
                </a:tc>
              </a:tr>
              <a:tr h="355600">
                <a:tc>
                  <a:txBody>
                    <a:bodyPr/>
                    <a:lstStyle/>
                    <a:p>
                      <a:pPr>
                        <a:buNone/>
                      </a:pPr>
                      <a:r>
                        <a:rPr sz="1050" b="0" i="0">
                          <a:solidFill>
                            <a:srgbClr val="000000"/>
                          </a:solidFill>
                          <a:latin typeface="Aptos"/>
                        </a:rPr>
                        <a:t>9–10</a:t>
                      </a:r>
                    </a:p>
                  </a:txBody>
                  <a:tcPr marL="76200" marR="76200" marT="25400" marB="25400" anchor="ctr">
                    <a:solidFill>
                      <a:srgbClr val="EEF3F7"/>
                    </a:solidFill>
                  </a:tcPr>
                </a:tc>
                <a:tc>
                  <a:txBody>
                    <a:bodyPr/>
                    <a:lstStyle/>
                    <a:p>
                      <a:pPr>
                        <a:buNone/>
                      </a:pPr>
                      <a:r>
                        <a:rPr sz="1050" b="0" i="0">
                          <a:solidFill>
                            <a:srgbClr val="000000"/>
                          </a:solidFill>
                          <a:latin typeface="Aptos"/>
                        </a:rPr>
                        <a:t>Oct 19 – Oct 30</a:t>
                      </a:r>
                    </a:p>
                  </a:txBody>
                  <a:tcPr marL="76200" marR="76200" marT="25400" marB="25400" anchor="ctr">
                    <a:solidFill>
                      <a:srgbClr val="EEF3F7"/>
                    </a:solidFill>
                  </a:tcPr>
                </a:tc>
                <a:tc>
                  <a:txBody>
                    <a:bodyPr/>
                    <a:lstStyle/>
                    <a:p>
                      <a:pPr>
                        <a:buNone/>
                      </a:pPr>
                      <a:r>
                        <a:rPr sz="1050" b="0" i="0">
                          <a:solidFill>
                            <a:srgbClr val="000000"/>
                          </a:solidFill>
                          <a:latin typeface="Aptos"/>
                        </a:rPr>
                        <a:t>Digitize lava flow margins, channel centerlines, crater rims</a:t>
                      </a:r>
                    </a:p>
                  </a:txBody>
                  <a:tcPr marL="76200" marR="76200" marT="25400" marB="25400" anchor="ctr">
                    <a:solidFill>
                      <a:srgbClr val="EEF3F7"/>
                    </a:solidFill>
                  </a:tcPr>
                </a:tc>
                <a:tc>
                  <a:txBody>
                    <a:bodyPr/>
                    <a:lstStyle/>
                    <a:p>
                      <a:pPr>
                        <a:buNone/>
                      </a:pPr>
                      <a:r>
                        <a:rPr sz="1050" b="0" i="0">
                          <a:solidFill>
                            <a:srgbClr val="000000"/>
                          </a:solidFill>
                          <a:latin typeface="Aptos"/>
                        </a:rPr>
                        <a:t>Landform feature classes</a:t>
                      </a:r>
                    </a:p>
                  </a:txBody>
                  <a:tcPr marL="76200" marR="76200" marT="25400" marB="25400" anchor="ctr">
                    <a:solidFill>
                      <a:srgbClr val="EEF3F7"/>
                    </a:solidFill>
                  </a:tcPr>
                </a:tc>
              </a:tr>
              <a:tr h="355600">
                <a:tc>
                  <a:txBody>
                    <a:bodyPr/>
                    <a:lstStyle/>
                    <a:p>
                      <a:pPr>
                        <a:buNone/>
                      </a:pPr>
                      <a:r>
                        <a:rPr sz="1050" b="0" i="0">
                          <a:solidFill>
                            <a:srgbClr val="000000"/>
                          </a:solidFill>
                          <a:latin typeface="Aptos"/>
                        </a:rPr>
                        <a:t>11–12</a:t>
                      </a:r>
                    </a:p>
                  </a:txBody>
                  <a:tcPr marL="76200" marR="76200" marT="25400" marB="25400" anchor="ctr">
                    <a:solidFill>
                      <a:srgbClr val="FFFFFF"/>
                    </a:solidFill>
                  </a:tcPr>
                </a:tc>
                <a:tc>
                  <a:txBody>
                    <a:bodyPr/>
                    <a:lstStyle/>
                    <a:p>
                      <a:pPr>
                        <a:buNone/>
                      </a:pPr>
                      <a:r>
                        <a:rPr sz="1050" b="0" i="0">
                          <a:solidFill>
                            <a:srgbClr val="000000"/>
                          </a:solidFill>
                          <a:latin typeface="Aptos"/>
                        </a:rPr>
                        <a:t>Nov 2 – Nov 13</a:t>
                      </a:r>
                    </a:p>
                  </a:txBody>
                  <a:tcPr marL="76200" marR="76200" marT="25400" marB="25400" anchor="ctr">
                    <a:solidFill>
                      <a:srgbClr val="FFFFFF"/>
                    </a:solidFill>
                  </a:tcPr>
                </a:tc>
                <a:tc>
                  <a:txBody>
                    <a:bodyPr/>
                    <a:lstStyle/>
                    <a:p>
                      <a:pPr>
                        <a:buNone/>
                      </a:pPr>
                      <a:r>
                        <a:rPr sz="1050" b="0" i="0">
                          <a:solidFill>
                            <a:srgbClr val="000000"/>
                          </a:solidFill>
                          <a:latin typeface="Aptos"/>
                        </a:rPr>
                        <a:t>Crater inventory and size-frequency distributions in the type area</a:t>
                      </a:r>
                    </a:p>
                  </a:txBody>
                  <a:tcPr marL="76200" marR="76200" marT="25400" marB="25400" anchor="ctr">
                    <a:solidFill>
                      <a:srgbClr val="FFFFFF"/>
                    </a:solidFill>
                  </a:tcPr>
                </a:tc>
                <a:tc>
                  <a:txBody>
                    <a:bodyPr/>
                    <a:lstStyle/>
                    <a:p>
                      <a:pPr>
                        <a:buNone/>
                      </a:pPr>
                      <a:r>
                        <a:rPr sz="1050" b="0" i="0">
                          <a:solidFill>
                            <a:srgbClr val="000000"/>
                          </a:solidFill>
                          <a:latin typeface="Aptos"/>
                        </a:rPr>
                        <a:t>Crater database</a:t>
                      </a:r>
                    </a:p>
                  </a:txBody>
                  <a:tcPr marL="76200" marR="76200" marT="25400" marB="25400" anchor="ctr">
                    <a:solidFill>
                      <a:srgbClr val="FFFFFF"/>
                    </a:solidFill>
                  </a:tcPr>
                </a:tc>
              </a:tr>
              <a:tr h="355600">
                <a:tc>
                  <a:txBody>
                    <a:bodyPr/>
                    <a:lstStyle/>
                    <a:p>
                      <a:pPr>
                        <a:buNone/>
                      </a:pPr>
                      <a:r>
                        <a:rPr sz="1050" b="0" i="0">
                          <a:solidFill>
                            <a:srgbClr val="000000"/>
                          </a:solidFill>
                          <a:latin typeface="Aptos"/>
                        </a:rPr>
                        <a:t>13</a:t>
                      </a:r>
                    </a:p>
                  </a:txBody>
                  <a:tcPr marL="76200" marR="76200" marT="25400" marB="25400" anchor="ctr">
                    <a:solidFill>
                      <a:srgbClr val="EEF3F7"/>
                    </a:solidFill>
                  </a:tcPr>
                </a:tc>
                <a:tc>
                  <a:txBody>
                    <a:bodyPr/>
                    <a:lstStyle/>
                    <a:p>
                      <a:pPr>
                        <a:buNone/>
                      </a:pPr>
                      <a:r>
                        <a:rPr sz="1050" b="0" i="0">
                          <a:solidFill>
                            <a:srgbClr val="000000"/>
                          </a:solidFill>
                          <a:latin typeface="Aptos"/>
                        </a:rPr>
                        <a:t>Nov 16 – Nov 20</a:t>
                      </a:r>
                    </a:p>
                  </a:txBody>
                  <a:tcPr marL="76200" marR="76200" marT="25400" marB="25400" anchor="ctr">
                    <a:solidFill>
                      <a:srgbClr val="EEF3F7"/>
                    </a:solidFill>
                  </a:tcPr>
                </a:tc>
                <a:tc>
                  <a:txBody>
                    <a:bodyPr/>
                    <a:lstStyle/>
                    <a:p>
                      <a:pPr>
                        <a:buNone/>
                      </a:pPr>
                      <a:r>
                        <a:rPr sz="1050" b="0" i="0">
                          <a:solidFill>
                            <a:srgbClr val="000000"/>
                          </a:solidFill>
                          <a:latin typeface="Aptos"/>
                        </a:rPr>
                        <a:t>Accuracy assessment against a published geologic map</a:t>
                      </a:r>
                    </a:p>
                  </a:txBody>
                  <a:tcPr marL="76200" marR="76200" marT="25400" marB="25400" anchor="ctr">
                    <a:solidFill>
                      <a:srgbClr val="EEF3F7"/>
                    </a:solidFill>
                  </a:tcPr>
                </a:tc>
                <a:tc>
                  <a:txBody>
                    <a:bodyPr/>
                    <a:lstStyle/>
                    <a:p>
                      <a:pPr>
                        <a:buNone/>
                      </a:pPr>
                      <a:r>
                        <a:rPr sz="1050" b="0" i="0">
                          <a:solidFill>
                            <a:srgbClr val="000000"/>
                          </a:solidFill>
                          <a:latin typeface="Aptos"/>
                        </a:rPr>
                        <a:t>Confusion matrix</a:t>
                      </a:r>
                    </a:p>
                  </a:txBody>
                  <a:tcPr marL="76200" marR="76200" marT="25400" marB="25400" anchor="ctr">
                    <a:solidFill>
                      <a:srgbClr val="EEF3F7"/>
                    </a:solidFill>
                  </a:tcPr>
                </a:tc>
              </a:tr>
              <a:tr h="355600">
                <a:tc>
                  <a:txBody>
                    <a:bodyPr/>
                    <a:lstStyle/>
                    <a:p>
                      <a:pPr>
                        <a:buNone/>
                      </a:pPr>
                      <a:r>
                        <a:rPr sz="1050" b="0" i="0">
                          <a:solidFill>
                            <a:srgbClr val="000000"/>
                          </a:solidFill>
                          <a:latin typeface="Aptos"/>
                        </a:rPr>
                        <a:t>14</a:t>
                      </a:r>
                    </a:p>
                  </a:txBody>
                  <a:tcPr marL="76200" marR="76200" marT="25400" marB="25400" anchor="ctr">
                    <a:solidFill>
                      <a:srgbClr val="FFFFFF"/>
                    </a:solidFill>
                  </a:tcPr>
                </a:tc>
                <a:tc>
                  <a:txBody>
                    <a:bodyPr/>
                    <a:lstStyle/>
                    <a:p>
                      <a:pPr>
                        <a:buNone/>
                      </a:pPr>
                      <a:r>
                        <a:rPr sz="1050" b="0" i="0">
                          <a:solidFill>
                            <a:srgbClr val="000000"/>
                          </a:solidFill>
                          <a:latin typeface="Aptos"/>
                        </a:rPr>
                        <a:t>Nov 23 – Nov 27</a:t>
                      </a:r>
                    </a:p>
                  </a:txBody>
                  <a:tcPr marL="76200" marR="76200" marT="25400" marB="25400" anchor="ctr">
                    <a:solidFill>
                      <a:srgbClr val="FFFFFF"/>
                    </a:solidFill>
                  </a:tcPr>
                </a:tc>
                <a:tc>
                  <a:txBody>
                    <a:bodyPr/>
                    <a:lstStyle/>
                    <a:p>
                      <a:pPr>
                        <a:buNone/>
                      </a:pPr>
                      <a:r>
                        <a:rPr sz="1050" b="0" i="0">
                          <a:solidFill>
                            <a:srgbClr val="000000"/>
                          </a:solidFill>
                          <a:latin typeface="Aptos"/>
                        </a:rPr>
                        <a:t>Map layouts and figure production (Thanksgiving week — front-load into week 13)</a:t>
                      </a:r>
                    </a:p>
                  </a:txBody>
                  <a:tcPr marL="76200" marR="76200" marT="25400" marB="25400" anchor="ctr">
                    <a:solidFill>
                      <a:srgbClr val="FFFFFF"/>
                    </a:solidFill>
                  </a:tcPr>
                </a:tc>
                <a:tc>
                  <a:txBody>
                    <a:bodyPr/>
                    <a:lstStyle/>
                    <a:p>
                      <a:pPr>
                        <a:buNone/>
                      </a:pPr>
                      <a:r>
                        <a:rPr sz="1050" b="0" i="0">
                          <a:solidFill>
                            <a:srgbClr val="000000"/>
                          </a:solidFill>
                          <a:latin typeface="Aptos"/>
                        </a:rPr>
                        <a:t>Map sheets</a:t>
                      </a:r>
                    </a:p>
                  </a:txBody>
                  <a:tcPr marL="76200" marR="76200" marT="25400" marB="25400" anchor="ctr">
                    <a:solidFill>
                      <a:srgbClr val="FFFFFF"/>
                    </a:solidFill>
                  </a:tcPr>
                </a:tc>
              </a:tr>
              <a:tr h="355600">
                <a:tc>
                  <a:txBody>
                    <a:bodyPr/>
                    <a:lstStyle/>
                    <a:p>
                      <a:pPr>
                        <a:buNone/>
                      </a:pPr>
                      <a:r>
                        <a:rPr sz="1050" b="0" i="0">
                          <a:solidFill>
                            <a:srgbClr val="000000"/>
                          </a:solidFill>
                          <a:latin typeface="Aptos"/>
                        </a:rPr>
                        <a:t>15</a:t>
                      </a:r>
                    </a:p>
                  </a:txBody>
                  <a:tcPr marL="76200" marR="76200" marT="25400" marB="25400" anchor="ctr">
                    <a:solidFill>
                      <a:srgbClr val="EEF3F7"/>
                    </a:solidFill>
                  </a:tcPr>
                </a:tc>
                <a:tc>
                  <a:txBody>
                    <a:bodyPr/>
                    <a:lstStyle/>
                    <a:p>
                      <a:pPr>
                        <a:buNone/>
                      </a:pPr>
                      <a:r>
                        <a:rPr sz="1050" b="0" i="0">
                          <a:solidFill>
                            <a:srgbClr val="000000"/>
                          </a:solidFill>
                          <a:latin typeface="Aptos"/>
                        </a:rPr>
                        <a:t>Nov 30 – Dec 4</a:t>
                      </a:r>
                    </a:p>
                  </a:txBody>
                  <a:tcPr marL="76200" marR="76200" marT="25400" marB="25400" anchor="ctr">
                    <a:solidFill>
                      <a:srgbClr val="EEF3F7"/>
                    </a:solidFill>
                  </a:tcPr>
                </a:tc>
                <a:tc>
                  <a:txBody>
                    <a:bodyPr/>
                    <a:lstStyle/>
                    <a:p>
                      <a:pPr>
                        <a:buNone/>
                      </a:pPr>
                      <a:r>
                        <a:rPr sz="1050" b="0" i="0">
                          <a:solidFill>
                            <a:srgbClr val="000000"/>
                          </a:solidFill>
                          <a:latin typeface="Aptos"/>
                        </a:rPr>
                        <a:t>Final presentation and written report</a:t>
                      </a:r>
                    </a:p>
                  </a:txBody>
                  <a:tcPr marL="76200" marR="76200" marT="25400" marB="25400" anchor="ctr">
                    <a:solidFill>
                      <a:srgbClr val="EEF3F7"/>
                    </a:solidFill>
                  </a:tcPr>
                </a:tc>
                <a:tc>
                  <a:txBody>
                    <a:bodyPr/>
                    <a:lstStyle/>
                    <a:p>
                      <a:pPr>
                        <a:buNone/>
                      </a:pPr>
                      <a:r>
                        <a:rPr sz="1050" b="0" i="0">
                          <a:solidFill>
                            <a:srgbClr val="000000"/>
                          </a:solidFill>
                          <a:latin typeface="Aptos"/>
                        </a:rPr>
                        <a:t>Final deliverables</a:t>
                      </a:r>
                    </a:p>
                  </a:txBody>
                  <a:tcPr marL="76200" marR="76200" marT="25400" marB="25400" anchor="ctr">
                    <a:solidFill>
                      <a:srgbClr val="EEF3F7"/>
                    </a:solidFill>
                  </a:tcPr>
                </a:tc>
              </a:tr>
            </a:tbl>
          </a:graphicData>
        </a:graphic>
      </p:graphicFrame>
      <p:sp>
        <p:nvSpPr>
          <p:cNvPr id="5" name="TextBox 4"/>
          <p:cNvSpPr txBox="1"/>
          <p:nvPr/>
        </p:nvSpPr>
        <p:spPr>
          <a:xfrm>
            <a:off x="825500" y="5588000"/>
            <a:ext cx="10541000" cy="508000"/>
          </a:xfrm>
          <a:prstGeom prst="rect">
            <a:avLst/>
          </a:prstGeom>
          <a:noFill/>
        </p:spPr>
        <p:txBody>
          <a:bodyPr wrap="square" anchor="t" lIns="0" rIns="0" tIns="0" bIns="0">
            <a:spAutoFit/>
          </a:bodyPr>
          <a:lstStyle/>
          <a:p>
            <a:pPr>
              <a:buNone/>
            </a:pPr>
            <a:r>
              <a:rPr sz="1100" b="0" i="1">
                <a:solidFill>
                  <a:srgbClr val="555F66"/>
                </a:solidFill>
                <a:latin typeface="Aptos"/>
              </a:rPr>
              <a:t>The critical path runs through weeks 5–8: nothing can be classified until the composite exists, and nothing can be digitized until it is classified.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