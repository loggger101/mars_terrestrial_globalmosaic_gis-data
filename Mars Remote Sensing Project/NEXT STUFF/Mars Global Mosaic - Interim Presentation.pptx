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489200"/>
            <a:ext cx="12192000" cy="10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buNone/>
            </a:pPr>
            <a:r>
              <a:rPr sz="6000" b="0" i="0">
                <a:solidFill>
                  <a:srgbClr val="000000"/>
                </a:solidFill>
                <a:latin typeface="Aptos Display"/>
              </a:rPr>
              <a:t>Mars Global Mosaic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581400"/>
            <a:ext cx="12192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buNone/>
            </a:pPr>
            <a:r>
              <a:rPr sz="1200" b="0" i="0">
                <a:solidFill>
                  <a:srgbClr val="000000"/>
                </a:solidFill>
                <a:latin typeface="Aptos"/>
              </a:rPr>
              <a:t>Mars Global Mosaic: Mapping Lava Flows, Fluvial Channels, and Impact Craters in Visible and Infrared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873500"/>
            <a:ext cx="12192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buNone/>
            </a:pPr>
            <a:r>
              <a:rPr sz="1200" b="0" i="0">
                <a:solidFill>
                  <a:srgbClr val="000000"/>
                </a:solidFill>
                <a:latin typeface="Aptos"/>
              </a:rPr>
              <a:t>REMOTE SENSING 2026 OCN 4704 · Logan Edwards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165600"/>
            <a:ext cx="12192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buNone/>
            </a:pPr>
            <a:r>
              <a:rPr sz="1200" b="0" i="0">
                <a:solidFill>
                  <a:srgbClr val="000000"/>
                </a:solidFill>
                <a:latin typeface="Aptos"/>
              </a:rPr>
              <a:t>Interim Presentation · status as of 8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Project Goals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5500" y="1676400"/>
            <a:ext cx="10541000" cy="10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700" b="0" i="0">
                <a:solidFill>
                  <a:srgbClr val="000000"/>
                </a:solidFill>
                <a:latin typeface="Aptos"/>
              </a:rPr>
              <a:t>Assemble one co-registered visible and thermal-infrared mosaic of Mars in ArcGIS Pro, over the ±60° band the THEMIS night mosaic covers (86.6% of the surface), and use it to map lava flows, fluvial channels and impact craters.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500" y="2946400"/>
            <a:ext cx="10541000" cy="34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12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One co-registered stack: Viking visible colour, THEMIS day and night infrared, HRSC/MOLA topography, on a single grid over ±60°.</a:t>
            </a:r>
          </a:p>
          <a:p>
            <a:pPr marL="200000" indent="-200000">
              <a:spcAft>
                <a:spcPts val="12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Map and classify the three landform families from it, in a type area first (Ius Chasma) and then across ±60°.</a:t>
            </a:r>
          </a:p>
          <a:p>
            <a:pPr marL="200000" indent="-200000">
              <a:spcAft>
                <a:spcPts val="12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Test whether thermal infrared separates surfaces that visible light cannot.</a:t>
            </a:r>
          </a:p>
          <a:p>
            <a:pPr marL="200000" indent="-200000">
              <a:spcAft>
                <a:spcPts val="12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Score every product against something it never saw: held-out hand labels, the IAU crater gazetteer, and the USGS geologic map.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Relevant Spectral Bands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5500" y="1676400"/>
          <a:ext cx="10540998" cy="3048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84171"/>
                <a:gridCol w="1804315"/>
                <a:gridCol w="664747"/>
                <a:gridCol w="5887765"/>
              </a:tblGrid>
              <a:tr h="50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Band or product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Wavelength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Cell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What it contributes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Viking MDIM 2.1 R, G, B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visible, ~0.4–0.7 µm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232 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Albedo: bright dust against dark basalt. Keeps real regional differences (§28.10).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THEMIS Day IR (v12)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thermal IR, 6.8–14.9 µm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100 m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Daytime temperature: bright in visible = cool by day (r −0.49 at Ius, §18.3).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THEMIS Night IR (v14, ±60°)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thermal IR, 6.8–14.9 µm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100 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Night temperature: rock holds heat. The most independent band, |r| ≤ 0.12 (§18.3).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HRSC/MOLA blended DEM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altimetry + stereo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200 m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Slope in degrees, local relief, hillshade, flow routing, closed-depression depth (§20).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Diurnal contrast index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day − night, relative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100 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A local material discriminator inside one area; not thermal inertia, not planet-wide (§24, §28.10).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Why Fuse Them: Three Independent Dimensions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5500" y="1676400"/>
          <a:ext cx="10540998" cy="2590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55393"/>
                <a:gridCol w="1597121"/>
                <a:gridCol w="1597121"/>
                <a:gridCol w="1597121"/>
                <a:gridCol w="1597121"/>
                <a:gridCol w="1597121"/>
              </a:tblGrid>
              <a:tr h="431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ptos"/>
                        </a:rPr>
                        <a:t>Ius Chasma, r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ptos"/>
                        </a:rPr>
                        <a:t>Viking R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ptos"/>
                        </a:rPr>
                        <a:t>Viking G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ptos"/>
                        </a:rPr>
                        <a:t>Viking B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ptos"/>
                        </a:rPr>
                        <a:t>Day IR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ptos"/>
                        </a:rPr>
                        <a:t>Night IR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Viking R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+0.960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+0.925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−0.486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−0.121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Viking G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+0.960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+0.993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−0.496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−0.085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Viking B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+0.925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+0.993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−0.488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−0.068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Day IR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−0.486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−0.496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−0.488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+0.105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Night IR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−0.121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−0.085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−0.068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+0.105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5500" y="4572000"/>
            <a:ext cx="10541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300" b="0" i="1">
                <a:solidFill>
                  <a:srgbClr val="555F66"/>
                </a:solidFill>
                <a:latin typeface="Aptos"/>
              </a:rPr>
              <a:t>Three visible bands are one dimension (r 0.93–0.99); day IR adds a second, night IR a third. Effective dimensionality ≈ 3: the measured case for fusing them.   PROJECT-KNOWLEDGE.md §18.3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Project Tasks and Percent Complete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5500" y="1676400"/>
          <a:ext cx="10540999" cy="4572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83309"/>
                <a:gridCol w="2874818"/>
                <a:gridCol w="5749636"/>
                <a:gridCol w="766618"/>
                <a:gridCol w="766618"/>
              </a:tblGrid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ptos"/>
                        </a:rPr>
                        <a:t>#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ptos"/>
                        </a:rPr>
                        <a:t>Task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ptos"/>
                        </a:rPr>
                        <a:t>Where it stands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ptos"/>
                        </a:rPr>
                        <a:t>13 Sep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ptos"/>
                        </a:rPr>
                        <a:t>Now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Scope, targets and type area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Ius Chasma type area; ±60° extent decided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90%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2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Raster acquisition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Three globals + THEMIS Night IR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100%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Statistics, stretches, pyramids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All products overviewed; the four source globals still not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70%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4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Grouped mosaic viewer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Done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100%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DEM terrain derivatives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Rebuilt in degrees, type area and ±60°; WARNING 000869 gone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80%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6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Image-gradient products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Renamed Gradient_*; not used further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70%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7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Jezero context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Hosted services only; HiRISE link dead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20%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8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Classification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±60° SVM on hand-drawn labels: 73.5%, κ 0.58 held out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20%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9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CRS harmonisation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Done: one 100 m / 200 m grid over ±60°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15%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10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Visible + IR composite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Done: type area; 7-band ±60° stack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5%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Landform digitising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Classes ready and empty; 512 training polygons drawn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12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Crater inventory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1,685 at Ius ≥ 1 km; 5,144 basins ≥ 20 km at ±60°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0%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Map layouts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8 layouts, from none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14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Report and presentations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Interim being rebuilt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25%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Processing Completed Since the Last Report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5500" y="1676400"/>
          <a:ext cx="10540999" cy="42672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23398"/>
                <a:gridCol w="4502951"/>
                <a:gridCol w="4093592"/>
                <a:gridCol w="921058"/>
              </a:tblGrid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When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What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Outcome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KB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18 Sep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Type-area stack: four inputs on one 100 m grid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Composite in 8.8 s, 100% co-valid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§18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18 Sep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THEMIS Night IR acquired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14.14 GB, pixel-aligned with day IR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§15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18 Sep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Slope and hillshade rebuilt on a metric grid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Slope in degrees; z-factor warning gone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§20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19 Sep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±60° grids and diurnal contrast index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15.2 bn px in 36.3 min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§28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19 Sep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Channel and crater candidates, Ius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2,610 channels; 1,685 craters in 49 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§25–26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19 Sep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Basins at ±60°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5,144 ≥ 20 km in 48 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§28.11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24–30 Sep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Global composites in the Pro GUI (desktop)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First successes: 2 h 52 m, 3 h 10 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§29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29 Sep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Hand-drawn training polygons; SVMs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Four classes; two ±60° maps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§29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 Oct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The first two SVM maps checked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Tile artefact; mostly elevation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§30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3 Oct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Corrected stack; SVM scored held out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73.5%, κ 0.58 (5 × 5)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§31–32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6–8 Oct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Backup to GitHub; class codes; layout 08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Eight layouts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§35–38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2489200"/>
            <a:ext cx="10541000" cy="43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400" b="0" i="0">
                <a:solidFill>
                  <a:srgbClr val="0E9ED4"/>
                </a:solidFill>
                <a:latin typeface="Aptos"/>
              </a:rPr>
              <a:t>Preliminary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5500" y="2870200"/>
            <a:ext cx="10541000" cy="88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4800" b="0" i="0">
                <a:solidFill>
                  <a:srgbClr val="FFFFFF"/>
                </a:solidFill>
                <a:latin typeface="Aptos Display"/>
              </a:rPr>
              <a:t>What the data show so far</a:t>
            </a:r>
          </a:p>
        </p:txBody>
      </p:sp>
      <p:sp>
        <p:nvSpPr>
          <p:cNvPr id="4" name="Rectangle 3"/>
          <p:cNvSpPr/>
          <p:nvPr/>
        </p:nvSpPr>
        <p:spPr>
          <a:xfrm>
            <a:off x="825500" y="38100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5500" y="4064000"/>
            <a:ext cx="8128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400" b="0" i="0">
                <a:solidFill>
                  <a:srgbClr val="9ED8ED"/>
                </a:solidFill>
                <a:latin typeface="Aptos"/>
              </a:rPr>
              <a:t>Every map is a layout in the ArcGIS project, exported fresh for this deck.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The mosaic at ±60°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8_global60_mosa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112" y="1676400"/>
            <a:ext cx="8189776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Four datasets on one 200 m grid for the first time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 failed global Composite Bands is solved: project first, then bound the extent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Night-IR coverage sets the extent: 86.6% of the planet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§16, §18, §28.1, §38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Ius Chasma type area: visible and night IR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1_visi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676400"/>
            <a:ext cx="5168900" cy="3074082"/>
          </a:xfrm>
          <a:prstGeom prst="rect">
            <a:avLst/>
          </a:prstGeom>
        </p:spPr>
      </p:pic>
      <p:pic>
        <p:nvPicPr>
          <p:cNvPr id="5" name="Picture 4" descr="02_night_i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7600" y="1676400"/>
            <a:ext cx="5168900" cy="30740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4877482"/>
            <a:ext cx="10541000" cy="15995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271–286°E, 6–13°S: canyon walls, plateau, Louros Valles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Same 100 m grid, every pixel valid in all five bands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Night IR correlates |r| ≤ 0.12 with every other band: information no other layer holds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§14.3, §18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Can the thermal pair map material across ±60°?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lobal60_the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676400"/>
            <a:ext cx="4066638" cy="4673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171538" y="1778000"/>
            <a:ext cx="6194962" cy="40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1200"/>
              </a:spcAft>
              <a:buFont typeface="Arial" pitchFamily="34" charset="0"/>
              <a:buChar char="•"/>
            </a:pPr>
            <a:r>
              <a:rPr sz="1500" b="0" i="0">
                <a:solidFill>
                  <a:srgbClr val="000000"/>
                </a:solidFill>
                <a:latin typeface="Aptos"/>
              </a:rPr>
              <a:t>Viking separates dusty from rocky provinces by 54.4 DN (these five boxes)</a:t>
            </a:r>
          </a:p>
          <a:p>
            <a:pPr marL="200000" indent="-200000">
              <a:spcAft>
                <a:spcPts val="1200"/>
              </a:spcAft>
              <a:buFont typeface="Arial" pitchFamily="34" charset="0"/>
              <a:buChar char="•"/>
            </a:pPr>
            <a:r>
              <a:rPr sz="1500" b="0" i="0">
                <a:solidFill>
                  <a:srgbClr val="000000"/>
                </a:solidFill>
                <a:latin typeface="Aptos"/>
              </a:rPr>
              <a:t>Both THEMIS mosaics separate them by under 0.3 DN</a:t>
            </a:r>
          </a:p>
          <a:p>
            <a:pPr marL="200000" indent="-200000">
              <a:spcAft>
                <a:spcPts val="1200"/>
              </a:spcAft>
              <a:buFont typeface="Arial" pitchFamily="34" charset="0"/>
              <a:buChar char="•"/>
            </a:pPr>
            <a:r>
              <a:rPr sz="1500" b="0" i="0">
                <a:solidFill>
                  <a:srgbClr val="000000"/>
                </a:solidFill>
                <a:latin typeface="Aptos"/>
              </a:rPr>
              <a:t>They are contrast-stretched region by region: thermal contrast is local</a:t>
            </a:r>
          </a:p>
          <a:p>
            <a:pPr marL="200000" indent="-200000">
              <a:spcAft>
                <a:spcPts val="1200"/>
              </a:spcAft>
              <a:buFont typeface="Arial" pitchFamily="34" charset="0"/>
              <a:buChar char="•"/>
            </a:pPr>
            <a:r>
              <a:rPr sz="1500" b="0" i="0">
                <a:solidFill>
                  <a:srgbClr val="000000"/>
                </a:solidFill>
                <a:latin typeface="Aptos"/>
              </a:rPr>
              <a:t>Planet-wide, visible albedo carries the material signal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71538" y="6121400"/>
            <a:ext cx="619496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§28.10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Craters at ±60°: closed depressions ≥ 20 km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7_global60_basins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676400"/>
            <a:ext cx="10541000" cy="3608027"/>
          </a:xfrm>
          <a:prstGeom prst="rect">
            <a:avLst/>
          </a:prstGeom>
        </p:spPr>
      </p:pic>
      <p:pic>
        <p:nvPicPr>
          <p:cNvPr id="5" name="Picture 4" descr="07_global60_basins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9828" y="5411427"/>
            <a:ext cx="2236672" cy="10401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11427"/>
            <a:ext cx="8101128" cy="10401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5,144 basins found by fill depth in 48 s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68% of 117 IAU craters ≥ 100 km recovered, diameter within ±50%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Diameter error median +2.2%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Misses breached craters by construction: they are not closed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§28.11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Ius Chasma: candidates to digitise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6_ius_digitising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9619" y="1676400"/>
            <a:ext cx="6192761" cy="3683000"/>
          </a:xfrm>
          <a:prstGeom prst="rect">
            <a:avLst/>
          </a:prstGeom>
        </p:spPr>
      </p:pic>
      <p:pic>
        <p:nvPicPr>
          <p:cNvPr id="5" name="Picture 4" descr="06_ius_digitising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6500" y="5486400"/>
            <a:ext cx="3810000" cy="6523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86400"/>
            <a:ext cx="6527800" cy="965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Fill raised the canyon floor 2,077 m; 56% of the first channel network was artefact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188 channel candidates are steep and rock-floored: the place to start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1,685 closed depressions ≥ 1 km, checked on two named craters just outside: Perrotin within 7.1%, Oudemans missed because it is breached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§25, §26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Landforms at ±60°, scored on labels the model never saw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4_global60_landforms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676400"/>
            <a:ext cx="10541000" cy="3608027"/>
          </a:xfrm>
          <a:prstGeom prst="rect">
            <a:avLst/>
          </a:prstGeom>
        </p:spPr>
      </p:pic>
      <p:pic>
        <p:nvPicPr>
          <p:cNvPr id="5" name="Picture 4" descr="04_global60_landforms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2236" y="5411427"/>
            <a:ext cx="2114264" cy="10401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11427"/>
            <a:ext cx="8223536" cy="10401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SVM on 512 hand-drawn polygons, split by whole 15° blocks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73.5%, κ 0.58 held out (one class everywhere: 58.6%)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Normal Ground and cratered terrain are solid; lava tube is not (2% user's)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§31.3, §32.2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Checking the first two classifications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5_svm_checks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3364" y="1676400"/>
            <a:ext cx="4105272" cy="3683000"/>
          </a:xfrm>
          <a:prstGeom prst="rect">
            <a:avLst/>
          </a:prstGeom>
        </p:spPr>
      </p:pic>
      <p:pic>
        <p:nvPicPr>
          <p:cNvPr id="5" name="Picture 4" descr="05_svm_checks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8958" y="5486400"/>
            <a:ext cx="1717542" cy="9651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86400"/>
            <a:ext cx="8620258" cy="965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29 Sep map follows its 4096-px processing tiles, not the terrain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30 Sep map is mostly elevation: elevation alone reproduces 62% of it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Both led to the corrected stack: no elevation band, slope in degrees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§30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Project Issues and Hurdles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5500" y="1676400"/>
            <a:ext cx="10541000" cy="482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Thermal contrast is local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Both THEMIS mosaics were stretched region by region, so day–night contrast works inside one area and fails across the planet. Calibrated thermal inertia is not derivable from them (§24, §28.10).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Lava flows have no reliable product yet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The lava tube class is right 2% of the times it is mapped. Needs new labels or the USGS geologic map.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Digitising has not started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The three landform classes are ready and empty; it is the critical path, and only judgement can do it.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Closed-depression craters only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Fill depth finds closed basins; breached craters, the fluvially modified ones, need hand mapping (§26.3).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250 GB on one USB drive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Reads cap near 112 MB/s, and the drive has dropped off mid-write; big outputs are built on internal disk first (§2.2, §36.4).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Solved since September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Three coordinate frames, the z-factor defect, four failed global composites, the missing night mosaic (§15, §18, §20).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5500" y="1676400"/>
            <a:ext cx="10541000" cy="2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10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Digitise Ius Chasma: accept or reject the machine candidates, then draw what they miss</a:t>
            </a:r>
          </a:p>
          <a:p>
            <a:pPr marL="200000" indent="-200000">
              <a:spcAft>
                <a:spcPts val="10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Measure whether the thermal bands improve the classification, with the hand-drawn labels</a:t>
            </a:r>
          </a:p>
          <a:p>
            <a:pPr marL="200000" indent="-200000">
              <a:spcAft>
                <a:spcPts val="10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Craters and channels ≥ 1 km across ±60° (a 7-hour resumable run)</a:t>
            </a:r>
          </a:p>
          <a:p>
            <a:pPr marL="200000" indent="-200000">
              <a:spcAft>
                <a:spcPts val="10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A second type area at Athabasca Valles: flood lava once mapped as a water channel</a:t>
            </a:r>
          </a:p>
          <a:p>
            <a:pPr marL="200000" indent="-200000">
              <a:spcAft>
                <a:spcPts val="10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Score against the USGS geologic map: the reference for lava flows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5500" y="4318000"/>
          <a:ext cx="10540999" cy="2133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91094"/>
                <a:gridCol w="8949905"/>
              </a:tblGrid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When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What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8–25 Oct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Digitising starts; thermal test; ±60° crater and channel run; Athabasca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26 Oct – 1 Nov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±60° crater and channel sheets; reference data scored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mid-Nov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Interim presentation and report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14–22 Nov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Validation against the digitised landforms; lava-flow sheet; data freeze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23 Nov – 4 Dec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Final report and presentation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8 Dec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Final due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