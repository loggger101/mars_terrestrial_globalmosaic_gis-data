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489200"/>
            <a:ext cx="12192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6000" b="0" i="0">
                <a:solidFill>
                  <a:srgbClr val="000000"/>
                </a:solidFill>
                <a:latin typeface="Aptos Display"/>
              </a:rPr>
              <a:t>Mars Global Mosaic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5814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Mars Global Mosaic: Mapping Lava Flows, Fluvial Channels, and Impact Craters in Visible and Infrared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735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REMOTE SENSING 2026 OCN 4704 · Logan Edwards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656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Interim Presentation · status as of 16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Goals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700" b="0" i="0">
                <a:solidFill>
                  <a:srgbClr val="000000"/>
                </a:solidFill>
                <a:latin typeface="Aptos"/>
              </a:rPr>
              <a:t>Assemble one co-registered visible and thermal-infrared mosaic of Mars in ArcGIS Pro, over the ±60° band the THEMIS night mosaic covers (86.6% of the surface), and use it to map lava flows, fluvial channels and impact craters.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" y="2946400"/>
            <a:ext cx="1054100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One co-registered stack: Viking visible colour, THEMIS day and night infrared, HRSC/MOLA topography, on a single grid over ±60°.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Map and classify the three landform families from it, in a type area first (Ius Chasma) and then across ±60°.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Test whether thermal infrared separates surfaces that visible light cannot.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Score every product against something it never saw: held-out hand labels, the IAU crater gazetteer, and the USGS geologic map.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Relevant Spectral Bands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8" cy="3048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4171"/>
                <a:gridCol w="1804315"/>
                <a:gridCol w="664747"/>
                <a:gridCol w="5887765"/>
              </a:tblGrid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Band or product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Wavelength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Cell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 it contributes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Viking MDIM 2.1 R, G, 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visible, ~0.4–0.7 µm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232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Albedo: bright dust against dark basalt. Keeps real regional differences (§28.10).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THEMIS Day IR (v12)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IR, 6.8–14.9 µm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Daytime temperature: bright in visible = cool by day (r −0.49 at Ius, §18.3).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THEMIS Night IR (v14, ±60°)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IR, 6.8–14.9 µm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Night temperature: rock holds heat. The most independent band, |r| ≤ 0.12 (§18.3).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HRSC/MOLA blended DEM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altimetry + stereo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200 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Slope in degrees, local relief, hillshade, flow routing, closed-depression depth (§20).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Diurnal contrast index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day − night, relative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 local material discriminator inside one area; not thermal inertia, not planet-wide (§24, §28.10).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Why Fuse Them: Three Independent Dimensions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8" cy="2590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55393"/>
                <a:gridCol w="1597121"/>
                <a:gridCol w="1597121"/>
                <a:gridCol w="1597121"/>
                <a:gridCol w="1597121"/>
                <a:gridCol w="1597121"/>
              </a:tblGrid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Ius Chasma, 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G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B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Day IR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Night IR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+0.960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+0.925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−0.121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G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+0.960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+0.993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−0.496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−0.085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+0.925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+0.993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−0.068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Day IR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−0.496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+0.105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Night IR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−0.121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−0.085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−0.068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+0.105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5500" y="4572000"/>
            <a:ext cx="10541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300" b="0" i="1">
                <a:solidFill>
                  <a:srgbClr val="555F66"/>
                </a:solidFill>
                <a:latin typeface="Aptos"/>
              </a:rPr>
              <a:t>Three visible bands are one dimension (r 0.93–0.99); day IR adds a second, night IR a third. Effective dimensionality ≈ 3: the measured case for fusing them.   PROJECT-KNOWLEDGE.md §18.3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Tasks and Percent Complete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9" cy="4572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3309"/>
                <a:gridCol w="2874818"/>
                <a:gridCol w="5749636"/>
                <a:gridCol w="766618"/>
                <a:gridCol w="766618"/>
              </a:tblGrid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#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Task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Where it stands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13 Sep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Now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Scope, targets and type area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Ius Chasma and Athabasca Valles type areas; ±60° extent decided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90%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Raster acquisition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Three globals + THEMIS Night IR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Statistics, stretches, pyramids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all products overviewed, the four source globals in 26 min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Grouped mosaic viewer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DEM terrain derivatives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Rebuilt in degrees, type area and ±60°; WARNING 000869 gone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80%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Image-gradient products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Renamed Gradient_*; not used further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Jezero context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Hosted services only; the dead HiRISE link removed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Classification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±60° SVM on hand-drawn labels, 200 m: 73.8%, κ 0.58 held out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CRS harmonisation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one 100 m / 200 m grid over ±60°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Visible + IR composite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type area; 7-band ±60° stack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5%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Landform digitising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Classes ready and empty; candidates reviewable; validation sheet ready; 512 training polygons drawn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Crater inventory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Robbins catalogue in the project (385,049); 465,354 closed depressions ≥ 1 km at ±60°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Map layouts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14 layouts, from none, with graticules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Report and presentations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Interim deck and report are living builds from one source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25%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Processing Completed Since the Last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9" cy="4978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23398"/>
                <a:gridCol w="4502951"/>
                <a:gridCol w="4093592"/>
                <a:gridCol w="921058"/>
              </a:tblGrid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When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Outcome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KB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18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Night IR acquired; type-area stack; slope on a metric grid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Four inputs on one 100 m grid, 100% co-valid; slope in degrees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§15–20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±60° grids and diurnal contrast index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15.2 bn px in 36.3 min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Channel and crater candidates, Ius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2,610 channels; 1,685 closed depressions in 49 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§25–26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Basins at ±60°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5,144 ≥ 20 km in 48 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§28.11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24–30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Global composites in the Pro GUI (desktop)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First successes: 2 h 52 m, 3 h 10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Hand-drawn training polygons; SVMs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Four classes; two ±60° maps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§29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 first two SVM maps checked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Tile artefact; mostly elevation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3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Corrected stack; SVM scored held out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73.5%, κ 0.58 (5 × 5)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§31–32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6–7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Backup to GitHub; class codes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Public repository; pixel = class code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§35–36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Reference data, Athabasca, tests T1–T3 and T8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adds +1.3 points; ten layouts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§38–44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8–9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Digitising by review; tests T4–T7; validation sheet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No support for H1–H3 or a tributary count; 12 layouts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§46–51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13–15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Desktop: pyramids; ±60° craters and channels ≥ 1 km; 180° DEM fix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465,354 closed depressions, 969,822 channel segments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§53–54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14–16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200 m classification; T1 with Pro's SVM; the published map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73.8%, κ 0.58; thermal adds +1.36 and +1.97 points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§55–57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2489200"/>
            <a:ext cx="10541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0E9ED4"/>
                </a:solidFill>
                <a:latin typeface="Aptos"/>
              </a:rPr>
              <a:t>Preliminary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00" y="2870200"/>
            <a:ext cx="10541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4800" b="0" i="0">
                <a:solidFill>
                  <a:srgbClr val="FFFFFF"/>
                </a:solidFill>
                <a:latin typeface="Aptos Display"/>
              </a:rPr>
              <a:t>What the data show so far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5500" y="38100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5500" y="4064000"/>
            <a:ext cx="8128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9ED8ED"/>
                </a:solidFill>
                <a:latin typeface="Aptos"/>
              </a:rPr>
              <a:t>Every map is a layout in the ArcGIS project, exported fresh for this deck.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Where: the analysis extent and the two type areas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0_global60_locator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10_global60_locator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9975" y="5411427"/>
            <a:ext cx="2116525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8221275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±60° latitude, 86.6% of the planet: the THEMIS night mosaic's coverage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Ius Chasma, canyon and tributaries; Athabasca Valles, flood lava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Orange: volcanic units of the USGS geologic map, the lava-flow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§16, §41, §42, §43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mosaic at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8_global60_mos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112" y="1676400"/>
            <a:ext cx="8189776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Four datasets on one 200 m grid for the first time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failed global Composite Bands is solved: project first, then bound the extent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Night-IR coverage sets the extent: 86.6% of the planet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§16, §18, §28.1, §38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Ius Chasma type area: visible and night IR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vis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5168900" cy="3074082"/>
          </a:xfrm>
          <a:prstGeom prst="rect">
            <a:avLst/>
          </a:prstGeom>
        </p:spPr>
      </p:pic>
      <p:pic>
        <p:nvPicPr>
          <p:cNvPr id="5" name="Picture 4" descr="02_night_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600" y="1676400"/>
            <a:ext cx="5168900" cy="30740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4877482"/>
            <a:ext cx="10541000" cy="15995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271–286°E, 6–13°S: canyon walls, plateau, Louros Valles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Same 100 m grid, every pixel valid in all five bands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 IR correlates |r| ≤ 0.12 with every other band: information no other layer holds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§14.3, §18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Can the thermal pair map material across ±60°?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lobal60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4066638" cy="467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71538" y="1778000"/>
            <a:ext cx="6194962" cy="40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500" b="0" i="0">
                <a:solidFill>
                  <a:srgbClr val="000000"/>
                </a:solidFill>
                <a:latin typeface="Aptos"/>
              </a:rPr>
              <a:t>Viking separates dusty from rocky provinces by 54.4 DN (these five boxes)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500" b="0" i="0">
                <a:solidFill>
                  <a:srgbClr val="000000"/>
                </a:solidFill>
                <a:latin typeface="Aptos"/>
              </a:rPr>
              <a:t>Both THEMIS mosaics separate them by under 0.3 DN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500" b="0" i="0">
                <a:solidFill>
                  <a:srgbClr val="000000"/>
                </a:solidFill>
                <a:latin typeface="Aptos"/>
              </a:rPr>
              <a:t>They are contrast-stretched region by region: thermal contrast is local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500" b="0" i="0">
                <a:solidFill>
                  <a:srgbClr val="000000"/>
                </a:solidFill>
                <a:latin typeface="Aptos"/>
              </a:rPr>
              <a:t>Planet-wide, visible albedo carries the material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71538" y="6121400"/>
            <a:ext cx="619496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§28.10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Checked against calibrated thermal inertia (TES)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s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773" y="1676400"/>
            <a:ext cx="8370454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Viking albedo tracks real thermal inertia across the planet (r −0.36)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 IR and the diurnal-contrast index: a weak signal inside regions only (|r| ≈ 0.1)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Day IR carries none; across the planet the THEMIS pair says nothing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So the material signal is in visible albedo; thermal IR adds little at 3 km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§41, §42.4, §43.1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Craters at ±60°: closed depressions ≥ 20 km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7_global60_basin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07_global60_basin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9828" y="5411427"/>
            <a:ext cx="2236672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8101128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5,144 basins found by fill depth in 48 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68% of 117 IAU craters ≥ 100 km recovered, diameter within ±50%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Diameter error median +2.2%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Misses breached craters by construction: they are not closed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§28.11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Closed depressions ≥ 1 km across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1_global60_depression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588" y="1676400"/>
            <a:ext cx="4934824" cy="3683000"/>
          </a:xfrm>
          <a:prstGeom prst="rect">
            <a:avLst/>
          </a:prstGeom>
        </p:spPr>
      </p:pic>
      <p:pic>
        <p:nvPicPr>
          <p:cNvPr id="5" name="Picture 4" descr="11_global60_depression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8398" y="5486400"/>
            <a:ext cx="1118102" cy="965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9219698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465,354 closed depressions ≥ 1 km, from an 11-hour run on the desktop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Against Robbins: 15.3% are catalogued craters at ≥ 1 km, 62.2% at ≥ 5 km, 83.1% at ≥ 20 km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Below ~5 km their density follows the DEM's sharpness, not the craters (r −0.11)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map of large craters and a list of prompts, not a crater inventory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§53.4, §53.6, §54.4, §55.4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Channels across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_global60_channel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12_global60_channel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00" y="5411427"/>
            <a:ext cx="3810000" cy="354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6527800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969,822 routed channel segments; orders 3–5 drawn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60.5% of stream cells discarded as fill artefact (Ius alone: 56%)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89.8% lie on ground under 2°: plateau channels are DEM noise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No channel reference exists at ±60°, so the network is not scored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§53.4, §53.6, §54.4, §55.4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Ius Chasma: candidates to digitise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ius_digitising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619" y="1676400"/>
            <a:ext cx="6192761" cy="3683000"/>
          </a:xfrm>
          <a:prstGeom prst="rect">
            <a:avLst/>
          </a:prstGeom>
        </p:spPr>
      </p:pic>
      <p:pic>
        <p:nvPicPr>
          <p:cNvPr id="5" name="Picture 4" descr="06_ius_digitising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00" y="5486400"/>
            <a:ext cx="3810000" cy="6034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6527800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Fill raised the canyon floor 2,077 m; 56% of the first channel network was artefact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188 channel candidates are steep and rock-floored: the place to start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1,685 closed depressions ≥ 1 km: only 11% match a catalogued (Robbins) crater, so they are prompts, not a crater 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§25, §26, §42.3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Athabasca Valles: the second type area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_athabasca_digitising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9804" y="1676400"/>
            <a:ext cx="7212392" cy="3683000"/>
          </a:xfrm>
          <a:prstGeom prst="rect">
            <a:avLst/>
          </a:prstGeom>
        </p:spPr>
      </p:pic>
      <p:pic>
        <p:nvPicPr>
          <p:cNvPr id="5" name="Picture 4" descr="09_athabasca_digitising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2344" y="5486400"/>
            <a:ext cx="1224156" cy="965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9113644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Flood lava once mapped as a water channel; the USGS map calls it Late Amazonian volcanic (lAv)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Same 100 m stack, terrain and candidates as Ius: 3,283 channels, 409 rock-floored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Catalogued craters: 1,122 per million km² on lAv, against 1,760 and 2,183 on the older units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Calibrated TES inertia: the diurnal-contrast index does not track it (r ≈ 0); Viking albedo does (−0.55)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§41, §42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Landforms at ±60°, scored on labels the model never saw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_global60_landform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04_global60_landform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1609" y="5411427"/>
            <a:ext cx="2364891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7972909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SVM on 512 hand-drawn polygons, split by whole 15° blocks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200 m, smoothed 11 × 11 (2.2 km): 73.8%, κ 0.58 held out (one class everywhere: 58.6%)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Halving the cell bought no accuracy: 69.9% raw at 200 m, 70.5% at 400 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Normal Ground and cratered terrain are solid; lava tube is not (2% user's)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§31.3, §55.3, §57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landform classes against the USGS geologic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8_enrich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2819" y="1676400"/>
            <a:ext cx="8826361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Each cell: how much more often a class occurs in a unit group than across ±60° (×1 = no link)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"Lava tube" is not enriched on volcanic plains (×0.84) but on volcano flanks and aprons (×3.30, ×4.29)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76% of the volcanic plains come out Normal Ground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coherent terrain map, not a lava-flow map: lava flows come from the geologic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§43.2, §49, §57.1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Does thermal infrared improve the classification?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ermal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8383" y="1676400"/>
            <a:ext cx="8015233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Slope and relief alone: 68.6%, κ 0.51 held out; all seven bands: 67.0%, κ 0.50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thermal bands add +1.3 points (95% interval +0.6 to +2.2): real, but small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Without terrain, visible and thermal score below one class everywhere (58.6%)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labelled classes are landforms, so terrain decides them; the thermal claim needs material labels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thermal gain, confirmed with ArcGIS Pro's own SVM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1_p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76" y="1676400"/>
            <a:ext cx="8769047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Retrained with the published model's settings, without each band group, over the whole ±60°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Thermal adds +1.36 points at 200 m (+0.46 to +2.47) and +1.97 at 400 m (+1.08 to +3.35)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It helps craters and hills and hurts lava tube; dropping visible or both groups leaves the score tied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Terrain alone ties the score but makes a poor crater map: 34 of 124 crater polygons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§56, §56.1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 the infrared mosaics show lava-flow edges Viking misses? (H1)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5_marg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773" y="1676400"/>
            <a:ext cx="8370454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Profiles across the geologic map's lava contacts at Athabasca: does each band tell the units apart?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Every band does so only slightly more often than chance (10%): Viking red 12.3%, day IR 21.0%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Day IR leans toward H1, but the intervals overlap (difference +8.7 points, −1.7 to +18.1)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1:20 M map's contacts are kilometres wide: H1 is retested on margins digitised at 100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Is the composite more stable than a single band? (H3)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6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76" y="1676400"/>
            <a:ext cx="8769047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Iso Cluster trained on the west and the east half of Ius, compared over the whole window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composites are the least reproducible inputs: 0.40 and 0.38, against 0.61–0.89 for single bands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They give the smoothest maps, only just ahead of Viking (0.85 against 0.84)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H3 is not supported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How many tributary orders does 100 m resolve? (Q5)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7_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76" y="1676400"/>
            <a:ext cx="8769047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Channel thresholds from 1 to 500 km² of catchment at Ius Chasma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highest stream order follows the threshold: 5 at 1 km², 3 at 50 km², 2 at 500 km²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Only 30.8–36.7% of first-order streams lie on slopes ≥ 2°, at every threshold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order count is a setting, not a property of the terrain: no answer the DEM supports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 volcanic channels differ from fluvial ones? (H2)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4_chan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024" y="1676400"/>
            <a:ext cx="9645952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Channel candidates, Ius Chasma (fluvial) against Athabasca Valles (volcanic): 2,588 and 3,272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volcanic channels are shallower, not steeper: median 1.4 against 10.2 m per km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Thermal response tells the two apart no better than chance (AUC 0.50)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H2 is not supported at this stage; the window, not the origin, sets the gradient; retested on reviewed channels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§51.1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Checking the first two classifications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_svm_check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3364" y="1676400"/>
            <a:ext cx="4105272" cy="3683000"/>
          </a:xfrm>
          <a:prstGeom prst="rect">
            <a:avLst/>
          </a:prstGeom>
        </p:spPr>
      </p:pic>
      <p:pic>
        <p:nvPicPr>
          <p:cNvPr id="5" name="Picture 4" descr="05_svm_check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8958" y="5486400"/>
            <a:ext cx="1717542" cy="965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8620258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29 Sep map follows its 4096-px processing tiles, not the terrain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30 Sep map is mostly elevation: elevation alone reproduces 62% of it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Both led to the corrected stack: no elevation band, slope in degrees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Issues and Hurdles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4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The thermal signal is weak where it can be checked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Against calibrated TES thermal inertia, the THEMIS mosaics keep only a weak local signal (|r| ≈ 0.1 within 15° blocks) and none across the planet; Viking albedo tracks it (r −0.31 to −0.36). In the classification the thermal bands add 1.3–2.0 points, with two classifiers (§40.1, §42.4, §43.1, §56).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The landform classes are terrain classes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Slope and relief alone match all seven bands; against the geologic map the classes sit where terrain puts them, and "lava tube" marks volcano flanks, not lava plains (§40.1, §43.2).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Lava flows come from the geologic map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Volcanic plains are not separable from other plains in these bands; a fifth "volcanic" class tested below chance. The USGS map's volcanic units are the lava-flow reference (§43.3, §44).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Closed depressions are not a crater count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Of the candidates ≥ 1 km, 11–13% in the type areas and 15.3% across ±60° are catalogued craters; from 5 km up most are (62.2%). Robbins (385,049 craters) is the crater reference (§42.3, §54.4).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Four hypotheses tested, none supported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No band separates the geologic map's lava contacts much better than chance (the map is too coarse to settle H1); the composite's classes are the least reproducible input (H3); no channel threshold keeps first-order streams on real slopes (Q5); the volcanic window's channels are shallower, and thermal response separates nothing (H2, stage 1) (§47, §51).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Digitising has not started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The three landform classes are ready and empty in both type areas; candidates can now be accepted or rejected in the attribute table (§46). It is the critical path, and only judgement can do it.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250 GB on one USB drive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Reads cap near 112 MB/s, and the drive has dropped off mid-write; big outputs are built on internal disk first (§2.2, §36.4).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Solved since September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Three coordinate frames, the z-factor defect, four failed global composites, the missing night mosaic, a defective DEM column at 180° (§15–20, §54).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2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Digitise Ius Chasma and Athabasca Valles: accept or reject the machine candidates, then draw what they miss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Score the machine candidates against the reviewed features: the validation sheet (layout 14)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Hypothesis H2 again, on reviewed channels with their origin set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A deep-learning model on the desktop GPU, once Esri's Deep Learning Libraries are installed; trained on the training split and scored on the held-out polygons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Flow margins in visible against infrared at Athabasca, retested on digitised margins: hypothesis H1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5500" y="4318000"/>
          <a:ext cx="10540999" cy="2133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91094"/>
                <a:gridCol w="8949905"/>
              </a:tblGrid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When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8–25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Digitising by review starts; desktop runs done: pyramids, ±60° crater and channel pass, 200 m map, T1 in Pro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26 Oct – 1 Nov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H1 and H2 on digitised features; the deep-learning model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mid-Nov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Interim presentation and report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14–22 Nov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Validation against the digitised landforms; data freeze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23 Nov – 4 Dec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Final report and presentation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 Dec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Final due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