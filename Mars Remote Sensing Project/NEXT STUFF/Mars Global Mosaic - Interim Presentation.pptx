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pic>
        <p:nvPicPr>
          <p:cNvPr id="2" name="Picture 1" descr="Ius Chasma, 271–286°E: Viking MDIM 2.1 colour on this project's 100 m grid"/>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gradFill rotWithShape="1">
            <a:gsLst>
              <a:gs pos="0">
                <a:srgbClr val="0E2841">
                  <a:alpha val="97000"/>
                </a:srgbClr>
              </a:gs>
              <a:gs pos="45000">
                <a:srgbClr val="0E2841">
                  <a:alpha val="93000"/>
                </a:srgbClr>
              </a:gs>
              <a:gs pos="100000">
                <a:srgbClr val="0E2841">
                  <a:alpha val="3800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1200" y="19304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INTERIM PRESENTATION  ·  REMOTE SENSING 2026 OCN 4704</a:t>
            </a:r>
          </a:p>
        </p:txBody>
      </p:sp>
      <p:sp>
        <p:nvSpPr>
          <p:cNvPr id="5" name="TextBox 4"/>
          <p:cNvSpPr txBox="1"/>
          <p:nvPr/>
        </p:nvSpPr>
        <p:spPr>
          <a:xfrm>
            <a:off x="711200" y="2159000"/>
            <a:ext cx="8890000" cy="889000"/>
          </a:xfrm>
          <a:prstGeom prst="rect">
            <a:avLst/>
          </a:prstGeom>
          <a:noFill/>
        </p:spPr>
        <p:txBody>
          <a:bodyPr wrap="square" anchor="t" lIns="0" rIns="0" tIns="0" bIns="0">
            <a:spAutoFit/>
          </a:bodyPr>
          <a:lstStyle/>
          <a:p>
            <a:pPr algn="l">
              <a:buNone/>
            </a:pPr>
            <a:r>
              <a:rPr sz="5400" b="0" i="0">
                <a:solidFill>
                  <a:srgbClr val="FFFFFF"/>
                </a:solidFill>
                <a:latin typeface="Cambria"/>
              </a:rPr>
              <a:t>Mars Global Mosaic</a:t>
            </a:r>
          </a:p>
        </p:txBody>
      </p:sp>
      <p:sp>
        <p:nvSpPr>
          <p:cNvPr id="6" name="TextBox 5"/>
          <p:cNvSpPr txBox="1"/>
          <p:nvPr/>
        </p:nvSpPr>
        <p:spPr>
          <a:xfrm>
            <a:off x="711200" y="3124200"/>
            <a:ext cx="6350000" cy="711200"/>
          </a:xfrm>
          <a:prstGeom prst="rect">
            <a:avLst/>
          </a:prstGeom>
          <a:noFill/>
        </p:spPr>
        <p:txBody>
          <a:bodyPr wrap="square" anchor="t" lIns="0" rIns="0" tIns="0" bIns="0">
            <a:spAutoFit/>
          </a:bodyPr>
          <a:lstStyle/>
          <a:p>
            <a:pPr algn="l">
              <a:buNone/>
            </a:pPr>
            <a:r>
              <a:rPr sz="2000" b="0" i="0">
                <a:solidFill>
                  <a:srgbClr val="C5D3E3"/>
                </a:solidFill>
                <a:latin typeface="Calibri"/>
              </a:rPr>
              <a:t>Mapping Lava Flows, Fluvial Channels, and Impact Craters in Visible and Infrared</a:t>
            </a:r>
          </a:p>
        </p:txBody>
      </p:sp>
      <p:sp>
        <p:nvSpPr>
          <p:cNvPr id="7" name="TextBox 6"/>
          <p:cNvSpPr txBox="1"/>
          <p:nvPr/>
        </p:nvSpPr>
        <p:spPr>
          <a:xfrm>
            <a:off x="711200" y="4089400"/>
            <a:ext cx="6350000" cy="279400"/>
          </a:xfrm>
          <a:prstGeom prst="rect">
            <a:avLst/>
          </a:prstGeom>
          <a:noFill/>
        </p:spPr>
        <p:txBody>
          <a:bodyPr wrap="square" anchor="t" lIns="0" rIns="0" tIns="0" bIns="0">
            <a:spAutoFit/>
          </a:bodyPr>
          <a:lstStyle/>
          <a:p>
            <a:pPr algn="l">
              <a:buNone/>
            </a:pPr>
            <a:r>
              <a:rPr sz="1600" b="1" i="0">
                <a:solidFill>
                  <a:srgbClr val="FFFFFF"/>
                </a:solidFill>
                <a:latin typeface="Calibri"/>
              </a:rPr>
              <a:t>Logan Edwards</a:t>
            </a:r>
          </a:p>
        </p:txBody>
      </p:sp>
      <p:sp>
        <p:nvSpPr>
          <p:cNvPr id="8" name="TextBox 7"/>
          <p:cNvSpPr txBox="1"/>
          <p:nvPr/>
        </p:nvSpPr>
        <p:spPr>
          <a:xfrm>
            <a:off x="711200" y="4368800"/>
            <a:ext cx="6350000" cy="228600"/>
          </a:xfrm>
          <a:prstGeom prst="rect">
            <a:avLst/>
          </a:prstGeom>
          <a:noFill/>
        </p:spPr>
        <p:txBody>
          <a:bodyPr wrap="square" anchor="t" lIns="0" rIns="0" tIns="0" bIns="0">
            <a:spAutoFit/>
          </a:bodyPr>
          <a:lstStyle/>
          <a:p>
            <a:pPr algn="l">
              <a:buNone/>
            </a:pPr>
            <a:r>
              <a:rPr sz="1200" b="0" i="0">
                <a:solidFill>
                  <a:srgbClr val="C5D3E3"/>
                </a:solidFill>
                <a:latin typeface="Calibri"/>
              </a:rPr>
              <a:t>Status as of 26 October 2026</a:t>
            </a:r>
          </a:p>
        </p:txBody>
      </p:sp>
      <p:sp>
        <p:nvSpPr>
          <p:cNvPr id="9" name="TextBox 8"/>
          <p:cNvSpPr txBox="1"/>
          <p:nvPr/>
        </p:nvSpPr>
        <p:spPr>
          <a:xfrm>
            <a:off x="6146800" y="6527800"/>
            <a:ext cx="5334000" cy="152400"/>
          </a:xfrm>
          <a:prstGeom prst="rect">
            <a:avLst/>
          </a:prstGeom>
          <a:noFill/>
        </p:spPr>
        <p:txBody>
          <a:bodyPr wrap="square" anchor="t" lIns="0" rIns="0" tIns="0" bIns="0">
            <a:spAutoFit/>
          </a:bodyPr>
          <a:lstStyle/>
          <a:p>
            <a:pPr algn="r">
              <a:buNone/>
            </a:pPr>
            <a:r>
              <a:rPr sz="900" b="0" i="1">
                <a:solidFill>
                  <a:srgbClr val="C5D3E3"/>
                </a:solidFill>
                <a:latin typeface="Calibri"/>
              </a:rPr>
              <a:t>Ius Chasma, 271–286°E: Viking MDIM 2.1 colour on this project's 100 m grid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THE QUESTION</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Project Goals</a:t>
            </a:r>
          </a:p>
        </p:txBody>
      </p:sp>
      <p:sp>
        <p:nvSpPr>
          <p:cNvPr id="4" name="TextBox 3"/>
          <p:cNvSpPr txBox="1"/>
          <p:nvPr/>
        </p:nvSpPr>
        <p:spPr>
          <a:xfrm>
            <a:off x="711200" y="1422400"/>
            <a:ext cx="10769600" cy="1143000"/>
          </a:xfrm>
          <a:prstGeom prst="rect">
            <a:avLst/>
          </a:prstGeom>
          <a:noFill/>
        </p:spPr>
        <p:txBody>
          <a:bodyPr wrap="square" anchor="t" lIns="0" rIns="0" tIns="0" bIns="0">
            <a:spAutoFit/>
          </a:bodyPr>
          <a:lstStyle/>
          <a:p>
            <a:pPr algn="l">
              <a:buNone/>
            </a:pPr>
            <a:r>
              <a:rPr sz="1900" b="0" i="1">
                <a:solidFill>
                  <a:srgbClr val="EAF0F7"/>
                </a:solidFill>
                <a:latin typeface="Cambria"/>
              </a:rPr>
              <a:t>Assemble one co-registered visible and thermal-infrared mosaic of Mars in ArcGIS Pro, over the ±60° band the THEMIS night mosaic covers (86.6% of the surface), and use it to map lava flows, fluvial channels and impact craters.</a:t>
            </a:r>
          </a:p>
        </p:txBody>
      </p:sp>
      <p:sp>
        <p:nvSpPr>
          <p:cNvPr id="5" name="Rounded Rectangle 4"/>
          <p:cNvSpPr/>
          <p:nvPr/>
        </p:nvSpPr>
        <p:spPr>
          <a:xfrm>
            <a:off x="711200" y="2743200"/>
            <a:ext cx="2540000" cy="29972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9800" y="2997200"/>
            <a:ext cx="406400" cy="406400"/>
          </a:xfrm>
          <a:prstGeom prst="ellipse">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0E2841"/>
                </a:solidFill>
                <a:latin typeface="Cambria"/>
              </a:rPr>
              <a:t>1</a:t>
            </a:r>
          </a:p>
        </p:txBody>
      </p:sp>
      <p:sp>
        <p:nvSpPr>
          <p:cNvPr id="7" name="TextBox 6"/>
          <p:cNvSpPr txBox="1"/>
          <p:nvPr/>
        </p:nvSpPr>
        <p:spPr>
          <a:xfrm>
            <a:off x="939800" y="3632200"/>
            <a:ext cx="2082800" cy="2032000"/>
          </a:xfrm>
          <a:prstGeom prst="rect">
            <a:avLst/>
          </a:prstGeom>
          <a:noFill/>
        </p:spPr>
        <p:txBody>
          <a:bodyPr wrap="square" anchor="t" lIns="0" rIns="0" tIns="0" bIns="0">
            <a:spAutoFit/>
          </a:bodyPr>
          <a:lstStyle/>
          <a:p>
            <a:pPr algn="l">
              <a:buNone/>
            </a:pPr>
            <a:r>
              <a:rPr sz="1600" b="0" i="0">
                <a:solidFill>
                  <a:srgbClr val="EAF0F7"/>
                </a:solidFill>
                <a:latin typeface="Calibri"/>
              </a:rPr>
              <a:t>Put Viking visible colour, THEMIS day and night infrared and HRSC/MOLA topography on one grid over ±60°.</a:t>
            </a:r>
          </a:p>
        </p:txBody>
      </p:sp>
      <p:sp>
        <p:nvSpPr>
          <p:cNvPr id="8" name="Rounded Rectangle 7"/>
          <p:cNvSpPr/>
          <p:nvPr/>
        </p:nvSpPr>
        <p:spPr>
          <a:xfrm>
            <a:off x="3454400" y="2743200"/>
            <a:ext cx="2540000" cy="29972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683000" y="2997200"/>
            <a:ext cx="406400" cy="406400"/>
          </a:xfrm>
          <a:prstGeom prst="ellipse">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0E2841"/>
                </a:solidFill>
                <a:latin typeface="Cambria"/>
              </a:rPr>
              <a:t>2</a:t>
            </a:r>
          </a:p>
        </p:txBody>
      </p:sp>
      <p:sp>
        <p:nvSpPr>
          <p:cNvPr id="10" name="TextBox 9"/>
          <p:cNvSpPr txBox="1"/>
          <p:nvPr/>
        </p:nvSpPr>
        <p:spPr>
          <a:xfrm>
            <a:off x="3683000" y="3632200"/>
            <a:ext cx="2082800" cy="2032000"/>
          </a:xfrm>
          <a:prstGeom prst="rect">
            <a:avLst/>
          </a:prstGeom>
          <a:noFill/>
        </p:spPr>
        <p:txBody>
          <a:bodyPr wrap="square" anchor="t" lIns="0" rIns="0" tIns="0" bIns="0">
            <a:spAutoFit/>
          </a:bodyPr>
          <a:lstStyle/>
          <a:p>
            <a:pPr algn="l">
              <a:buNone/>
            </a:pPr>
            <a:r>
              <a:rPr sz="1600" b="0" i="0">
                <a:solidFill>
                  <a:srgbClr val="EAF0F7"/>
                </a:solidFill>
                <a:latin typeface="Calibri"/>
              </a:rPr>
              <a:t>Map the three landform families from that stack, first in a type area (Ius Chasma), then across ±60°.</a:t>
            </a:r>
          </a:p>
        </p:txBody>
      </p:sp>
      <p:sp>
        <p:nvSpPr>
          <p:cNvPr id="11" name="Rounded Rectangle 10"/>
          <p:cNvSpPr/>
          <p:nvPr/>
        </p:nvSpPr>
        <p:spPr>
          <a:xfrm>
            <a:off x="6197600" y="2743200"/>
            <a:ext cx="2540000" cy="29972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26200" y="2997200"/>
            <a:ext cx="406400" cy="406400"/>
          </a:xfrm>
          <a:prstGeom prst="ellipse">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0E2841"/>
                </a:solidFill>
                <a:latin typeface="Cambria"/>
              </a:rPr>
              <a:t>3</a:t>
            </a:r>
          </a:p>
        </p:txBody>
      </p:sp>
      <p:sp>
        <p:nvSpPr>
          <p:cNvPr id="13" name="TextBox 12"/>
          <p:cNvSpPr txBox="1"/>
          <p:nvPr/>
        </p:nvSpPr>
        <p:spPr>
          <a:xfrm>
            <a:off x="6426200" y="3632200"/>
            <a:ext cx="2082800" cy="2032000"/>
          </a:xfrm>
          <a:prstGeom prst="rect">
            <a:avLst/>
          </a:prstGeom>
          <a:noFill/>
        </p:spPr>
        <p:txBody>
          <a:bodyPr wrap="square" anchor="t" lIns="0" rIns="0" tIns="0" bIns="0">
            <a:spAutoFit/>
          </a:bodyPr>
          <a:lstStyle/>
          <a:p>
            <a:pPr algn="l">
              <a:buNone/>
            </a:pPr>
            <a:r>
              <a:rPr sz="1600" b="0" i="0">
                <a:solidFill>
                  <a:srgbClr val="EAF0F7"/>
                </a:solidFill>
                <a:latin typeface="Calibri"/>
              </a:rPr>
              <a:t>Test whether thermal infrared separates surfaces that visible light cannot.</a:t>
            </a:r>
          </a:p>
        </p:txBody>
      </p:sp>
      <p:sp>
        <p:nvSpPr>
          <p:cNvPr id="14" name="Rounded Rectangle 13"/>
          <p:cNvSpPr/>
          <p:nvPr/>
        </p:nvSpPr>
        <p:spPr>
          <a:xfrm>
            <a:off x="8940800" y="2743200"/>
            <a:ext cx="2540000" cy="29972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69400" y="2997200"/>
            <a:ext cx="406400" cy="406400"/>
          </a:xfrm>
          <a:prstGeom prst="ellipse">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0E2841"/>
                </a:solidFill>
                <a:latin typeface="Cambria"/>
              </a:rPr>
              <a:t>4</a:t>
            </a:r>
          </a:p>
        </p:txBody>
      </p:sp>
      <p:sp>
        <p:nvSpPr>
          <p:cNvPr id="16" name="TextBox 15"/>
          <p:cNvSpPr txBox="1"/>
          <p:nvPr/>
        </p:nvSpPr>
        <p:spPr>
          <a:xfrm>
            <a:off x="9169400" y="3632200"/>
            <a:ext cx="2082800" cy="2032000"/>
          </a:xfrm>
          <a:prstGeom prst="rect">
            <a:avLst/>
          </a:prstGeom>
          <a:noFill/>
        </p:spPr>
        <p:txBody>
          <a:bodyPr wrap="square" anchor="t" lIns="0" rIns="0" tIns="0" bIns="0">
            <a:spAutoFit/>
          </a:bodyPr>
          <a:lstStyle/>
          <a:p>
            <a:pPr algn="l">
              <a:buNone/>
            </a:pPr>
            <a:r>
              <a:rPr sz="1600" b="0" i="0">
                <a:solidFill>
                  <a:srgbClr val="EAF0F7"/>
                </a:solidFill>
                <a:latin typeface="Calibri"/>
              </a:rPr>
              <a:t>Score every product against something it never saw: held-out hand labels, the IAU crater gazetteer and the USGS geologic map.</a:t>
            </a:r>
          </a:p>
        </p:txBody>
      </p:sp>
      <p:sp>
        <p:nvSpPr>
          <p:cNvPr id="17" name="TextBox 1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18" name="TextBox 1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THE DATA</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Relevant Spectral Bands</a:t>
            </a:r>
          </a:p>
        </p:txBody>
      </p:sp>
      <p:graphicFrame>
        <p:nvGraphicFramePr>
          <p:cNvPr id="4" name="Table 3"/>
          <p:cNvGraphicFramePr>
            <a:graphicFrameLocks noGrp="1"/>
          </p:cNvGraphicFramePr>
          <p:nvPr/>
        </p:nvGraphicFramePr>
        <p:xfrm>
          <a:off x="711200" y="1422400"/>
          <a:ext cx="10769597" cy="4572000"/>
        </p:xfrm>
        <a:graphic>
          <a:graphicData uri="http://schemas.openxmlformats.org/drawingml/2006/table">
            <a:tbl>
              <a:tblPr firstRow="1">
                <a:tableStyleId>{5C22544A-7EE6-4342-B048-85BDC9FD1C3A}</a:tableStyleId>
              </a:tblPr>
              <a:tblGrid>
                <a:gridCol w="2349730"/>
                <a:gridCol w="2202872"/>
                <a:gridCol w="734290"/>
                <a:gridCol w="5482705"/>
              </a:tblGrid>
              <a:tr h="762000">
                <a:tc>
                  <a:txBody>
                    <a:bodyPr/>
                    <a:lstStyle/>
                    <a:p>
                      <a:pPr>
                        <a:buNone/>
                      </a:pPr>
                      <a:r>
                        <a:rPr sz="1400" b="1" i="0">
                          <a:solidFill>
                            <a:srgbClr val="FFFFFF"/>
                          </a:solidFill>
                          <a:latin typeface="Calibri"/>
                        </a:rPr>
                        <a:t>Band or product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c>
                  <a:txBody>
                    <a:bodyPr/>
                    <a:lstStyle/>
                    <a:p>
                      <a:pPr>
                        <a:buNone/>
                      </a:pPr>
                      <a:r>
                        <a:rPr sz="1400" b="1" i="0">
                          <a:solidFill>
                            <a:srgbClr val="FFFFFF"/>
                          </a:solidFill>
                          <a:latin typeface="Calibri"/>
                        </a:rPr>
                        <a:t>Wavelength</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c>
                  <a:txBody>
                    <a:bodyPr/>
                    <a:lstStyle/>
                    <a:p>
                      <a:pPr>
                        <a:buNone/>
                      </a:pPr>
                      <a:r>
                        <a:rPr sz="1400" b="1" i="0">
                          <a:solidFill>
                            <a:srgbClr val="FFFFFF"/>
                          </a:solidFill>
                          <a:latin typeface="Calibri"/>
                        </a:rPr>
                        <a:t>Cell</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c>
                  <a:txBody>
                    <a:bodyPr/>
                    <a:lstStyle/>
                    <a:p>
                      <a:pPr>
                        <a:buNone/>
                      </a:pPr>
                      <a:r>
                        <a:rPr sz="1400" b="1" i="0">
                          <a:solidFill>
                            <a:srgbClr val="FFFFFF"/>
                          </a:solidFill>
                          <a:latin typeface="Calibri"/>
                        </a:rPr>
                        <a:t>What it contributes</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r>
              <a:tr h="762000">
                <a:tc>
                  <a:txBody>
                    <a:bodyPr/>
                    <a:lstStyle/>
                    <a:p>
                      <a:pPr>
                        <a:buNone/>
                      </a:pPr>
                      <a:r>
                        <a:rPr sz="1400" b="1" i="0">
                          <a:solidFill>
                            <a:srgbClr val="EAF0F7"/>
                          </a:solidFill>
                          <a:latin typeface="Calibri"/>
                        </a:rPr>
                        <a:t>Viking MDIM 2.1 R, G, B</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400" b="0" i="0">
                          <a:solidFill>
                            <a:srgbClr val="EAF0F7"/>
                          </a:solidFill>
                          <a:latin typeface="Calibri"/>
                        </a:rPr>
                        <a:t>visible, ~0.4–0.7 µm</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400" b="0" i="0">
                          <a:solidFill>
                            <a:srgbClr val="EAF0F7"/>
                          </a:solidFill>
                          <a:latin typeface="Calibri"/>
                        </a:rPr>
                        <a:t>232 m</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400" b="0" i="0">
                          <a:solidFill>
                            <a:srgbClr val="EAF0F7"/>
                          </a:solidFill>
                          <a:latin typeface="Calibri"/>
                        </a:rPr>
                        <a:t>Albedo: bright dust, dark basalt; not stretched by region, so regional differences are real.</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r>
              <a:tr h="762000">
                <a:tc>
                  <a:txBody>
                    <a:bodyPr/>
                    <a:lstStyle/>
                    <a:p>
                      <a:pPr>
                        <a:buNone/>
                      </a:pPr>
                      <a:r>
                        <a:rPr sz="1400" b="1" i="0">
                          <a:solidFill>
                            <a:srgbClr val="EAF0F7"/>
                          </a:solidFill>
                          <a:latin typeface="Calibri"/>
                        </a:rPr>
                        <a:t>THEMIS Day IR (v12)</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400" b="0" i="0">
                          <a:solidFill>
                            <a:srgbClr val="EAF0F7"/>
                          </a:solidFill>
                          <a:latin typeface="Calibri"/>
                        </a:rPr>
                        <a:t>thermal IR, 6.8–14.9 µm</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400" b="0" i="0">
                          <a:solidFill>
                            <a:srgbClr val="EAF0F7"/>
                          </a:solidFill>
                          <a:latin typeface="Calibri"/>
                        </a:rPr>
                        <a:t>100 m</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400" b="0" i="0">
                          <a:solidFill>
                            <a:srgbClr val="EAF0F7"/>
                          </a:solidFill>
                          <a:latin typeface="Calibri"/>
                        </a:rPr>
                        <a:t>Daytime temperature. Ground that is bright in visible stays cooler by day (r −0.49 at Ius).</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r>
              <a:tr h="762000">
                <a:tc>
                  <a:txBody>
                    <a:bodyPr/>
                    <a:lstStyle/>
                    <a:p>
                      <a:pPr>
                        <a:buNone/>
                      </a:pPr>
                      <a:r>
                        <a:rPr sz="1400" b="1" i="0">
                          <a:solidFill>
                            <a:srgbClr val="EAF0F7"/>
                          </a:solidFill>
                          <a:latin typeface="Calibri"/>
                        </a:rPr>
                        <a:t>THEMIS Night IR (v14, ±60°)</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400" b="0" i="0">
                          <a:solidFill>
                            <a:srgbClr val="EAF0F7"/>
                          </a:solidFill>
                          <a:latin typeface="Calibri"/>
                        </a:rPr>
                        <a:t>thermal IR, 6.8–14.9 µm</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400" b="0" i="0">
                          <a:solidFill>
                            <a:srgbClr val="EAF0F7"/>
                          </a:solidFill>
                          <a:latin typeface="Calibri"/>
                        </a:rPr>
                        <a:t>100 m</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400" b="0" i="0">
                          <a:solidFill>
                            <a:srgbClr val="EAF0F7"/>
                          </a:solidFill>
                          <a:latin typeface="Calibri"/>
                        </a:rPr>
                        <a:t>Night temperature: rock holds heat. The band least like the others, |r| ≤ 0.12.</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r>
              <a:tr h="762000">
                <a:tc>
                  <a:txBody>
                    <a:bodyPr/>
                    <a:lstStyle/>
                    <a:p>
                      <a:pPr>
                        <a:buNone/>
                      </a:pPr>
                      <a:r>
                        <a:rPr sz="1400" b="1" i="0">
                          <a:solidFill>
                            <a:srgbClr val="EAF0F7"/>
                          </a:solidFill>
                          <a:latin typeface="Calibri"/>
                        </a:rPr>
                        <a:t>HRSC/MOLA blended DEM</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400" b="0" i="0">
                          <a:solidFill>
                            <a:srgbClr val="EAF0F7"/>
                          </a:solidFill>
                          <a:latin typeface="Calibri"/>
                        </a:rPr>
                        <a:t>altimetry + stereo</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400" b="0" i="0">
                          <a:solidFill>
                            <a:srgbClr val="EAF0F7"/>
                          </a:solidFill>
                          <a:latin typeface="Calibri"/>
                        </a:rPr>
                        <a:t>200 m</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400" b="0" i="0">
                          <a:solidFill>
                            <a:srgbClr val="EAF0F7"/>
                          </a:solidFill>
                          <a:latin typeface="Calibri"/>
                        </a:rPr>
                        <a:t>Slope in degrees, local relief, hillshade, flow routing, closed-depression depth.</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r>
              <a:tr h="762000">
                <a:tc>
                  <a:txBody>
                    <a:bodyPr/>
                    <a:lstStyle/>
                    <a:p>
                      <a:pPr>
                        <a:buNone/>
                      </a:pPr>
                      <a:r>
                        <a:rPr sz="1400" b="1" i="0">
                          <a:solidFill>
                            <a:srgbClr val="EAF0F7"/>
                          </a:solidFill>
                          <a:latin typeface="Calibri"/>
                        </a:rPr>
                        <a:t>Diurnal contrast index</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400" b="0" i="0">
                          <a:solidFill>
                            <a:srgbClr val="EAF0F7"/>
                          </a:solidFill>
                          <a:latin typeface="Calibri"/>
                        </a:rPr>
                        <a:t>day − night, relative</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400" b="0" i="0">
                          <a:solidFill>
                            <a:srgbClr val="EAF0F7"/>
                          </a:solidFill>
                          <a:latin typeface="Calibri"/>
                        </a:rPr>
                        <a:t>100 m</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400" b="0" i="0">
                          <a:solidFill>
                            <a:srgbClr val="EAF0F7"/>
                          </a:solidFill>
                          <a:latin typeface="Calibri"/>
                        </a:rPr>
                        <a:t>Separates materials inside one area; not thermal inertia, not comparable across the planet.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r>
            </a:tbl>
          </a:graphicData>
        </a:graphic>
      </p:graphicFrame>
      <p:sp>
        <p:nvSpPr>
          <p:cNvPr id="5" name="TextBox 4"/>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6" name="TextBox 5"/>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THE DATA</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Why Fuse Them: Three Independent Dimensions</a:t>
            </a:r>
          </a:p>
        </p:txBody>
      </p:sp>
      <p:graphicFrame>
        <p:nvGraphicFramePr>
          <p:cNvPr id="4" name="Table 3"/>
          <p:cNvGraphicFramePr>
            <a:graphicFrameLocks noGrp="1"/>
          </p:cNvGraphicFramePr>
          <p:nvPr/>
        </p:nvGraphicFramePr>
        <p:xfrm>
          <a:off x="711200" y="1422400"/>
          <a:ext cx="10769597" cy="3048000"/>
        </p:xfrm>
        <a:graphic>
          <a:graphicData uri="http://schemas.openxmlformats.org/drawingml/2006/table">
            <a:tbl>
              <a:tblPr firstRow="1">
                <a:tableStyleId>{5C22544A-7EE6-4342-B048-85BDC9FD1C3A}</a:tableStyleId>
              </a:tblPr>
              <a:tblGrid>
                <a:gridCol w="2610812"/>
                <a:gridCol w="1631757"/>
                <a:gridCol w="1631757"/>
                <a:gridCol w="1631757"/>
                <a:gridCol w="1631757"/>
                <a:gridCol w="1631757"/>
              </a:tblGrid>
              <a:tr h="508000">
                <a:tc>
                  <a:txBody>
                    <a:bodyPr/>
                    <a:lstStyle/>
                    <a:p>
                      <a:pPr>
                        <a:buNone/>
                      </a:pPr>
                      <a:r>
                        <a:rPr sz="1400" b="1" i="0">
                          <a:solidFill>
                            <a:srgbClr val="FFFFFF"/>
                          </a:solidFill>
                          <a:latin typeface="Calibri"/>
                        </a:rPr>
                        <a:t>Ius Chasma, r</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c>
                  <a:txBody>
                    <a:bodyPr/>
                    <a:lstStyle/>
                    <a:p>
                      <a:pPr>
                        <a:buNone/>
                      </a:pPr>
                      <a:r>
                        <a:rPr sz="1400" b="1" i="0">
                          <a:solidFill>
                            <a:srgbClr val="FFFFFF"/>
                          </a:solidFill>
                          <a:latin typeface="Calibri"/>
                        </a:rPr>
                        <a:t>Viking R</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c>
                  <a:txBody>
                    <a:bodyPr/>
                    <a:lstStyle/>
                    <a:p>
                      <a:pPr>
                        <a:buNone/>
                      </a:pPr>
                      <a:r>
                        <a:rPr sz="1400" b="1" i="0">
                          <a:solidFill>
                            <a:srgbClr val="FFFFFF"/>
                          </a:solidFill>
                          <a:latin typeface="Calibri"/>
                        </a:rPr>
                        <a:t>Viking G</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c>
                  <a:txBody>
                    <a:bodyPr/>
                    <a:lstStyle/>
                    <a:p>
                      <a:pPr>
                        <a:buNone/>
                      </a:pPr>
                      <a:r>
                        <a:rPr sz="1400" b="1" i="0">
                          <a:solidFill>
                            <a:srgbClr val="FFFFFF"/>
                          </a:solidFill>
                          <a:latin typeface="Calibri"/>
                        </a:rPr>
                        <a:t>Viking B</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c>
                  <a:txBody>
                    <a:bodyPr/>
                    <a:lstStyle/>
                    <a:p>
                      <a:pPr>
                        <a:buNone/>
                      </a:pPr>
                      <a:r>
                        <a:rPr sz="1400" b="1" i="0">
                          <a:solidFill>
                            <a:srgbClr val="FFFFFF"/>
                          </a:solidFill>
                          <a:latin typeface="Calibri"/>
                        </a:rPr>
                        <a:t>Day IR</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c>
                  <a:txBody>
                    <a:bodyPr/>
                    <a:lstStyle/>
                    <a:p>
                      <a:pPr>
                        <a:buNone/>
                      </a:pPr>
                      <a:r>
                        <a:rPr sz="1400" b="1" i="0">
                          <a:solidFill>
                            <a:srgbClr val="FFFFFF"/>
                          </a:solidFill>
                          <a:latin typeface="Calibri"/>
                        </a:rPr>
                        <a:t>Night IR</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r>
              <a:tr h="508000">
                <a:tc>
                  <a:txBody>
                    <a:bodyPr/>
                    <a:lstStyle/>
                    <a:p>
                      <a:pPr>
                        <a:buNone/>
                      </a:pPr>
                      <a:r>
                        <a:rPr sz="1400" b="1" i="0">
                          <a:solidFill>
                            <a:srgbClr val="EAF0F7"/>
                          </a:solidFill>
                          <a:latin typeface="Calibri"/>
                        </a:rPr>
                        <a:t>Viking R</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400" b="0" i="0">
                          <a:solidFill>
                            <a:srgbClr val="A9BACD"/>
                          </a:solidFill>
                          <a:latin typeface="Calibri"/>
                        </a:rPr>
                        <a:t>1</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2E5076"/>
                    </a:solidFill>
                  </a:tcPr>
                </a:tc>
                <a:tc>
                  <a:txBody>
                    <a:bodyPr/>
                    <a:lstStyle/>
                    <a:p>
                      <a:pPr>
                        <a:buNone/>
                      </a:pPr>
                      <a:r>
                        <a:rPr sz="1400" b="0" i="0">
                          <a:solidFill>
                            <a:srgbClr val="FFFFFF"/>
                          </a:solidFill>
                          <a:latin typeface="Calibri"/>
                        </a:rPr>
                        <a:t>+0.960</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488CD3"/>
                    </a:solidFill>
                  </a:tcPr>
                </a:tc>
                <a:tc>
                  <a:txBody>
                    <a:bodyPr/>
                    <a:lstStyle/>
                    <a:p>
                      <a:pPr>
                        <a:buNone/>
                      </a:pPr>
                      <a:r>
                        <a:rPr sz="1400" b="0" i="0">
                          <a:solidFill>
                            <a:srgbClr val="FFFFFF"/>
                          </a:solidFill>
                          <a:latin typeface="Calibri"/>
                        </a:rPr>
                        <a:t>+0.925</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4588CE"/>
                    </a:solidFill>
                  </a:tcPr>
                </a:tc>
                <a:tc>
                  <a:txBody>
                    <a:bodyPr/>
                    <a:lstStyle/>
                    <a:p>
                      <a:pPr>
                        <a:buNone/>
                      </a:pPr>
                      <a:r>
                        <a:rPr sz="1400" b="0" i="0">
                          <a:solidFill>
                            <a:srgbClr val="EAF0F7"/>
                          </a:solidFill>
                          <a:latin typeface="Calibri"/>
                        </a:rPr>
                        <a:t>−0.486</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2C5E93"/>
                    </a:solidFill>
                  </a:tcPr>
                </a:tc>
                <a:tc>
                  <a:txBody>
                    <a:bodyPr/>
                    <a:lstStyle/>
                    <a:p>
                      <a:pPr>
                        <a:buNone/>
                      </a:pPr>
                      <a:r>
                        <a:rPr sz="1400" b="1" i="0">
                          <a:solidFill>
                            <a:srgbClr val="8CC4EC"/>
                          </a:solidFill>
                          <a:latin typeface="Calibri"/>
                        </a:rPr>
                        <a:t>−0.121</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A416B"/>
                    </a:solidFill>
                  </a:tcPr>
                </a:tc>
              </a:tr>
              <a:tr h="508000">
                <a:tc>
                  <a:txBody>
                    <a:bodyPr/>
                    <a:lstStyle/>
                    <a:p>
                      <a:pPr>
                        <a:buNone/>
                      </a:pPr>
                      <a:r>
                        <a:rPr sz="1400" b="1" i="0">
                          <a:solidFill>
                            <a:srgbClr val="EAF0F7"/>
                          </a:solidFill>
                          <a:latin typeface="Calibri"/>
                        </a:rPr>
                        <a:t>Viking G</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400" b="0" i="0">
                          <a:solidFill>
                            <a:srgbClr val="FFFFFF"/>
                          </a:solidFill>
                          <a:latin typeface="Calibri"/>
                        </a:rPr>
                        <a:t>+0.960</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488CD3"/>
                    </a:solidFill>
                  </a:tcPr>
                </a:tc>
                <a:tc>
                  <a:txBody>
                    <a:bodyPr/>
                    <a:lstStyle/>
                    <a:p>
                      <a:pPr>
                        <a:buNone/>
                      </a:pPr>
                      <a:r>
                        <a:rPr sz="1400" b="0" i="0">
                          <a:solidFill>
                            <a:srgbClr val="A9BACD"/>
                          </a:solidFill>
                          <a:latin typeface="Calibri"/>
                        </a:rPr>
                        <a:t>1</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2E5076"/>
                    </a:solidFill>
                  </a:tcPr>
                </a:tc>
                <a:tc>
                  <a:txBody>
                    <a:bodyPr/>
                    <a:lstStyle/>
                    <a:p>
                      <a:pPr>
                        <a:buNone/>
                      </a:pPr>
                      <a:r>
                        <a:rPr sz="1400" b="0" i="0">
                          <a:solidFill>
                            <a:srgbClr val="FFFFFF"/>
                          </a:solidFill>
                          <a:latin typeface="Calibri"/>
                        </a:rPr>
                        <a:t>+0.993</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4A8FD8"/>
                    </a:solidFill>
                  </a:tcPr>
                </a:tc>
                <a:tc>
                  <a:txBody>
                    <a:bodyPr/>
                    <a:lstStyle/>
                    <a:p>
                      <a:pPr>
                        <a:buNone/>
                      </a:pPr>
                      <a:r>
                        <a:rPr sz="1400" b="0" i="0">
                          <a:solidFill>
                            <a:srgbClr val="EAF0F7"/>
                          </a:solidFill>
                          <a:latin typeface="Calibri"/>
                        </a:rPr>
                        <a:t>−0.496</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2C5F95"/>
                    </a:solidFill>
                  </a:tcPr>
                </a:tc>
                <a:tc>
                  <a:txBody>
                    <a:bodyPr/>
                    <a:lstStyle/>
                    <a:p>
                      <a:pPr>
                        <a:buNone/>
                      </a:pPr>
                      <a:r>
                        <a:rPr sz="1400" b="1" i="0">
                          <a:solidFill>
                            <a:srgbClr val="8CC4EC"/>
                          </a:solidFill>
                          <a:latin typeface="Calibri"/>
                        </a:rPr>
                        <a:t>−0.085</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93E67"/>
                    </a:solidFill>
                  </a:tcPr>
                </a:tc>
              </a:tr>
              <a:tr h="508000">
                <a:tc>
                  <a:txBody>
                    <a:bodyPr/>
                    <a:lstStyle/>
                    <a:p>
                      <a:pPr>
                        <a:buNone/>
                      </a:pPr>
                      <a:r>
                        <a:rPr sz="1400" b="1" i="0">
                          <a:solidFill>
                            <a:srgbClr val="EAF0F7"/>
                          </a:solidFill>
                          <a:latin typeface="Calibri"/>
                        </a:rPr>
                        <a:t>Viking B</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400" b="0" i="0">
                          <a:solidFill>
                            <a:srgbClr val="FFFFFF"/>
                          </a:solidFill>
                          <a:latin typeface="Calibri"/>
                        </a:rPr>
                        <a:t>+0.925</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4588CE"/>
                    </a:solidFill>
                  </a:tcPr>
                </a:tc>
                <a:tc>
                  <a:txBody>
                    <a:bodyPr/>
                    <a:lstStyle/>
                    <a:p>
                      <a:pPr>
                        <a:buNone/>
                      </a:pPr>
                      <a:r>
                        <a:rPr sz="1400" b="0" i="0">
                          <a:solidFill>
                            <a:srgbClr val="FFFFFF"/>
                          </a:solidFill>
                          <a:latin typeface="Calibri"/>
                        </a:rPr>
                        <a:t>+0.993</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4A8FD8"/>
                    </a:solidFill>
                  </a:tcPr>
                </a:tc>
                <a:tc>
                  <a:txBody>
                    <a:bodyPr/>
                    <a:lstStyle/>
                    <a:p>
                      <a:pPr>
                        <a:buNone/>
                      </a:pPr>
                      <a:r>
                        <a:rPr sz="1400" b="0" i="0">
                          <a:solidFill>
                            <a:srgbClr val="A9BACD"/>
                          </a:solidFill>
                          <a:latin typeface="Calibri"/>
                        </a:rPr>
                        <a:t>1</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2E5076"/>
                    </a:solidFill>
                  </a:tcPr>
                </a:tc>
                <a:tc>
                  <a:txBody>
                    <a:bodyPr/>
                    <a:lstStyle/>
                    <a:p>
                      <a:pPr>
                        <a:buNone/>
                      </a:pPr>
                      <a:r>
                        <a:rPr sz="1400" b="0" i="0">
                          <a:solidFill>
                            <a:srgbClr val="EAF0F7"/>
                          </a:solidFill>
                          <a:latin typeface="Calibri"/>
                        </a:rPr>
                        <a:t>−0.488</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2C5E94"/>
                    </a:solidFill>
                  </a:tcPr>
                </a:tc>
                <a:tc>
                  <a:txBody>
                    <a:bodyPr/>
                    <a:lstStyle/>
                    <a:p>
                      <a:pPr>
                        <a:buNone/>
                      </a:pPr>
                      <a:r>
                        <a:rPr sz="1400" b="1" i="0">
                          <a:solidFill>
                            <a:srgbClr val="8CC4EC"/>
                          </a:solidFill>
                          <a:latin typeface="Calibri"/>
                        </a:rPr>
                        <a:t>−0.068</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83D66"/>
                    </a:solidFill>
                  </a:tcPr>
                </a:tc>
              </a:tr>
              <a:tr h="508000">
                <a:tc>
                  <a:txBody>
                    <a:bodyPr/>
                    <a:lstStyle/>
                    <a:p>
                      <a:pPr>
                        <a:buNone/>
                      </a:pPr>
                      <a:r>
                        <a:rPr sz="1400" b="1" i="0">
                          <a:solidFill>
                            <a:srgbClr val="EAF0F7"/>
                          </a:solidFill>
                          <a:latin typeface="Calibri"/>
                        </a:rPr>
                        <a:t>Day IR</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400" b="0" i="0">
                          <a:solidFill>
                            <a:srgbClr val="EAF0F7"/>
                          </a:solidFill>
                          <a:latin typeface="Calibri"/>
                        </a:rPr>
                        <a:t>−0.486</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2C5E93"/>
                    </a:solidFill>
                  </a:tcPr>
                </a:tc>
                <a:tc>
                  <a:txBody>
                    <a:bodyPr/>
                    <a:lstStyle/>
                    <a:p>
                      <a:pPr>
                        <a:buNone/>
                      </a:pPr>
                      <a:r>
                        <a:rPr sz="1400" b="0" i="0">
                          <a:solidFill>
                            <a:srgbClr val="EAF0F7"/>
                          </a:solidFill>
                          <a:latin typeface="Calibri"/>
                        </a:rPr>
                        <a:t>−0.496</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2C5F95"/>
                    </a:solidFill>
                  </a:tcPr>
                </a:tc>
                <a:tc>
                  <a:txBody>
                    <a:bodyPr/>
                    <a:lstStyle/>
                    <a:p>
                      <a:pPr>
                        <a:buNone/>
                      </a:pPr>
                      <a:r>
                        <a:rPr sz="1400" b="0" i="0">
                          <a:solidFill>
                            <a:srgbClr val="EAF0F7"/>
                          </a:solidFill>
                          <a:latin typeface="Calibri"/>
                        </a:rPr>
                        <a:t>−0.488</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2C5E94"/>
                    </a:solidFill>
                  </a:tcPr>
                </a:tc>
                <a:tc>
                  <a:txBody>
                    <a:bodyPr/>
                    <a:lstStyle/>
                    <a:p>
                      <a:pPr>
                        <a:buNone/>
                      </a:pPr>
                      <a:r>
                        <a:rPr sz="1400" b="0" i="0">
                          <a:solidFill>
                            <a:srgbClr val="A9BACD"/>
                          </a:solidFill>
                          <a:latin typeface="Calibri"/>
                        </a:rPr>
                        <a:t>1</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2E5076"/>
                    </a:solidFill>
                  </a:tcPr>
                </a:tc>
                <a:tc>
                  <a:txBody>
                    <a:bodyPr/>
                    <a:lstStyle/>
                    <a:p>
                      <a:pPr>
                        <a:buNone/>
                      </a:pPr>
                      <a:r>
                        <a:rPr sz="1400" b="1" i="0">
                          <a:solidFill>
                            <a:srgbClr val="8CC4EC"/>
                          </a:solidFill>
                          <a:latin typeface="Calibri"/>
                        </a:rPr>
                        <a:t>+0.105</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94069"/>
                    </a:solidFill>
                  </a:tcPr>
                </a:tc>
              </a:tr>
              <a:tr h="508000">
                <a:tc>
                  <a:txBody>
                    <a:bodyPr/>
                    <a:lstStyle/>
                    <a:p>
                      <a:pPr>
                        <a:buNone/>
                      </a:pPr>
                      <a:r>
                        <a:rPr sz="1400" b="1" i="0">
                          <a:solidFill>
                            <a:srgbClr val="EAF0F7"/>
                          </a:solidFill>
                          <a:latin typeface="Calibri"/>
                        </a:rPr>
                        <a:t>Night IR</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400" b="1" i="0">
                          <a:solidFill>
                            <a:srgbClr val="8CC4EC"/>
                          </a:solidFill>
                          <a:latin typeface="Calibri"/>
                        </a:rPr>
                        <a:t>−0.121</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A416B"/>
                    </a:solidFill>
                  </a:tcPr>
                </a:tc>
                <a:tc>
                  <a:txBody>
                    <a:bodyPr/>
                    <a:lstStyle/>
                    <a:p>
                      <a:pPr>
                        <a:buNone/>
                      </a:pPr>
                      <a:r>
                        <a:rPr sz="1400" b="1" i="0">
                          <a:solidFill>
                            <a:srgbClr val="8CC4EC"/>
                          </a:solidFill>
                          <a:latin typeface="Calibri"/>
                        </a:rPr>
                        <a:t>−0.085</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93E67"/>
                    </a:solidFill>
                  </a:tcPr>
                </a:tc>
                <a:tc>
                  <a:txBody>
                    <a:bodyPr/>
                    <a:lstStyle/>
                    <a:p>
                      <a:pPr>
                        <a:buNone/>
                      </a:pPr>
                      <a:r>
                        <a:rPr sz="1400" b="1" i="0">
                          <a:solidFill>
                            <a:srgbClr val="8CC4EC"/>
                          </a:solidFill>
                          <a:latin typeface="Calibri"/>
                        </a:rPr>
                        <a:t>−0.068</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83D66"/>
                    </a:solidFill>
                  </a:tcPr>
                </a:tc>
                <a:tc>
                  <a:txBody>
                    <a:bodyPr/>
                    <a:lstStyle/>
                    <a:p>
                      <a:pPr>
                        <a:buNone/>
                      </a:pPr>
                      <a:r>
                        <a:rPr sz="1400" b="1" i="0">
                          <a:solidFill>
                            <a:srgbClr val="8CC4EC"/>
                          </a:solidFill>
                          <a:latin typeface="Calibri"/>
                        </a:rPr>
                        <a:t>+0.105</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94069"/>
                    </a:solidFill>
                  </a:tcPr>
                </a:tc>
                <a:tc>
                  <a:txBody>
                    <a:bodyPr/>
                    <a:lstStyle/>
                    <a:p>
                      <a:pPr>
                        <a:buNone/>
                      </a:pPr>
                      <a:r>
                        <a:rPr sz="1400" b="0" i="0">
                          <a:solidFill>
                            <a:srgbClr val="A9BACD"/>
                          </a:solidFill>
                          <a:latin typeface="Calibri"/>
                        </a:rPr>
                        <a:t>1</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2E5076"/>
                    </a:solidFill>
                  </a:tcPr>
                </a:tc>
              </a:tr>
            </a:tbl>
          </a:graphicData>
        </a:graphic>
      </p:graphicFrame>
      <p:sp>
        <p:nvSpPr>
          <p:cNvPr id="5" name="TextBox 4"/>
          <p:cNvSpPr txBox="1"/>
          <p:nvPr/>
        </p:nvSpPr>
        <p:spPr>
          <a:xfrm>
            <a:off x="711200" y="4724400"/>
            <a:ext cx="10769600" cy="508000"/>
          </a:xfrm>
          <a:prstGeom prst="rect">
            <a:avLst/>
          </a:prstGeom>
          <a:noFill/>
        </p:spPr>
        <p:txBody>
          <a:bodyPr wrap="square" anchor="t" lIns="0" rIns="0" tIns="0" bIns="0">
            <a:spAutoFit/>
          </a:bodyPr>
          <a:lstStyle/>
          <a:p>
            <a:pPr algn="l">
              <a:buNone/>
            </a:pPr>
            <a:r>
              <a:rPr sz="1400" b="0" i="1">
                <a:solidFill>
                  <a:srgbClr val="A9BACD"/>
                </a:solidFill>
                <a:latin typeface="Calibri"/>
              </a:rPr>
              <a:t>The three Viking bands behave as one (r 0.93–0.99); day IR adds a second dimension and night IR a third. That is the measured case for fusing them.</a:t>
            </a:r>
          </a:p>
        </p:txBody>
      </p:sp>
      <p:sp>
        <p:nvSpPr>
          <p:cNvPr id="6" name="TextBox 5"/>
          <p:cNvSpPr txBox="1"/>
          <p:nvPr/>
        </p:nvSpPr>
        <p:spPr>
          <a:xfrm>
            <a:off x="711200" y="5232400"/>
            <a:ext cx="10769600" cy="508000"/>
          </a:xfrm>
          <a:prstGeom prst="rect">
            <a:avLst/>
          </a:prstGeom>
          <a:noFill/>
        </p:spPr>
        <p:txBody>
          <a:bodyPr wrap="square" anchor="t" lIns="0" rIns="0" tIns="0" bIns="0">
            <a:spAutoFit/>
          </a:bodyPr>
          <a:lstStyle/>
          <a:p>
            <a:pPr algn="l">
              <a:buNone/>
            </a:pPr>
            <a:r>
              <a:rPr sz="1100" b="0" i="1">
                <a:solidFill>
                  <a:srgbClr val="A9BACD"/>
                </a:solidFill>
                <a:latin typeface="Calibri"/>
              </a:rPr>
              <a:t>Each cell is shaded by the strength of the correlation: the brighter, the more the two bands repeat each other.</a:t>
            </a:r>
          </a:p>
        </p:txBody>
      </p:sp>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WHERE IT STANDS</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Project Tasks and Percent Complete</a:t>
            </a:r>
          </a:p>
        </p:txBody>
      </p:sp>
      <p:sp>
        <p:nvSpPr>
          <p:cNvPr id="4" name="Rectangle 3"/>
          <p:cNvSpPr/>
          <p:nvPr/>
        </p:nvSpPr>
        <p:spPr>
          <a:xfrm>
            <a:off x="711200" y="1422400"/>
            <a:ext cx="10769600" cy="304800"/>
          </a:xfrm>
          <a:prstGeom prst="rect">
            <a:avLst/>
          </a:prstGeom>
          <a:solidFill>
            <a:srgbClr val="08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100" y="1422400"/>
            <a:ext cx="228600" cy="304800"/>
          </a:xfrm>
          <a:prstGeom prst="rect">
            <a:avLst/>
          </a:prstGeom>
          <a:noFill/>
        </p:spPr>
        <p:txBody>
          <a:bodyPr wrap="square" anchor="ctr" lIns="0" rIns="0" tIns="0" bIns="0">
            <a:spAutoFit/>
          </a:bodyPr>
          <a:lstStyle/>
          <a:p>
            <a:pPr algn="l">
              <a:buNone/>
            </a:pPr>
            <a:r>
              <a:rPr sz="1000" b="1" i="0">
                <a:solidFill>
                  <a:srgbClr val="FFFFFF"/>
                </a:solidFill>
                <a:latin typeface="Calibri"/>
              </a:rPr>
              <a:t>#</a:t>
            </a:r>
          </a:p>
        </p:txBody>
      </p:sp>
      <p:sp>
        <p:nvSpPr>
          <p:cNvPr id="6" name="TextBox 5"/>
          <p:cNvSpPr txBox="1"/>
          <p:nvPr/>
        </p:nvSpPr>
        <p:spPr>
          <a:xfrm>
            <a:off x="1206500" y="1422400"/>
            <a:ext cx="2108200" cy="304800"/>
          </a:xfrm>
          <a:prstGeom prst="rect">
            <a:avLst/>
          </a:prstGeom>
          <a:noFill/>
        </p:spPr>
        <p:txBody>
          <a:bodyPr wrap="square" anchor="ctr" lIns="0" rIns="0" tIns="0" bIns="0">
            <a:spAutoFit/>
          </a:bodyPr>
          <a:lstStyle/>
          <a:p>
            <a:pPr algn="l">
              <a:buNone/>
            </a:pPr>
            <a:r>
              <a:rPr sz="1000" b="1" i="0">
                <a:solidFill>
                  <a:srgbClr val="FFFFFF"/>
                </a:solidFill>
                <a:latin typeface="Calibri"/>
              </a:rPr>
              <a:t>Task</a:t>
            </a:r>
          </a:p>
        </p:txBody>
      </p:sp>
      <p:sp>
        <p:nvSpPr>
          <p:cNvPr id="7" name="TextBox 6"/>
          <p:cNvSpPr txBox="1"/>
          <p:nvPr/>
        </p:nvSpPr>
        <p:spPr>
          <a:xfrm>
            <a:off x="3492500" y="1422400"/>
            <a:ext cx="5207000" cy="304800"/>
          </a:xfrm>
          <a:prstGeom prst="rect">
            <a:avLst/>
          </a:prstGeom>
          <a:noFill/>
        </p:spPr>
        <p:txBody>
          <a:bodyPr wrap="square" anchor="ctr" lIns="0" rIns="0" tIns="0" bIns="0">
            <a:spAutoFit/>
          </a:bodyPr>
          <a:lstStyle/>
          <a:p>
            <a:pPr algn="l">
              <a:buNone/>
            </a:pPr>
            <a:r>
              <a:rPr sz="1000" b="1" i="0">
                <a:solidFill>
                  <a:srgbClr val="FFFFFF"/>
                </a:solidFill>
                <a:latin typeface="Calibri"/>
              </a:rPr>
              <a:t>Where it stands</a:t>
            </a:r>
          </a:p>
        </p:txBody>
      </p:sp>
      <p:sp>
        <p:nvSpPr>
          <p:cNvPr id="8" name="TextBox 7"/>
          <p:cNvSpPr txBox="1"/>
          <p:nvPr/>
        </p:nvSpPr>
        <p:spPr>
          <a:xfrm>
            <a:off x="8877300" y="1422400"/>
            <a:ext cx="1752600" cy="304800"/>
          </a:xfrm>
          <a:prstGeom prst="rect">
            <a:avLst/>
          </a:prstGeom>
          <a:noFill/>
        </p:spPr>
        <p:txBody>
          <a:bodyPr wrap="square" anchor="ctr" lIns="0" rIns="0" tIns="0" bIns="0">
            <a:spAutoFit/>
          </a:bodyPr>
          <a:lstStyle/>
          <a:p>
            <a:pPr algn="l">
              <a:buNone/>
            </a:pPr>
            <a:r>
              <a:rPr sz="1000" b="1" i="0">
                <a:solidFill>
                  <a:srgbClr val="FFFFFF"/>
                </a:solidFill>
                <a:latin typeface="Calibri"/>
              </a:rPr>
              <a:t>13 Sep  →  now</a:t>
            </a:r>
          </a:p>
        </p:txBody>
      </p:sp>
      <p:sp>
        <p:nvSpPr>
          <p:cNvPr id="9" name="TextBox 8"/>
          <p:cNvSpPr txBox="1"/>
          <p:nvPr/>
        </p:nvSpPr>
        <p:spPr>
          <a:xfrm>
            <a:off x="10807700" y="1422400"/>
            <a:ext cx="584200" cy="304800"/>
          </a:xfrm>
          <a:prstGeom prst="rect">
            <a:avLst/>
          </a:prstGeom>
          <a:noFill/>
        </p:spPr>
        <p:txBody>
          <a:bodyPr wrap="square" anchor="ctr" lIns="0" rIns="0" tIns="0" bIns="0">
            <a:spAutoFit/>
          </a:bodyPr>
          <a:lstStyle/>
          <a:p>
            <a:pPr algn="l">
              <a:buNone/>
            </a:pPr>
            <a:r>
              <a:rPr sz="1000" b="1" i="0">
                <a:solidFill>
                  <a:srgbClr val="FFFFFF"/>
                </a:solidFill>
                <a:latin typeface="Calibri"/>
              </a:rPr>
              <a:t>Now</a:t>
            </a:r>
          </a:p>
        </p:txBody>
      </p:sp>
      <p:sp>
        <p:nvSpPr>
          <p:cNvPr id="10" name="TextBox 9"/>
          <p:cNvSpPr txBox="1"/>
          <p:nvPr/>
        </p:nvSpPr>
        <p:spPr>
          <a:xfrm>
            <a:off x="800100" y="17272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1</a:t>
            </a:r>
          </a:p>
        </p:txBody>
      </p:sp>
      <p:sp>
        <p:nvSpPr>
          <p:cNvPr id="11" name="TextBox 10"/>
          <p:cNvSpPr txBox="1"/>
          <p:nvPr/>
        </p:nvSpPr>
        <p:spPr>
          <a:xfrm>
            <a:off x="1206500" y="17272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Scope, targets and type area</a:t>
            </a:r>
          </a:p>
        </p:txBody>
      </p:sp>
      <p:sp>
        <p:nvSpPr>
          <p:cNvPr id="12" name="TextBox 11"/>
          <p:cNvSpPr txBox="1"/>
          <p:nvPr/>
        </p:nvSpPr>
        <p:spPr>
          <a:xfrm>
            <a:off x="3492500" y="17272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Two type areas, Ius Chasma and Athabasca Valles; the ±60° extent</a:t>
            </a:r>
          </a:p>
        </p:txBody>
      </p:sp>
      <p:sp>
        <p:nvSpPr>
          <p:cNvPr id="13" name="TextBox 12"/>
          <p:cNvSpPr txBox="1"/>
          <p:nvPr/>
        </p:nvSpPr>
        <p:spPr>
          <a:xfrm>
            <a:off x="10807700" y="17272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100%</a:t>
            </a:r>
          </a:p>
        </p:txBody>
      </p:sp>
      <p:sp>
        <p:nvSpPr>
          <p:cNvPr id="14" name="Rectangle 13"/>
          <p:cNvSpPr/>
          <p:nvPr/>
        </p:nvSpPr>
        <p:spPr>
          <a:xfrm>
            <a:off x="8890000" y="18288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90000" y="1828800"/>
            <a:ext cx="172720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0000" y="1828800"/>
            <a:ext cx="1554480" cy="101600"/>
          </a:xfrm>
          <a:prstGeom prst="rect">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1200" y="2032000"/>
            <a:ext cx="10769600" cy="304800"/>
          </a:xfrm>
          <a:prstGeom prst="rect">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 y="20320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2</a:t>
            </a:r>
          </a:p>
        </p:txBody>
      </p:sp>
      <p:sp>
        <p:nvSpPr>
          <p:cNvPr id="19" name="TextBox 18"/>
          <p:cNvSpPr txBox="1"/>
          <p:nvPr/>
        </p:nvSpPr>
        <p:spPr>
          <a:xfrm>
            <a:off x="1206500" y="20320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Raster acquisition</a:t>
            </a:r>
          </a:p>
        </p:txBody>
      </p:sp>
      <p:sp>
        <p:nvSpPr>
          <p:cNvPr id="20" name="TextBox 19"/>
          <p:cNvSpPr txBox="1"/>
          <p:nvPr/>
        </p:nvSpPr>
        <p:spPr>
          <a:xfrm>
            <a:off x="3492500" y="20320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Three global mosaics plus the THEMIS night IR mosaic</a:t>
            </a:r>
          </a:p>
        </p:txBody>
      </p:sp>
      <p:sp>
        <p:nvSpPr>
          <p:cNvPr id="21" name="TextBox 20"/>
          <p:cNvSpPr txBox="1"/>
          <p:nvPr/>
        </p:nvSpPr>
        <p:spPr>
          <a:xfrm>
            <a:off x="10807700" y="20320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100%</a:t>
            </a:r>
          </a:p>
        </p:txBody>
      </p:sp>
      <p:sp>
        <p:nvSpPr>
          <p:cNvPr id="22" name="Rectangle 21"/>
          <p:cNvSpPr/>
          <p:nvPr/>
        </p:nvSpPr>
        <p:spPr>
          <a:xfrm>
            <a:off x="8890000" y="21336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90000" y="2133600"/>
            <a:ext cx="172720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0000" y="2133600"/>
            <a:ext cx="1727200" cy="101600"/>
          </a:xfrm>
          <a:prstGeom prst="rect">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0100" y="23368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3</a:t>
            </a:r>
          </a:p>
        </p:txBody>
      </p:sp>
      <p:sp>
        <p:nvSpPr>
          <p:cNvPr id="26" name="TextBox 25"/>
          <p:cNvSpPr txBox="1"/>
          <p:nvPr/>
        </p:nvSpPr>
        <p:spPr>
          <a:xfrm>
            <a:off x="1206500" y="23368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Statistics, stretches, pyramids</a:t>
            </a:r>
          </a:p>
        </p:txBody>
      </p:sp>
      <p:sp>
        <p:nvSpPr>
          <p:cNvPr id="27" name="TextBox 26"/>
          <p:cNvSpPr txBox="1"/>
          <p:nvPr/>
        </p:nvSpPr>
        <p:spPr>
          <a:xfrm>
            <a:off x="3492500" y="23368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Done for every product; pyramids on the four source globals took 26 min</a:t>
            </a:r>
          </a:p>
        </p:txBody>
      </p:sp>
      <p:sp>
        <p:nvSpPr>
          <p:cNvPr id="28" name="TextBox 27"/>
          <p:cNvSpPr txBox="1"/>
          <p:nvPr/>
        </p:nvSpPr>
        <p:spPr>
          <a:xfrm>
            <a:off x="10807700" y="23368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100%</a:t>
            </a:r>
          </a:p>
        </p:txBody>
      </p:sp>
      <p:sp>
        <p:nvSpPr>
          <p:cNvPr id="29" name="Rectangle 28"/>
          <p:cNvSpPr/>
          <p:nvPr/>
        </p:nvSpPr>
        <p:spPr>
          <a:xfrm>
            <a:off x="8890000" y="24384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890000" y="2438400"/>
            <a:ext cx="172720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890000" y="2438400"/>
            <a:ext cx="1209040" cy="101600"/>
          </a:xfrm>
          <a:prstGeom prst="rect">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1200" y="2641600"/>
            <a:ext cx="10769600" cy="304800"/>
          </a:xfrm>
          <a:prstGeom prst="rect">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0100" y="26416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4</a:t>
            </a:r>
          </a:p>
        </p:txBody>
      </p:sp>
      <p:sp>
        <p:nvSpPr>
          <p:cNvPr id="34" name="TextBox 33"/>
          <p:cNvSpPr txBox="1"/>
          <p:nvPr/>
        </p:nvSpPr>
        <p:spPr>
          <a:xfrm>
            <a:off x="1206500" y="26416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Grouped mosaic viewer</a:t>
            </a:r>
          </a:p>
        </p:txBody>
      </p:sp>
      <p:sp>
        <p:nvSpPr>
          <p:cNvPr id="35" name="TextBox 34"/>
          <p:cNvSpPr txBox="1"/>
          <p:nvPr/>
        </p:nvSpPr>
        <p:spPr>
          <a:xfrm>
            <a:off x="3492500" y="26416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Done</a:t>
            </a:r>
          </a:p>
        </p:txBody>
      </p:sp>
      <p:sp>
        <p:nvSpPr>
          <p:cNvPr id="36" name="TextBox 35"/>
          <p:cNvSpPr txBox="1"/>
          <p:nvPr/>
        </p:nvSpPr>
        <p:spPr>
          <a:xfrm>
            <a:off x="10807700" y="26416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100%</a:t>
            </a:r>
          </a:p>
        </p:txBody>
      </p:sp>
      <p:sp>
        <p:nvSpPr>
          <p:cNvPr id="37" name="Rectangle 36"/>
          <p:cNvSpPr/>
          <p:nvPr/>
        </p:nvSpPr>
        <p:spPr>
          <a:xfrm>
            <a:off x="8890000" y="27432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90000" y="2743200"/>
            <a:ext cx="172720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890000" y="2743200"/>
            <a:ext cx="1727200" cy="101600"/>
          </a:xfrm>
          <a:prstGeom prst="rect">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0100" y="29464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5</a:t>
            </a:r>
          </a:p>
        </p:txBody>
      </p:sp>
      <p:sp>
        <p:nvSpPr>
          <p:cNvPr id="41" name="TextBox 40"/>
          <p:cNvSpPr txBox="1"/>
          <p:nvPr/>
        </p:nvSpPr>
        <p:spPr>
          <a:xfrm>
            <a:off x="1206500" y="29464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DEM terrain derivatives</a:t>
            </a:r>
          </a:p>
        </p:txBody>
      </p:sp>
      <p:sp>
        <p:nvSpPr>
          <p:cNvPr id="42" name="TextBox 41"/>
          <p:cNvSpPr txBox="1"/>
          <p:nvPr/>
        </p:nvSpPr>
        <p:spPr>
          <a:xfrm>
            <a:off x="3492500" y="29464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Slope rebuilt in degrees for the type area and ±60°</a:t>
            </a:r>
          </a:p>
        </p:txBody>
      </p:sp>
      <p:sp>
        <p:nvSpPr>
          <p:cNvPr id="43" name="TextBox 42"/>
          <p:cNvSpPr txBox="1"/>
          <p:nvPr/>
        </p:nvSpPr>
        <p:spPr>
          <a:xfrm>
            <a:off x="10807700" y="29464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100%</a:t>
            </a:r>
          </a:p>
        </p:txBody>
      </p:sp>
      <p:sp>
        <p:nvSpPr>
          <p:cNvPr id="44" name="Rectangle 43"/>
          <p:cNvSpPr/>
          <p:nvPr/>
        </p:nvSpPr>
        <p:spPr>
          <a:xfrm>
            <a:off x="8890000" y="30480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890000" y="3048000"/>
            <a:ext cx="172720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890000" y="3048000"/>
            <a:ext cx="1381760" cy="101600"/>
          </a:xfrm>
          <a:prstGeom prst="rect">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11200" y="3251200"/>
            <a:ext cx="10769600" cy="304800"/>
          </a:xfrm>
          <a:prstGeom prst="rect">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0100" y="32512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6</a:t>
            </a:r>
          </a:p>
        </p:txBody>
      </p:sp>
      <p:sp>
        <p:nvSpPr>
          <p:cNvPr id="49" name="TextBox 48"/>
          <p:cNvSpPr txBox="1"/>
          <p:nvPr/>
        </p:nvSpPr>
        <p:spPr>
          <a:xfrm>
            <a:off x="1206500" y="32512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Image-gradient products</a:t>
            </a:r>
          </a:p>
        </p:txBody>
      </p:sp>
      <p:sp>
        <p:nvSpPr>
          <p:cNvPr id="50" name="TextBox 49"/>
          <p:cNvSpPr txBox="1"/>
          <p:nvPr/>
        </p:nvSpPr>
        <p:spPr>
          <a:xfrm>
            <a:off x="3492500" y="32512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Slope run on imagery, not the DEM; relabelled as gradient and not used</a:t>
            </a:r>
          </a:p>
        </p:txBody>
      </p:sp>
      <p:sp>
        <p:nvSpPr>
          <p:cNvPr id="51" name="TextBox 50"/>
          <p:cNvSpPr txBox="1"/>
          <p:nvPr/>
        </p:nvSpPr>
        <p:spPr>
          <a:xfrm>
            <a:off x="10807700" y="32512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100%</a:t>
            </a:r>
          </a:p>
        </p:txBody>
      </p:sp>
      <p:sp>
        <p:nvSpPr>
          <p:cNvPr id="52" name="Rectangle 51"/>
          <p:cNvSpPr/>
          <p:nvPr/>
        </p:nvSpPr>
        <p:spPr>
          <a:xfrm>
            <a:off x="8890000" y="33528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890000" y="3352800"/>
            <a:ext cx="172720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890000" y="3352800"/>
            <a:ext cx="1209040" cy="101600"/>
          </a:xfrm>
          <a:prstGeom prst="rect">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0100" y="35560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7</a:t>
            </a:r>
          </a:p>
        </p:txBody>
      </p:sp>
      <p:sp>
        <p:nvSpPr>
          <p:cNvPr id="56" name="TextBox 55"/>
          <p:cNvSpPr txBox="1"/>
          <p:nvPr/>
        </p:nvSpPr>
        <p:spPr>
          <a:xfrm>
            <a:off x="1206500" y="35560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Jezero context</a:t>
            </a:r>
          </a:p>
        </p:txBody>
      </p:sp>
      <p:sp>
        <p:nvSpPr>
          <p:cNvPr id="57" name="TextBox 56"/>
          <p:cNvSpPr txBox="1"/>
          <p:nvPr/>
        </p:nvSpPr>
        <p:spPr>
          <a:xfrm>
            <a:off x="3492500" y="35560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Hosted services only; the dead HiRISE link removed</a:t>
            </a:r>
          </a:p>
        </p:txBody>
      </p:sp>
      <p:sp>
        <p:nvSpPr>
          <p:cNvPr id="58" name="TextBox 57"/>
          <p:cNvSpPr txBox="1"/>
          <p:nvPr/>
        </p:nvSpPr>
        <p:spPr>
          <a:xfrm>
            <a:off x="10807700" y="35560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100%</a:t>
            </a:r>
          </a:p>
        </p:txBody>
      </p:sp>
      <p:sp>
        <p:nvSpPr>
          <p:cNvPr id="59" name="Rectangle 58"/>
          <p:cNvSpPr/>
          <p:nvPr/>
        </p:nvSpPr>
        <p:spPr>
          <a:xfrm>
            <a:off x="8890000" y="36576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890000" y="3657600"/>
            <a:ext cx="172720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890000" y="3657600"/>
            <a:ext cx="345440" cy="101600"/>
          </a:xfrm>
          <a:prstGeom prst="rect">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11200" y="3860800"/>
            <a:ext cx="10769600" cy="304800"/>
          </a:xfrm>
          <a:prstGeom prst="rect">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0100" y="38608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8</a:t>
            </a:r>
          </a:p>
        </p:txBody>
      </p:sp>
      <p:sp>
        <p:nvSpPr>
          <p:cNvPr id="64" name="TextBox 63"/>
          <p:cNvSpPr txBox="1"/>
          <p:nvPr/>
        </p:nvSpPr>
        <p:spPr>
          <a:xfrm>
            <a:off x="1206500" y="38608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Classification</a:t>
            </a:r>
          </a:p>
        </p:txBody>
      </p:sp>
      <p:sp>
        <p:nvSpPr>
          <p:cNvPr id="65" name="TextBox 64"/>
          <p:cNvSpPr txBox="1"/>
          <p:nvPr/>
        </p:nvSpPr>
        <p:spPr>
          <a:xfrm>
            <a:off x="3492500" y="38608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±60° SVM on hand-drawn labels, 200 m: 73.8%, κ 0.58 held out; seven classes proposed</a:t>
            </a:r>
          </a:p>
        </p:txBody>
      </p:sp>
      <p:sp>
        <p:nvSpPr>
          <p:cNvPr id="66" name="TextBox 65"/>
          <p:cNvSpPr txBox="1"/>
          <p:nvPr/>
        </p:nvSpPr>
        <p:spPr>
          <a:xfrm>
            <a:off x="10807700" y="38608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75%</a:t>
            </a:r>
          </a:p>
        </p:txBody>
      </p:sp>
      <p:sp>
        <p:nvSpPr>
          <p:cNvPr id="67" name="Rectangle 66"/>
          <p:cNvSpPr/>
          <p:nvPr/>
        </p:nvSpPr>
        <p:spPr>
          <a:xfrm>
            <a:off x="8890000" y="39624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890000" y="3962400"/>
            <a:ext cx="129540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890000" y="3962400"/>
            <a:ext cx="345440" cy="101600"/>
          </a:xfrm>
          <a:prstGeom prst="rect">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0100" y="41656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9</a:t>
            </a:r>
          </a:p>
        </p:txBody>
      </p:sp>
      <p:sp>
        <p:nvSpPr>
          <p:cNvPr id="71" name="TextBox 70"/>
          <p:cNvSpPr txBox="1"/>
          <p:nvPr/>
        </p:nvSpPr>
        <p:spPr>
          <a:xfrm>
            <a:off x="1206500" y="41656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CRS harmonisation</a:t>
            </a:r>
          </a:p>
        </p:txBody>
      </p:sp>
      <p:sp>
        <p:nvSpPr>
          <p:cNvPr id="72" name="TextBox 71"/>
          <p:cNvSpPr txBox="1"/>
          <p:nvPr/>
        </p:nvSpPr>
        <p:spPr>
          <a:xfrm>
            <a:off x="3492500" y="41656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Done: one 100 m / 200 m grid over ±60°</a:t>
            </a:r>
          </a:p>
        </p:txBody>
      </p:sp>
      <p:sp>
        <p:nvSpPr>
          <p:cNvPr id="73" name="TextBox 72"/>
          <p:cNvSpPr txBox="1"/>
          <p:nvPr/>
        </p:nvSpPr>
        <p:spPr>
          <a:xfrm>
            <a:off x="10807700" y="41656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100%</a:t>
            </a:r>
          </a:p>
        </p:txBody>
      </p:sp>
      <p:sp>
        <p:nvSpPr>
          <p:cNvPr id="74" name="Rectangle 73"/>
          <p:cNvSpPr/>
          <p:nvPr/>
        </p:nvSpPr>
        <p:spPr>
          <a:xfrm>
            <a:off x="8890000" y="42672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890000" y="4267200"/>
            <a:ext cx="172720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890000" y="4267200"/>
            <a:ext cx="259080" cy="101600"/>
          </a:xfrm>
          <a:prstGeom prst="rect">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711200" y="4470400"/>
            <a:ext cx="10769600" cy="304800"/>
          </a:xfrm>
          <a:prstGeom prst="rect">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00100" y="44704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10</a:t>
            </a:r>
          </a:p>
        </p:txBody>
      </p:sp>
      <p:sp>
        <p:nvSpPr>
          <p:cNvPr id="79" name="TextBox 78"/>
          <p:cNvSpPr txBox="1"/>
          <p:nvPr/>
        </p:nvSpPr>
        <p:spPr>
          <a:xfrm>
            <a:off x="1206500" y="44704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Visible + IR composite</a:t>
            </a:r>
          </a:p>
        </p:txBody>
      </p:sp>
      <p:sp>
        <p:nvSpPr>
          <p:cNvPr id="80" name="TextBox 79"/>
          <p:cNvSpPr txBox="1"/>
          <p:nvPr/>
        </p:nvSpPr>
        <p:spPr>
          <a:xfrm>
            <a:off x="3492500" y="44704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Done: type area; 7-band ±60° stack</a:t>
            </a:r>
          </a:p>
        </p:txBody>
      </p:sp>
      <p:sp>
        <p:nvSpPr>
          <p:cNvPr id="81" name="TextBox 80"/>
          <p:cNvSpPr txBox="1"/>
          <p:nvPr/>
        </p:nvSpPr>
        <p:spPr>
          <a:xfrm>
            <a:off x="10807700" y="44704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100%</a:t>
            </a:r>
          </a:p>
        </p:txBody>
      </p:sp>
      <p:sp>
        <p:nvSpPr>
          <p:cNvPr id="82" name="Rectangle 81"/>
          <p:cNvSpPr/>
          <p:nvPr/>
        </p:nvSpPr>
        <p:spPr>
          <a:xfrm>
            <a:off x="8890000" y="45720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890000" y="4572000"/>
            <a:ext cx="172720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8890000" y="4572000"/>
            <a:ext cx="86360" cy="101600"/>
          </a:xfrm>
          <a:prstGeom prst="rect">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00100" y="47752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11</a:t>
            </a:r>
          </a:p>
        </p:txBody>
      </p:sp>
      <p:sp>
        <p:nvSpPr>
          <p:cNvPr id="86" name="TextBox 85"/>
          <p:cNvSpPr txBox="1"/>
          <p:nvPr/>
        </p:nvSpPr>
        <p:spPr>
          <a:xfrm>
            <a:off x="1206500" y="47752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Landform digitising</a:t>
            </a:r>
          </a:p>
        </p:txBody>
      </p:sp>
      <p:sp>
        <p:nvSpPr>
          <p:cNvPr id="87" name="TextBox 86"/>
          <p:cNvSpPr txBox="1"/>
          <p:nvPr/>
        </p:nvSpPr>
        <p:spPr>
          <a:xfrm>
            <a:off x="3492500" y="47752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512 training polygons drawn; landform classes set up but empty; candidates ready to review</a:t>
            </a:r>
          </a:p>
        </p:txBody>
      </p:sp>
      <p:sp>
        <p:nvSpPr>
          <p:cNvPr id="88" name="TextBox 87"/>
          <p:cNvSpPr txBox="1"/>
          <p:nvPr/>
        </p:nvSpPr>
        <p:spPr>
          <a:xfrm>
            <a:off x="10807700" y="47752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10%</a:t>
            </a:r>
          </a:p>
        </p:txBody>
      </p:sp>
      <p:sp>
        <p:nvSpPr>
          <p:cNvPr id="89" name="Rectangle 88"/>
          <p:cNvSpPr/>
          <p:nvPr/>
        </p:nvSpPr>
        <p:spPr>
          <a:xfrm>
            <a:off x="8890000" y="48768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890000" y="4876800"/>
            <a:ext cx="17272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11200" y="5080000"/>
            <a:ext cx="10769600" cy="304800"/>
          </a:xfrm>
          <a:prstGeom prst="rect">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00100" y="50800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12</a:t>
            </a:r>
          </a:p>
        </p:txBody>
      </p:sp>
      <p:sp>
        <p:nvSpPr>
          <p:cNvPr id="93" name="TextBox 92"/>
          <p:cNvSpPr txBox="1"/>
          <p:nvPr/>
        </p:nvSpPr>
        <p:spPr>
          <a:xfrm>
            <a:off x="1206500" y="50800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Crater inventory</a:t>
            </a:r>
          </a:p>
        </p:txBody>
      </p:sp>
      <p:sp>
        <p:nvSpPr>
          <p:cNvPr id="94" name="TextBox 93"/>
          <p:cNvSpPr txBox="1"/>
          <p:nvPr/>
        </p:nvSpPr>
        <p:spPr>
          <a:xfrm>
            <a:off x="3492500" y="50800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Robbins catalogue in the project (385,049); 465,354 closed depressions ≥ 1 km at ±60°</a:t>
            </a:r>
          </a:p>
        </p:txBody>
      </p:sp>
      <p:sp>
        <p:nvSpPr>
          <p:cNvPr id="95" name="TextBox 94"/>
          <p:cNvSpPr txBox="1"/>
          <p:nvPr/>
        </p:nvSpPr>
        <p:spPr>
          <a:xfrm>
            <a:off x="10807700" y="50800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60%</a:t>
            </a:r>
          </a:p>
        </p:txBody>
      </p:sp>
      <p:sp>
        <p:nvSpPr>
          <p:cNvPr id="96" name="Rectangle 95"/>
          <p:cNvSpPr/>
          <p:nvPr/>
        </p:nvSpPr>
        <p:spPr>
          <a:xfrm>
            <a:off x="8890000" y="51816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8890000" y="5181600"/>
            <a:ext cx="103632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00100" y="53848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13</a:t>
            </a:r>
          </a:p>
        </p:txBody>
      </p:sp>
      <p:sp>
        <p:nvSpPr>
          <p:cNvPr id="99" name="TextBox 98"/>
          <p:cNvSpPr txBox="1"/>
          <p:nvPr/>
        </p:nvSpPr>
        <p:spPr>
          <a:xfrm>
            <a:off x="1206500" y="53848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Map layouts</a:t>
            </a:r>
          </a:p>
        </p:txBody>
      </p:sp>
      <p:sp>
        <p:nvSpPr>
          <p:cNvPr id="100" name="TextBox 99"/>
          <p:cNvSpPr txBox="1"/>
          <p:nvPr/>
        </p:nvSpPr>
        <p:spPr>
          <a:xfrm>
            <a:off x="3492500" y="53848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17 map layouts with graticules (none in September)</a:t>
            </a:r>
          </a:p>
        </p:txBody>
      </p:sp>
      <p:sp>
        <p:nvSpPr>
          <p:cNvPr id="101" name="TextBox 100"/>
          <p:cNvSpPr txBox="1"/>
          <p:nvPr/>
        </p:nvSpPr>
        <p:spPr>
          <a:xfrm>
            <a:off x="10807700" y="53848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85%</a:t>
            </a:r>
          </a:p>
        </p:txBody>
      </p:sp>
      <p:sp>
        <p:nvSpPr>
          <p:cNvPr id="102" name="Rectangle 101"/>
          <p:cNvSpPr/>
          <p:nvPr/>
        </p:nvSpPr>
        <p:spPr>
          <a:xfrm>
            <a:off x="8890000" y="54864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890000" y="5486400"/>
            <a:ext cx="146812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711200" y="5689600"/>
            <a:ext cx="10769600" cy="304800"/>
          </a:xfrm>
          <a:prstGeom prst="rect">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0100" y="5689600"/>
            <a:ext cx="228600" cy="304800"/>
          </a:xfrm>
          <a:prstGeom prst="rect">
            <a:avLst/>
          </a:prstGeom>
          <a:noFill/>
        </p:spPr>
        <p:txBody>
          <a:bodyPr wrap="square" anchor="ctr" lIns="0" rIns="0" tIns="0" bIns="0">
            <a:spAutoFit/>
          </a:bodyPr>
          <a:lstStyle/>
          <a:p>
            <a:pPr algn="l">
              <a:buNone/>
            </a:pPr>
            <a:r>
              <a:rPr sz="1000" b="0" i="0">
                <a:solidFill>
                  <a:srgbClr val="EAF0F7"/>
                </a:solidFill>
                <a:latin typeface="Calibri"/>
              </a:rPr>
              <a:t>14</a:t>
            </a:r>
          </a:p>
        </p:txBody>
      </p:sp>
      <p:sp>
        <p:nvSpPr>
          <p:cNvPr id="106" name="TextBox 105"/>
          <p:cNvSpPr txBox="1"/>
          <p:nvPr/>
        </p:nvSpPr>
        <p:spPr>
          <a:xfrm>
            <a:off x="1206500" y="5689600"/>
            <a:ext cx="2108200" cy="304800"/>
          </a:xfrm>
          <a:prstGeom prst="rect">
            <a:avLst/>
          </a:prstGeom>
          <a:noFill/>
        </p:spPr>
        <p:txBody>
          <a:bodyPr wrap="square" anchor="ctr" lIns="0" rIns="0" tIns="0" bIns="0">
            <a:spAutoFit/>
          </a:bodyPr>
          <a:lstStyle/>
          <a:p>
            <a:pPr algn="l">
              <a:buNone/>
            </a:pPr>
            <a:r>
              <a:rPr sz="1000" b="0" i="0">
                <a:solidFill>
                  <a:srgbClr val="EAF0F7"/>
                </a:solidFill>
                <a:latin typeface="Calibri"/>
              </a:rPr>
              <a:t>Report and presentations</a:t>
            </a:r>
          </a:p>
        </p:txBody>
      </p:sp>
      <p:sp>
        <p:nvSpPr>
          <p:cNvPr id="107" name="TextBox 106"/>
          <p:cNvSpPr txBox="1"/>
          <p:nvPr/>
        </p:nvSpPr>
        <p:spPr>
          <a:xfrm>
            <a:off x="3492500" y="5689600"/>
            <a:ext cx="5207000" cy="304800"/>
          </a:xfrm>
          <a:prstGeom prst="rect">
            <a:avLst/>
          </a:prstGeom>
          <a:noFill/>
        </p:spPr>
        <p:txBody>
          <a:bodyPr wrap="square" anchor="ctr" lIns="0" rIns="0" tIns="0" bIns="0">
            <a:spAutoFit/>
          </a:bodyPr>
          <a:lstStyle/>
          <a:p>
            <a:pPr algn="l">
              <a:buNone/>
            </a:pPr>
            <a:r>
              <a:rPr sz="1000" b="0" i="0">
                <a:solidFill>
                  <a:srgbClr val="EAF0F7"/>
                </a:solidFill>
                <a:latin typeface="Calibri"/>
              </a:rPr>
              <a:t>Prospectus and Presentation 1 delivered; interim built to the 26 Oct cut; final paper and deck drafted</a:t>
            </a:r>
          </a:p>
        </p:txBody>
      </p:sp>
      <p:sp>
        <p:nvSpPr>
          <p:cNvPr id="108" name="TextBox 107"/>
          <p:cNvSpPr txBox="1"/>
          <p:nvPr/>
        </p:nvSpPr>
        <p:spPr>
          <a:xfrm>
            <a:off x="10807700" y="5689600"/>
            <a:ext cx="584200" cy="304800"/>
          </a:xfrm>
          <a:prstGeom prst="rect">
            <a:avLst/>
          </a:prstGeom>
          <a:noFill/>
        </p:spPr>
        <p:txBody>
          <a:bodyPr wrap="square" anchor="ctr" lIns="0" rIns="0" tIns="0" bIns="0">
            <a:spAutoFit/>
          </a:bodyPr>
          <a:lstStyle/>
          <a:p>
            <a:pPr algn="l">
              <a:buNone/>
            </a:pPr>
            <a:r>
              <a:rPr sz="1000" b="1" i="0">
                <a:solidFill>
                  <a:srgbClr val="EAF0F7"/>
                </a:solidFill>
                <a:latin typeface="Calibri"/>
              </a:rPr>
              <a:t>60%</a:t>
            </a:r>
          </a:p>
        </p:txBody>
      </p:sp>
      <p:sp>
        <p:nvSpPr>
          <p:cNvPr id="109" name="Rectangle 108"/>
          <p:cNvSpPr/>
          <p:nvPr/>
        </p:nvSpPr>
        <p:spPr>
          <a:xfrm>
            <a:off x="8890000" y="5791200"/>
            <a:ext cx="1727200" cy="1016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8890000" y="5791200"/>
            <a:ext cx="1036320" cy="101600"/>
          </a:xfrm>
          <a:prstGeom prst="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8890000" y="5791200"/>
            <a:ext cx="431800" cy="101600"/>
          </a:xfrm>
          <a:prstGeom prst="rect">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11200" y="6121400"/>
            <a:ext cx="10769600" cy="508000"/>
          </a:xfrm>
          <a:prstGeom prst="rect">
            <a:avLst/>
          </a:prstGeom>
          <a:noFill/>
        </p:spPr>
        <p:txBody>
          <a:bodyPr wrap="square" anchor="t" lIns="0" rIns="0" tIns="0" bIns="0">
            <a:spAutoFit/>
          </a:bodyPr>
          <a:lstStyle/>
          <a:p>
            <a:pPr algn="l">
              <a:buNone/>
            </a:pPr>
            <a:r>
              <a:rPr sz="1100" b="0" i="1">
                <a:solidFill>
                  <a:srgbClr val="A9BACD"/>
                </a:solidFill>
                <a:latin typeface="Calibri"/>
              </a:rPr>
              <a:t>Bar: percent complete toward the final. Light blue: done by 13 September; blue: added since; dark: still to do.</a:t>
            </a:r>
          </a:p>
        </p:txBody>
      </p:sp>
      <p:sp>
        <p:nvSpPr>
          <p:cNvPr id="113" name="TextBox 112"/>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114" name="TextBox 113"/>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WHERE IT STANDS</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Processing Completed Since the Last Report</a:t>
            </a:r>
          </a:p>
        </p:txBody>
      </p:sp>
      <p:graphicFrame>
        <p:nvGraphicFramePr>
          <p:cNvPr id="4" name="Table 3"/>
          <p:cNvGraphicFramePr>
            <a:graphicFrameLocks noGrp="1"/>
          </p:cNvGraphicFramePr>
          <p:nvPr/>
        </p:nvGraphicFramePr>
        <p:xfrm>
          <a:off x="711200" y="1422400"/>
          <a:ext cx="10769599" cy="4622800"/>
        </p:xfrm>
        <a:graphic>
          <a:graphicData uri="http://schemas.openxmlformats.org/drawingml/2006/table">
            <a:tbl>
              <a:tblPr firstRow="1">
                <a:tableStyleId>{5C22544A-7EE6-4342-B048-85BDC9FD1C3A}</a:tableStyleId>
              </a:tblPr>
              <a:tblGrid>
                <a:gridCol w="1045592"/>
                <a:gridCol w="5018842"/>
                <a:gridCol w="4705165"/>
              </a:tblGrid>
              <a:tr h="330200">
                <a:tc>
                  <a:txBody>
                    <a:bodyPr/>
                    <a:lstStyle/>
                    <a:p>
                      <a:pPr>
                        <a:buNone/>
                      </a:pPr>
                      <a:r>
                        <a:rPr sz="1100" b="1" i="0">
                          <a:solidFill>
                            <a:srgbClr val="FFFFFF"/>
                          </a:solidFill>
                          <a:latin typeface="Calibri"/>
                        </a:rPr>
                        <a:t>When</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c>
                  <a:txBody>
                    <a:bodyPr/>
                    <a:lstStyle/>
                    <a:p>
                      <a:pPr>
                        <a:buNone/>
                      </a:pPr>
                      <a:r>
                        <a:rPr sz="1100" b="1" i="0">
                          <a:solidFill>
                            <a:srgbClr val="FFFFFF"/>
                          </a:solidFill>
                          <a:latin typeface="Calibri"/>
                        </a:rPr>
                        <a:t>What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c>
                  <a:txBody>
                    <a:bodyPr/>
                    <a:lstStyle/>
                    <a:p>
                      <a:pPr>
                        <a:buNone/>
                      </a:pPr>
                      <a:r>
                        <a:rPr sz="1100" b="1" i="0">
                          <a:solidFill>
                            <a:srgbClr val="FFFFFF"/>
                          </a:solidFill>
                          <a:latin typeface="Calibri"/>
                        </a:rPr>
                        <a:t>Outcome</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81A2E"/>
                    </a:solidFill>
                  </a:tcPr>
                </a:tc>
              </a:tr>
              <a:tr h="330200">
                <a:tc>
                  <a:txBody>
                    <a:bodyPr/>
                    <a:lstStyle/>
                    <a:p>
                      <a:pPr>
                        <a:buNone/>
                      </a:pPr>
                      <a:r>
                        <a:rPr sz="1100" b="1" i="0">
                          <a:solidFill>
                            <a:srgbClr val="EAF0F7"/>
                          </a:solidFill>
                          <a:latin typeface="Calibri"/>
                        </a:rPr>
                        <a:t>18 Sep</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Night IR acquired; type-area stack; slope on a metric grid</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Four inputs on one 100 m grid, 100% co-valid; slope in degrees</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r>
              <a:tr h="330200">
                <a:tc>
                  <a:txBody>
                    <a:bodyPr/>
                    <a:lstStyle/>
                    <a:p>
                      <a:pPr>
                        <a:buNone/>
                      </a:pPr>
                      <a:r>
                        <a:rPr sz="1100" b="1" i="0">
                          <a:solidFill>
                            <a:srgbClr val="EAF0F7"/>
                          </a:solidFill>
                          <a:latin typeface="Calibri"/>
                        </a:rPr>
                        <a:t>19 Sep</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100" b="0" i="0">
                          <a:solidFill>
                            <a:srgbClr val="EAF0F7"/>
                          </a:solidFill>
                          <a:latin typeface="Calibri"/>
                        </a:rPr>
                        <a:t>±60° grids and diurnal contrast index</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100" b="0" i="0">
                          <a:solidFill>
                            <a:srgbClr val="EAF0F7"/>
                          </a:solidFill>
                          <a:latin typeface="Calibri"/>
                        </a:rPr>
                        <a:t>15.2 bn px in 36.3 min</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r>
              <a:tr h="330200">
                <a:tc>
                  <a:txBody>
                    <a:bodyPr/>
                    <a:lstStyle/>
                    <a:p>
                      <a:pPr>
                        <a:buNone/>
                      </a:pPr>
                      <a:r>
                        <a:rPr sz="1100" b="1" i="0">
                          <a:solidFill>
                            <a:srgbClr val="EAF0F7"/>
                          </a:solidFill>
                          <a:latin typeface="Calibri"/>
                        </a:rPr>
                        <a:t>19 Sep</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Channel and crater candidates, Ius; basins at ±60°</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2,610 channels; 1,685 closed depressions; 5,144 basins ≥ 20 km</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r>
              <a:tr h="330200">
                <a:tc>
                  <a:txBody>
                    <a:bodyPr/>
                    <a:lstStyle/>
                    <a:p>
                      <a:pPr>
                        <a:buNone/>
                      </a:pPr>
                      <a:r>
                        <a:rPr sz="1100" b="1" i="0">
                          <a:solidFill>
                            <a:srgbClr val="EAF0F7"/>
                          </a:solidFill>
                          <a:latin typeface="Calibri"/>
                        </a:rPr>
                        <a:t>24–30 Sep</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100" b="0" i="0">
                          <a:solidFill>
                            <a:srgbClr val="EAF0F7"/>
                          </a:solidFill>
                          <a:latin typeface="Calibri"/>
                        </a:rPr>
                        <a:t>Global composites built in ArcGIS Pro</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100" b="0" i="0">
                          <a:solidFill>
                            <a:srgbClr val="EAF0F7"/>
                          </a:solidFill>
                          <a:latin typeface="Calibri"/>
                        </a:rPr>
                        <a:t>Two runs finished: 2 h 52 m and 3 h 10 m</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r>
              <a:tr h="330200">
                <a:tc>
                  <a:txBody>
                    <a:bodyPr/>
                    <a:lstStyle/>
                    <a:p>
                      <a:pPr>
                        <a:buNone/>
                      </a:pPr>
                      <a:r>
                        <a:rPr sz="1100" b="1" i="0">
                          <a:solidFill>
                            <a:srgbClr val="EAF0F7"/>
                          </a:solidFill>
                          <a:latin typeface="Calibri"/>
                        </a:rPr>
                        <a:t>29 Sep</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Hand-drawn training polygons; SVMs</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Four classes; two ±60° maps</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r>
              <a:tr h="330200">
                <a:tc>
                  <a:txBody>
                    <a:bodyPr/>
                    <a:lstStyle/>
                    <a:p>
                      <a:pPr>
                        <a:buNone/>
                      </a:pPr>
                      <a:r>
                        <a:rPr sz="1100" b="1" i="0">
                          <a:solidFill>
                            <a:srgbClr val="EAF0F7"/>
                          </a:solidFill>
                          <a:latin typeface="Calibri"/>
                        </a:rPr>
                        <a:t>2–3 Oct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100" b="0" i="0">
                          <a:solidFill>
                            <a:srgbClr val="EAF0F7"/>
                          </a:solidFill>
                          <a:latin typeface="Calibri"/>
                        </a:rPr>
                        <a:t>First SVM maps checked; corrected stack scored held out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100" b="0" i="0">
                          <a:solidFill>
                            <a:srgbClr val="EAF0F7"/>
                          </a:solidFill>
                          <a:latin typeface="Calibri"/>
                        </a:rPr>
                        <a:t>Tile artefact, mostly elevation; then 73.5%, κ 0.58</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r>
              <a:tr h="330200">
                <a:tc>
                  <a:txBody>
                    <a:bodyPr/>
                    <a:lstStyle/>
                    <a:p>
                      <a:pPr>
                        <a:buNone/>
                      </a:pPr>
                      <a:r>
                        <a:rPr sz="1100" b="1" i="0">
                          <a:solidFill>
                            <a:srgbClr val="EAF0F7"/>
                          </a:solidFill>
                          <a:latin typeface="Calibri"/>
                        </a:rPr>
                        <a:t>6–7 Oct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Backup to GitHub; class codes</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Public repository; pixel = class code</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r>
              <a:tr h="330200">
                <a:tc>
                  <a:txBody>
                    <a:bodyPr/>
                    <a:lstStyle/>
                    <a:p>
                      <a:pPr>
                        <a:buNone/>
                      </a:pPr>
                      <a:r>
                        <a:rPr sz="1100" b="1" i="0">
                          <a:solidFill>
                            <a:srgbClr val="EAF0F7"/>
                          </a:solidFill>
                          <a:latin typeface="Calibri"/>
                        </a:rPr>
                        <a:t>8 Oct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100" b="0" i="0">
                          <a:solidFill>
                            <a:srgbClr val="EAF0F7"/>
                          </a:solidFill>
                          <a:latin typeface="Calibri"/>
                        </a:rPr>
                        <a:t>Reference data, Athabasca, tests T1–T3 and T8</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100" b="0" i="0">
                          <a:solidFill>
                            <a:srgbClr val="EAF0F7"/>
                          </a:solidFill>
                          <a:latin typeface="Calibri"/>
                        </a:rPr>
                        <a:t>Thermal adds +1.3 points; ten layouts</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r>
              <a:tr h="330200">
                <a:tc>
                  <a:txBody>
                    <a:bodyPr/>
                    <a:lstStyle/>
                    <a:p>
                      <a:pPr>
                        <a:buNone/>
                      </a:pPr>
                      <a:r>
                        <a:rPr sz="1100" b="1" i="0">
                          <a:solidFill>
                            <a:srgbClr val="EAF0F7"/>
                          </a:solidFill>
                          <a:latin typeface="Calibri"/>
                        </a:rPr>
                        <a:t>8–9 Oct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Digitising by review; tests T4–T7; validation sheet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No support for H1–H3 or a tributary count; 12 layouts</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r>
              <a:tr h="330200">
                <a:tc>
                  <a:txBody>
                    <a:bodyPr/>
                    <a:lstStyle/>
                    <a:p>
                      <a:pPr>
                        <a:buNone/>
                      </a:pPr>
                      <a:r>
                        <a:rPr sz="1100" b="1" i="0">
                          <a:solidFill>
                            <a:srgbClr val="EAF0F7"/>
                          </a:solidFill>
                          <a:latin typeface="Calibri"/>
                        </a:rPr>
                        <a:t>13–15 Oct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100" b="0" i="0">
                          <a:solidFill>
                            <a:srgbClr val="EAF0F7"/>
                          </a:solidFill>
                          <a:latin typeface="Calibri"/>
                        </a:rPr>
                        <a:t>Pyramids; ±60° craters and channels ≥ 1 km; 180° DEM fix</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100" b="0" i="0">
                          <a:solidFill>
                            <a:srgbClr val="EAF0F7"/>
                          </a:solidFill>
                          <a:latin typeface="Calibri"/>
                        </a:rPr>
                        <a:t>465,354 closed depressions, 969,822 channel segments</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r>
              <a:tr h="330200">
                <a:tc>
                  <a:txBody>
                    <a:bodyPr/>
                    <a:lstStyle/>
                    <a:p>
                      <a:pPr>
                        <a:buNone/>
                      </a:pPr>
                      <a:r>
                        <a:rPr sz="1100" b="1" i="0">
                          <a:solidFill>
                            <a:srgbClr val="EAF0F7"/>
                          </a:solidFill>
                          <a:latin typeface="Calibri"/>
                        </a:rPr>
                        <a:t>14–16 Oct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200 m classification; T1 with Pro's SVM; the published map</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73.8%, κ 0.58; thermal adds +1.36 and +1.97 points</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r>
              <a:tr h="330200">
                <a:tc>
                  <a:txBody>
                    <a:bodyPr/>
                    <a:lstStyle/>
                    <a:p>
                      <a:pPr>
                        <a:buNone/>
                      </a:pPr>
                      <a:r>
                        <a:rPr sz="1100" b="1" i="0">
                          <a:solidFill>
                            <a:srgbClr val="EAF0F7"/>
                          </a:solidFill>
                          <a:latin typeface="Calibri"/>
                        </a:rPr>
                        <a:t>19–21 Oct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100" b="0" i="0">
                          <a:solidFill>
                            <a:srgbClr val="EAF0F7"/>
                          </a:solidFill>
                          <a:latin typeface="Calibri"/>
                        </a:rPr>
                        <a:t>Deep learning: a box detector, then a U-Net over ±60°</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c>
                  <a:txBody>
                    <a:bodyPr/>
                    <a:lstStyle/>
                    <a:p>
                      <a:pPr>
                        <a:buNone/>
                      </a:pPr>
                      <a:r>
                        <a:rPr sz="1100" b="0" i="0">
                          <a:solidFill>
                            <a:srgbClr val="EAF0F7"/>
                          </a:solidFill>
                          <a:latin typeface="Calibri"/>
                        </a:rPr>
                        <a:t>U-Net 98.9%, κ 0.98 held out, as terrain provinces</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163A61"/>
                    </a:solidFill>
                  </a:tcPr>
                </a:tc>
              </a:tr>
              <a:tr h="330200">
                <a:tc>
                  <a:txBody>
                    <a:bodyPr/>
                    <a:lstStyle/>
                    <a:p>
                      <a:pPr>
                        <a:buNone/>
                      </a:pPr>
                      <a:r>
                        <a:rPr sz="1100" b="1" i="0">
                          <a:solidFill>
                            <a:srgbClr val="EAF0F7"/>
                          </a:solidFill>
                          <a:latin typeface="Calibri"/>
                        </a:rPr>
                        <a:t>22–23 Oct</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The 512 labels audited; seven classes proposed</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c>
                  <a:txBody>
                    <a:bodyPr/>
                    <a:lstStyle/>
                    <a:p>
                      <a:pPr>
                        <a:buNone/>
                      </a:pPr>
                      <a:r>
                        <a:rPr sz="1100" b="0" i="0">
                          <a:solidFill>
                            <a:srgbClr val="EAF0F7"/>
                          </a:solidFill>
                          <a:latin typeface="Calibri"/>
                        </a:rPr>
                        <a:t>Five Crater labels are volcanoes; 1,086 proposals to review</a:t>
                      </a:r>
                    </a:p>
                  </a:txBody>
                  <a:tcPr marL="88900" marR="88900" marT="25400" marB="25400" anchor="ctr">
                    <a:lnL w="19050">
                      <a:solidFill>
                        <a:srgbClr val="0E2841"/>
                      </a:solidFill>
                    </a:lnL>
                    <a:lnR w="19050">
                      <a:solidFill>
                        <a:srgbClr val="0E2841"/>
                      </a:solidFill>
                    </a:lnR>
                    <a:lnT w="19050">
                      <a:solidFill>
                        <a:srgbClr val="0E2841"/>
                      </a:solidFill>
                    </a:lnT>
                    <a:lnB w="19050">
                      <a:solidFill>
                        <a:srgbClr val="0E2841"/>
                      </a:solidFill>
                    </a:lnB>
                    <a:solidFill>
                      <a:srgbClr val="0E2841"/>
                    </a:solidFill>
                  </a:tcPr>
                </a:tc>
              </a:tr>
            </a:tbl>
          </a:graphicData>
        </a:graphic>
      </p:graphicFrame>
      <p:sp>
        <p:nvSpPr>
          <p:cNvPr id="5" name="TextBox 4"/>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6" name="TextBox 5"/>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pic>
        <p:nvPicPr>
          <p:cNvPr id="2" name="Picture 1" descr="Ius Chasma, 271–286°E: THEMIS night IR on this project's 100 m grid"/>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gradFill rotWithShape="1">
            <a:gsLst>
              <a:gs pos="0">
                <a:srgbClr val="0E2841">
                  <a:alpha val="94000"/>
                </a:srgbClr>
              </a:gs>
              <a:gs pos="60000">
                <a:srgbClr val="0E2841">
                  <a:alpha val="86000"/>
                </a:srgbClr>
              </a:gs>
              <a:gs pos="100000">
                <a:srgbClr val="0E2841">
                  <a:alpha val="6000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1200" y="14224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PRELIMINARY RESULTS</a:t>
            </a:r>
          </a:p>
        </p:txBody>
      </p:sp>
      <p:sp>
        <p:nvSpPr>
          <p:cNvPr id="5" name="TextBox 4"/>
          <p:cNvSpPr txBox="1"/>
          <p:nvPr/>
        </p:nvSpPr>
        <p:spPr>
          <a:xfrm>
            <a:off x="711200" y="1651000"/>
            <a:ext cx="10769600" cy="711200"/>
          </a:xfrm>
          <a:prstGeom prst="rect">
            <a:avLst/>
          </a:prstGeom>
          <a:noFill/>
        </p:spPr>
        <p:txBody>
          <a:bodyPr wrap="square" anchor="t" lIns="0" rIns="0" tIns="0" bIns="0">
            <a:spAutoFit/>
          </a:bodyPr>
          <a:lstStyle/>
          <a:p>
            <a:pPr algn="l">
              <a:buNone/>
            </a:pPr>
            <a:r>
              <a:rPr sz="4400" b="0" i="0">
                <a:solidFill>
                  <a:srgbClr val="FFFFFF"/>
                </a:solidFill>
                <a:latin typeface="Cambria"/>
              </a:rPr>
              <a:t>What the data show so far</a:t>
            </a:r>
          </a:p>
        </p:txBody>
      </p:sp>
      <p:sp>
        <p:nvSpPr>
          <p:cNvPr id="6" name="TextBox 5"/>
          <p:cNvSpPr txBox="1"/>
          <p:nvPr/>
        </p:nvSpPr>
        <p:spPr>
          <a:xfrm>
            <a:off x="711200" y="2438400"/>
            <a:ext cx="7874000" cy="254000"/>
          </a:xfrm>
          <a:prstGeom prst="rect">
            <a:avLst/>
          </a:prstGeom>
          <a:noFill/>
        </p:spPr>
        <p:txBody>
          <a:bodyPr wrap="square" anchor="t" lIns="0" rIns="0" tIns="0" bIns="0">
            <a:spAutoFit/>
          </a:bodyPr>
          <a:lstStyle/>
          <a:p>
            <a:pPr algn="l">
              <a:buNone/>
            </a:pPr>
            <a:r>
              <a:rPr sz="1400" b="0" i="0">
                <a:solidFill>
                  <a:srgbClr val="C5D3E3"/>
                </a:solidFill>
                <a:latin typeface="Calibri"/>
              </a:rPr>
              <a:t>Every map is a layout in the ArcGIS project, exported fresh for this deck.</a:t>
            </a:r>
          </a:p>
        </p:txBody>
      </p:sp>
      <p:sp>
        <p:nvSpPr>
          <p:cNvPr id="7" name="TextBox 6"/>
          <p:cNvSpPr txBox="1"/>
          <p:nvPr/>
        </p:nvSpPr>
        <p:spPr>
          <a:xfrm>
            <a:off x="711200" y="3810000"/>
            <a:ext cx="2463800" cy="660400"/>
          </a:xfrm>
          <a:prstGeom prst="rect">
            <a:avLst/>
          </a:prstGeom>
          <a:noFill/>
        </p:spPr>
        <p:txBody>
          <a:bodyPr wrap="square" anchor="t" lIns="0" rIns="0" tIns="0" bIns="0">
            <a:spAutoFit/>
          </a:bodyPr>
          <a:lstStyle/>
          <a:p>
            <a:pPr algn="l">
              <a:buNone/>
            </a:pPr>
            <a:r>
              <a:rPr sz="4000" b="0" i="0">
                <a:solidFill>
                  <a:srgbClr val="8CC4EC"/>
                </a:solidFill>
                <a:latin typeface="Cambria"/>
              </a:rPr>
              <a:t>86.6%</a:t>
            </a:r>
          </a:p>
        </p:txBody>
      </p:sp>
      <p:sp>
        <p:nvSpPr>
          <p:cNvPr id="8" name="TextBox 7"/>
          <p:cNvSpPr txBox="1"/>
          <p:nvPr/>
        </p:nvSpPr>
        <p:spPr>
          <a:xfrm>
            <a:off x="711200" y="4521200"/>
            <a:ext cx="2362200" cy="762000"/>
          </a:xfrm>
          <a:prstGeom prst="rect">
            <a:avLst/>
          </a:prstGeom>
          <a:noFill/>
        </p:spPr>
        <p:txBody>
          <a:bodyPr wrap="square" anchor="t" lIns="0" rIns="0" tIns="0" bIns="0">
            <a:spAutoFit/>
          </a:bodyPr>
          <a:lstStyle/>
          <a:p>
            <a:pPr algn="l">
              <a:buNone/>
            </a:pPr>
            <a:r>
              <a:rPr sz="1300" b="0" i="0">
                <a:solidFill>
                  <a:srgbClr val="C5D3E3"/>
                </a:solidFill>
                <a:latin typeface="Calibri"/>
              </a:rPr>
              <a:t>of the planet inside the ±60° analysis extent</a:t>
            </a:r>
          </a:p>
        </p:txBody>
      </p:sp>
      <p:sp>
        <p:nvSpPr>
          <p:cNvPr id="9" name="TextBox 8"/>
          <p:cNvSpPr txBox="1"/>
          <p:nvPr/>
        </p:nvSpPr>
        <p:spPr>
          <a:xfrm>
            <a:off x="3479800" y="3810000"/>
            <a:ext cx="2463800" cy="660400"/>
          </a:xfrm>
          <a:prstGeom prst="rect">
            <a:avLst/>
          </a:prstGeom>
          <a:noFill/>
        </p:spPr>
        <p:txBody>
          <a:bodyPr wrap="square" anchor="t" lIns="0" rIns="0" tIns="0" bIns="0">
            <a:spAutoFit/>
          </a:bodyPr>
          <a:lstStyle/>
          <a:p>
            <a:pPr algn="l">
              <a:buNone/>
            </a:pPr>
            <a:r>
              <a:rPr sz="4000" b="0" i="0">
                <a:solidFill>
                  <a:srgbClr val="8CC4EC"/>
                </a:solidFill>
                <a:latin typeface="Cambria"/>
              </a:rPr>
              <a:t>73.8%</a:t>
            </a:r>
          </a:p>
        </p:txBody>
      </p:sp>
      <p:sp>
        <p:nvSpPr>
          <p:cNvPr id="10" name="TextBox 9"/>
          <p:cNvSpPr txBox="1"/>
          <p:nvPr/>
        </p:nvSpPr>
        <p:spPr>
          <a:xfrm>
            <a:off x="3479800" y="4521200"/>
            <a:ext cx="2362200" cy="762000"/>
          </a:xfrm>
          <a:prstGeom prst="rect">
            <a:avLst/>
          </a:prstGeom>
          <a:noFill/>
        </p:spPr>
        <p:txBody>
          <a:bodyPr wrap="square" anchor="t" lIns="0" rIns="0" tIns="0" bIns="0">
            <a:spAutoFit/>
          </a:bodyPr>
          <a:lstStyle/>
          <a:p>
            <a:pPr algn="l">
              <a:buNone/>
            </a:pPr>
            <a:r>
              <a:rPr sz="1300" b="0" i="0">
                <a:solidFill>
                  <a:srgbClr val="C5D3E3"/>
                </a:solidFill>
                <a:latin typeface="Calibri"/>
              </a:rPr>
              <a:t>held-out accuracy of the published landform map, κ 0.58</a:t>
            </a:r>
          </a:p>
        </p:txBody>
      </p:sp>
      <p:sp>
        <p:nvSpPr>
          <p:cNvPr id="11" name="TextBox 10"/>
          <p:cNvSpPr txBox="1"/>
          <p:nvPr/>
        </p:nvSpPr>
        <p:spPr>
          <a:xfrm>
            <a:off x="6248400" y="3810000"/>
            <a:ext cx="2463800" cy="660400"/>
          </a:xfrm>
          <a:prstGeom prst="rect">
            <a:avLst/>
          </a:prstGeom>
          <a:noFill/>
        </p:spPr>
        <p:txBody>
          <a:bodyPr wrap="square" anchor="t" lIns="0" rIns="0" tIns="0" bIns="0">
            <a:spAutoFit/>
          </a:bodyPr>
          <a:lstStyle/>
          <a:p>
            <a:pPr algn="l">
              <a:buNone/>
            </a:pPr>
            <a:r>
              <a:rPr sz="4000" b="0" i="0">
                <a:solidFill>
                  <a:srgbClr val="8CC4EC"/>
                </a:solidFill>
                <a:latin typeface="Cambria"/>
              </a:rPr>
              <a:t>+1.36</a:t>
            </a:r>
          </a:p>
        </p:txBody>
      </p:sp>
      <p:sp>
        <p:nvSpPr>
          <p:cNvPr id="12" name="TextBox 11"/>
          <p:cNvSpPr txBox="1"/>
          <p:nvPr/>
        </p:nvSpPr>
        <p:spPr>
          <a:xfrm>
            <a:off x="6248400" y="4521200"/>
            <a:ext cx="2362200" cy="762000"/>
          </a:xfrm>
          <a:prstGeom prst="rect">
            <a:avLst/>
          </a:prstGeom>
          <a:noFill/>
        </p:spPr>
        <p:txBody>
          <a:bodyPr wrap="square" anchor="t" lIns="0" rIns="0" tIns="0" bIns="0">
            <a:spAutoFit/>
          </a:bodyPr>
          <a:lstStyle/>
          <a:p>
            <a:pPr algn="l">
              <a:buNone/>
            </a:pPr>
            <a:r>
              <a:rPr sz="1300" b="0" i="0">
                <a:solidFill>
                  <a:srgbClr val="C5D3E3"/>
                </a:solidFill>
                <a:latin typeface="Calibri"/>
              </a:rPr>
              <a:t>points of accuracy the thermal bands add, ArcGIS Pro's SVM at 200 m</a:t>
            </a:r>
          </a:p>
        </p:txBody>
      </p:sp>
      <p:sp>
        <p:nvSpPr>
          <p:cNvPr id="13" name="TextBox 12"/>
          <p:cNvSpPr txBox="1"/>
          <p:nvPr/>
        </p:nvSpPr>
        <p:spPr>
          <a:xfrm>
            <a:off x="9017000" y="3810000"/>
            <a:ext cx="2463800" cy="660400"/>
          </a:xfrm>
          <a:prstGeom prst="rect">
            <a:avLst/>
          </a:prstGeom>
          <a:noFill/>
        </p:spPr>
        <p:txBody>
          <a:bodyPr wrap="square" anchor="t" lIns="0" rIns="0" tIns="0" bIns="0">
            <a:spAutoFit/>
          </a:bodyPr>
          <a:lstStyle/>
          <a:p>
            <a:pPr algn="l">
              <a:buNone/>
            </a:pPr>
            <a:r>
              <a:rPr sz="4000" b="0" i="0">
                <a:solidFill>
                  <a:srgbClr val="8CC4EC"/>
                </a:solidFill>
                <a:latin typeface="Cambria"/>
              </a:rPr>
              <a:t>465,354</a:t>
            </a:r>
          </a:p>
        </p:txBody>
      </p:sp>
      <p:sp>
        <p:nvSpPr>
          <p:cNvPr id="14" name="TextBox 13"/>
          <p:cNvSpPr txBox="1"/>
          <p:nvPr/>
        </p:nvSpPr>
        <p:spPr>
          <a:xfrm>
            <a:off x="9017000" y="4521200"/>
            <a:ext cx="2362200" cy="762000"/>
          </a:xfrm>
          <a:prstGeom prst="rect">
            <a:avLst/>
          </a:prstGeom>
          <a:noFill/>
        </p:spPr>
        <p:txBody>
          <a:bodyPr wrap="square" anchor="t" lIns="0" rIns="0" tIns="0" bIns="0">
            <a:spAutoFit/>
          </a:bodyPr>
          <a:lstStyle/>
          <a:p>
            <a:pPr algn="l">
              <a:buNone/>
            </a:pPr>
            <a:r>
              <a:rPr sz="1300" b="0" i="0">
                <a:solidFill>
                  <a:srgbClr val="C5D3E3"/>
                </a:solidFill>
                <a:latin typeface="Calibri"/>
              </a:rPr>
              <a:t>closed depressions ≥ 1 km mapped across ±60°</a:t>
            </a:r>
          </a:p>
        </p:txBody>
      </p:sp>
      <p:sp>
        <p:nvSpPr>
          <p:cNvPr id="15" name="TextBox 14"/>
          <p:cNvSpPr txBox="1"/>
          <p:nvPr/>
        </p:nvSpPr>
        <p:spPr>
          <a:xfrm>
            <a:off x="6146800" y="6527800"/>
            <a:ext cx="5334000" cy="152400"/>
          </a:xfrm>
          <a:prstGeom prst="rect">
            <a:avLst/>
          </a:prstGeom>
          <a:noFill/>
        </p:spPr>
        <p:txBody>
          <a:bodyPr wrap="square" anchor="t" lIns="0" rIns="0" tIns="0" bIns="0">
            <a:spAutoFit/>
          </a:bodyPr>
          <a:lstStyle/>
          <a:p>
            <a:pPr algn="r">
              <a:buNone/>
            </a:pPr>
            <a:r>
              <a:rPr sz="900" b="0" i="1">
                <a:solidFill>
                  <a:srgbClr val="C5D3E3"/>
                </a:solidFill>
                <a:latin typeface="Calibri"/>
              </a:rPr>
              <a:t>Ius Chasma, 271–286°E: THEMIS night IR on this project's 100 m grid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THE DATA</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The analysis extent and the two type areas</a:t>
            </a:r>
          </a:p>
        </p:txBody>
      </p:sp>
      <p:pic>
        <p:nvPicPr>
          <p:cNvPr id="4" name="Picture 3" descr="The analysis extent and the two type areas"/>
          <p:cNvPicPr>
            <a:picLocks noChangeAspect="1"/>
          </p:cNvPicPr>
          <p:nvPr/>
        </p:nvPicPr>
        <p:blipFill>
          <a:blip r:embed="rId2"/>
          <a:stretch>
            <a:fillRect/>
          </a:stretch>
        </p:blipFill>
        <p:spPr>
          <a:xfrm>
            <a:off x="711200" y="1422400"/>
            <a:ext cx="10769600" cy="3602282"/>
          </a:xfrm>
          <a:prstGeom prst="rect">
            <a:avLst/>
          </a:prstGeom>
        </p:spPr>
      </p:pic>
      <p:pic>
        <p:nvPicPr>
          <p:cNvPr id="5" name="Picture 4" descr="The analysis extent and the two type areas"/>
          <p:cNvPicPr>
            <a:picLocks noChangeAspect="1"/>
          </p:cNvPicPr>
          <p:nvPr/>
        </p:nvPicPr>
        <p:blipFill>
          <a:blip r:embed="rId3"/>
          <a:stretch>
            <a:fillRect/>
          </a:stretch>
        </p:blipFill>
        <p:spPr>
          <a:xfrm>
            <a:off x="8788527" y="5177082"/>
            <a:ext cx="2692273" cy="1249117"/>
          </a:xfrm>
          <a:prstGeom prst="rect">
            <a:avLst/>
          </a:prstGeom>
        </p:spPr>
      </p:pic>
      <p:sp>
        <p:nvSpPr>
          <p:cNvPr id="6" name="TextBox 5"/>
          <p:cNvSpPr txBox="1"/>
          <p:nvPr/>
        </p:nvSpPr>
        <p:spPr>
          <a:xfrm>
            <a:off x="711200" y="5177082"/>
            <a:ext cx="7848727" cy="1249118"/>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The analysis covers ±60° latitude, 86.6% of the planet: the THEMIS night mosaic's coverage</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Two type areas: Ius Chasma (canyon and tributaries) and Athabasca Valles (flood lava)</a:t>
            </a:r>
          </a:p>
          <a:p>
            <a:pPr marL="200000" indent="-200000">
              <a:spcAft>
                <a:spcPts val="400"/>
              </a:spcAft>
              <a:buClr>
                <a:srgbClr val="8CC4EC"/>
              </a:buClr>
              <a:buSzPct val="110000"/>
              <a:buFont typeface="Arial" pitchFamily="34" charset="0"/>
              <a:buChar char="▪"/>
            </a:pPr>
            <a:r>
              <a:rPr sz="1400" b="0" i="0">
                <a:solidFill>
                  <a:srgbClr val="EAF0F7"/>
                </a:solidFill>
                <a:latin typeface="Calibri"/>
              </a:rPr>
              <a:t>Orange: the USGS geologic map's volcanic units, used as the lava-flow reference</a:t>
            </a:r>
          </a:p>
        </p:txBody>
      </p:sp>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THE DATA</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The mosaic at ±60°</a:t>
            </a:r>
          </a:p>
        </p:txBody>
      </p:sp>
      <p:pic>
        <p:nvPicPr>
          <p:cNvPr id="4" name="Picture 3" descr="The mosaic at ±60°"/>
          <p:cNvPicPr>
            <a:picLocks noChangeAspect="1"/>
          </p:cNvPicPr>
          <p:nvPr/>
        </p:nvPicPr>
        <p:blipFill>
          <a:blip r:embed="rId2"/>
          <a:stretch>
            <a:fillRect/>
          </a:stretch>
        </p:blipFill>
        <p:spPr>
          <a:xfrm>
            <a:off x="732378" y="1422400"/>
            <a:ext cx="10727244" cy="4165600"/>
          </a:xfrm>
          <a:prstGeom prst="rect">
            <a:avLst/>
          </a:prstGeom>
        </p:spPr>
      </p:pic>
      <p:sp>
        <p:nvSpPr>
          <p:cNvPr id="5" name="TextBox 4"/>
          <p:cNvSpPr txBox="1"/>
          <p:nvPr/>
        </p:nvSpPr>
        <p:spPr>
          <a:xfrm>
            <a:off x="711200" y="5740400"/>
            <a:ext cx="10769600" cy="6858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All four datasets on one 200 m grid</a:t>
            </a:r>
          </a:p>
          <a:p>
            <a:pPr marL="200000" indent="-200000">
              <a:spcAft>
                <a:spcPts val="400"/>
              </a:spcAft>
              <a:buClr>
                <a:srgbClr val="8CC4EC"/>
              </a:buClr>
              <a:buSzPct val="110000"/>
              <a:buFont typeface="Arial" pitchFamily="34" charset="0"/>
              <a:buChar char="▪"/>
            </a:pPr>
            <a:r>
              <a:rPr sz="1400" b="0" i="0">
                <a:solidFill>
                  <a:srgbClr val="EAF0F7"/>
                </a:solidFill>
                <a:latin typeface="Calibri"/>
              </a:rPr>
              <a:t>Composite Bands failed four times on the global rasters; projecting first and bounding the extent fixed it</a:t>
            </a:r>
          </a:p>
        </p:txBody>
      </p:sp>
      <p:sp>
        <p:nvSpPr>
          <p:cNvPr id="6" name="TextBox 5"/>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7" name="TextBox 6"/>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THE DATA</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Ius Chasma type area: visible and night IR</a:t>
            </a:r>
          </a:p>
        </p:txBody>
      </p:sp>
      <p:pic>
        <p:nvPicPr>
          <p:cNvPr id="4" name="Picture 3" descr="Ius Chasma type area: visible and night IR"/>
          <p:cNvPicPr>
            <a:picLocks noChangeAspect="1"/>
          </p:cNvPicPr>
          <p:nvPr/>
        </p:nvPicPr>
        <p:blipFill>
          <a:blip r:embed="rId2"/>
          <a:stretch>
            <a:fillRect/>
          </a:stretch>
        </p:blipFill>
        <p:spPr>
          <a:xfrm>
            <a:off x="711200" y="1422400"/>
            <a:ext cx="5283200" cy="2999207"/>
          </a:xfrm>
          <a:prstGeom prst="rect">
            <a:avLst/>
          </a:prstGeom>
        </p:spPr>
      </p:pic>
      <p:pic>
        <p:nvPicPr>
          <p:cNvPr id="5" name="Picture 4" descr="Ius Chasma type area: visible and night IR"/>
          <p:cNvPicPr>
            <a:picLocks noChangeAspect="1"/>
          </p:cNvPicPr>
          <p:nvPr/>
        </p:nvPicPr>
        <p:blipFill>
          <a:blip r:embed="rId3"/>
          <a:stretch>
            <a:fillRect/>
          </a:stretch>
        </p:blipFill>
        <p:spPr>
          <a:xfrm>
            <a:off x="6197600" y="1422400"/>
            <a:ext cx="5283200" cy="2999207"/>
          </a:xfrm>
          <a:prstGeom prst="rect">
            <a:avLst/>
          </a:prstGeom>
        </p:spPr>
      </p:pic>
      <p:sp>
        <p:nvSpPr>
          <p:cNvPr id="6" name="TextBox 5"/>
          <p:cNvSpPr txBox="1"/>
          <p:nvPr/>
        </p:nvSpPr>
        <p:spPr>
          <a:xfrm>
            <a:off x="711200" y="4574007"/>
            <a:ext cx="10769600" cy="1852193"/>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Left, Viking visible colour; right, THEMIS night IR. 271–286°E, 6–13°S: canyon walls, plateau, Louros Valles</a:t>
            </a:r>
          </a:p>
          <a:p>
            <a:pPr marL="200000" indent="-200000">
              <a:spcAft>
                <a:spcPts val="400"/>
              </a:spcAft>
              <a:buClr>
                <a:srgbClr val="8CC4EC"/>
              </a:buClr>
              <a:buSzPct val="110000"/>
              <a:buFont typeface="Arial" pitchFamily="34" charset="0"/>
              <a:buChar char="▪"/>
            </a:pPr>
            <a:r>
              <a:rPr sz="1400" b="0" i="0">
                <a:solidFill>
                  <a:srgbClr val="EAF0F7"/>
                </a:solidFill>
                <a:latin typeface="Calibri"/>
              </a:rPr>
              <a:t>Same 100 m grid, every pixel valid in all five bands</a:t>
            </a:r>
          </a:p>
          <a:p>
            <a:pPr marL="200000" indent="-200000">
              <a:spcAft>
                <a:spcPts val="400"/>
              </a:spcAft>
              <a:buClr>
                <a:srgbClr val="8CC4EC"/>
              </a:buClr>
              <a:buSzPct val="110000"/>
              <a:buFont typeface="Arial" pitchFamily="34" charset="0"/>
              <a:buChar char="▪"/>
            </a:pPr>
            <a:r>
              <a:rPr sz="1400" b="0" i="0">
                <a:solidFill>
                  <a:srgbClr val="EAF0F7"/>
                </a:solidFill>
                <a:latin typeface="Calibri"/>
              </a:rPr>
              <a:t>Night IR barely correlates with any other band (|r| ≤ 0.12), so it adds information the others lack</a:t>
            </a:r>
          </a:p>
        </p:txBody>
      </p:sp>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THERMAL SIGNAL</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Can the thermal pair map material across ±60°?</a:t>
            </a:r>
          </a:p>
        </p:txBody>
      </p:sp>
      <p:pic>
        <p:nvPicPr>
          <p:cNvPr id="4" name="Picture 3" descr="Can the thermal pair map material across ±60°?"/>
          <p:cNvPicPr>
            <a:picLocks noChangeAspect="1"/>
          </p:cNvPicPr>
          <p:nvPr/>
        </p:nvPicPr>
        <p:blipFill>
          <a:blip r:embed="rId2"/>
          <a:stretch>
            <a:fillRect/>
          </a:stretch>
        </p:blipFill>
        <p:spPr>
          <a:xfrm>
            <a:off x="1774112" y="1422400"/>
            <a:ext cx="8643775" cy="3683000"/>
          </a:xfrm>
          <a:prstGeom prst="rect">
            <a:avLst/>
          </a:prstGeom>
        </p:spPr>
      </p:pic>
      <p:sp>
        <p:nvSpPr>
          <p:cNvPr id="5" name="TextBox 4"/>
          <p:cNvSpPr txBox="1"/>
          <p:nvPr/>
        </p:nvSpPr>
        <p:spPr>
          <a:xfrm>
            <a:off x="711200" y="5257800"/>
            <a:ext cx="10769600" cy="11684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Viking red separates the dusty provinces from the rocky ones by 47.67 DN</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THEMIS day and night IR separate them by −0.19 and +0.02 DN; the index, over seven provinces, by −0.0009</a:t>
            </a:r>
          </a:p>
          <a:p>
            <a:pPr marL="200000" indent="-200000">
              <a:spcAft>
                <a:spcPts val="400"/>
              </a:spcAft>
              <a:buClr>
                <a:srgbClr val="8CC4EC"/>
              </a:buClr>
              <a:buSzPct val="110000"/>
              <a:buFont typeface="Arial" pitchFamily="34" charset="0"/>
              <a:buChar char="▪"/>
            </a:pPr>
            <a:r>
              <a:rPr sz="1400" b="0" i="0">
                <a:solidFill>
                  <a:srgbClr val="EAF0F7"/>
                </a:solidFill>
                <a:latin typeface="Calibri"/>
              </a:rPr>
              <a:t>Every province repeats the whole mosaic's mean and spread, because both THEMIS mosaics were stretched region by region</a:t>
            </a:r>
          </a:p>
          <a:p>
            <a:pPr marL="200000" indent="-200000">
              <a:spcAft>
                <a:spcPts val="400"/>
              </a:spcAft>
              <a:buClr>
                <a:srgbClr val="8CC4EC"/>
              </a:buClr>
              <a:buSzPct val="110000"/>
              <a:buFont typeface="Arial" pitchFamily="34" charset="0"/>
              <a:buChar char="▪"/>
            </a:pPr>
            <a:r>
              <a:rPr sz="1400" b="0" i="0">
                <a:solidFill>
                  <a:srgbClr val="EAF0F7"/>
                </a:solidFill>
                <a:latin typeface="Calibri"/>
              </a:rPr>
              <a:t>Across the planet, the material signal is in visible albedo</a:t>
            </a:r>
          </a:p>
        </p:txBody>
      </p:sp>
      <p:sp>
        <p:nvSpPr>
          <p:cNvPr id="6" name="TextBox 5"/>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7" name="TextBox 6"/>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THERMAL SIGNAL</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Checked against calibrated thermal inertia (TES)</a:t>
            </a:r>
          </a:p>
        </p:txBody>
      </p:sp>
      <p:pic>
        <p:nvPicPr>
          <p:cNvPr id="4" name="Picture 3" descr="Checked against calibrated thermal inertia (TES)"/>
          <p:cNvPicPr>
            <a:picLocks noChangeAspect="1"/>
          </p:cNvPicPr>
          <p:nvPr/>
        </p:nvPicPr>
        <p:blipFill>
          <a:blip r:embed="rId2"/>
          <a:stretch>
            <a:fillRect/>
          </a:stretch>
        </p:blipFill>
        <p:spPr>
          <a:xfrm>
            <a:off x="1910773" y="1422400"/>
            <a:ext cx="8370454" cy="3683000"/>
          </a:xfrm>
          <a:prstGeom prst="rect">
            <a:avLst/>
          </a:prstGeom>
        </p:spPr>
      </p:pic>
      <p:sp>
        <p:nvSpPr>
          <p:cNvPr id="5" name="TextBox 4"/>
          <p:cNvSpPr txBox="1"/>
          <p:nvPr/>
        </p:nvSpPr>
        <p:spPr>
          <a:xfrm>
            <a:off x="711200" y="5257800"/>
            <a:ext cx="10769600" cy="11684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Viking albedo follows calibrated thermal inertia across the planet (r −0.36)</a:t>
            </a:r>
          </a:p>
          <a:p>
            <a:pPr marL="200000" indent="-200000">
              <a:spcAft>
                <a:spcPts val="400"/>
              </a:spcAft>
              <a:buClr>
                <a:srgbClr val="8CC4EC"/>
              </a:buClr>
              <a:buSzPct val="110000"/>
              <a:buFont typeface="Arial" pitchFamily="34" charset="0"/>
              <a:buChar char="▪"/>
            </a:pPr>
            <a:r>
              <a:rPr sz="1400" b="0" i="0">
                <a:solidFill>
                  <a:srgbClr val="EAF0F7"/>
                </a:solidFill>
                <a:latin typeface="Calibri"/>
              </a:rPr>
              <a:t>Night IR and the diurnal-contrast index follow it weakly, and only inside regions (|r| ≈ 0.1)</a:t>
            </a:r>
          </a:p>
          <a:p>
            <a:pPr marL="200000" indent="-200000">
              <a:spcAft>
                <a:spcPts val="400"/>
              </a:spcAft>
              <a:buClr>
                <a:srgbClr val="8CC4EC"/>
              </a:buClr>
              <a:buSzPct val="110000"/>
              <a:buFont typeface="Arial" pitchFamily="34" charset="0"/>
              <a:buChar char="▪"/>
            </a:pPr>
            <a:r>
              <a:rPr sz="1400" b="0" i="0">
                <a:solidFill>
                  <a:srgbClr val="EAF0F7"/>
                </a:solidFill>
                <a:latin typeface="Calibri"/>
              </a:rPr>
              <a:t>Day IR does not follow it, and across the planet neither THEMIS mosaic does</a:t>
            </a:r>
          </a:p>
          <a:p>
            <a:pPr marL="200000" indent="-200000">
              <a:spcAft>
                <a:spcPts val="400"/>
              </a:spcAft>
              <a:buClr>
                <a:srgbClr val="8CC4EC"/>
              </a:buClr>
              <a:buSzPct val="110000"/>
              <a:buFont typeface="Arial" pitchFamily="34" charset="0"/>
              <a:buChar char="▪"/>
            </a:pPr>
            <a:r>
              <a:rPr sz="1400" b="0" i="0">
                <a:solidFill>
                  <a:srgbClr val="EAF0F7"/>
                </a:solidFill>
                <a:latin typeface="Calibri"/>
              </a:rPr>
              <a:t>At TES's ~3 km cells the material signal is in visible albedo; thermal IR adds little</a:t>
            </a:r>
          </a:p>
        </p:txBody>
      </p:sp>
      <p:sp>
        <p:nvSpPr>
          <p:cNvPr id="6" name="TextBox 5"/>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7" name="TextBox 6"/>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CRATERS</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Craters at ±60°: closed depressions ≥ 20 km</a:t>
            </a:r>
          </a:p>
        </p:txBody>
      </p:sp>
      <p:pic>
        <p:nvPicPr>
          <p:cNvPr id="4" name="Picture 3" descr="Craters at ±60°: closed depressions ≥ 20 km"/>
          <p:cNvPicPr>
            <a:picLocks noChangeAspect="1"/>
          </p:cNvPicPr>
          <p:nvPr/>
        </p:nvPicPr>
        <p:blipFill>
          <a:blip r:embed="rId2"/>
          <a:stretch>
            <a:fillRect/>
          </a:stretch>
        </p:blipFill>
        <p:spPr>
          <a:xfrm>
            <a:off x="1729601" y="1422400"/>
            <a:ext cx="8732797" cy="2921000"/>
          </a:xfrm>
          <a:prstGeom prst="rect">
            <a:avLst/>
          </a:prstGeom>
        </p:spPr>
      </p:pic>
      <p:pic>
        <p:nvPicPr>
          <p:cNvPr id="5" name="Picture 4" descr="Craters at ±60°: closed depressions ≥ 20 km"/>
          <p:cNvPicPr>
            <a:picLocks noChangeAspect="1"/>
          </p:cNvPicPr>
          <p:nvPr/>
        </p:nvPicPr>
        <p:blipFill>
          <a:blip r:embed="rId3"/>
          <a:stretch>
            <a:fillRect/>
          </a:stretch>
        </p:blipFill>
        <p:spPr>
          <a:xfrm>
            <a:off x="9600541" y="4495800"/>
            <a:ext cx="1880259" cy="1930399"/>
          </a:xfrm>
          <a:prstGeom prst="rect">
            <a:avLst/>
          </a:prstGeom>
        </p:spPr>
      </p:pic>
      <p:sp>
        <p:nvSpPr>
          <p:cNvPr id="6" name="TextBox 5"/>
          <p:cNvSpPr txBox="1"/>
          <p:nvPr/>
        </p:nvSpPr>
        <p:spPr>
          <a:xfrm>
            <a:off x="711200" y="4495800"/>
            <a:ext cx="8660741" cy="19304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5,144 basins found by fill depth in 48 s</a:t>
            </a:r>
          </a:p>
          <a:p>
            <a:pPr marL="200000" indent="-200000">
              <a:spcAft>
                <a:spcPts val="400"/>
              </a:spcAft>
              <a:buClr>
                <a:srgbClr val="8CC4EC"/>
              </a:buClr>
              <a:buSzPct val="110000"/>
              <a:buFont typeface="Arial" pitchFamily="34" charset="0"/>
              <a:buChar char="▪"/>
            </a:pPr>
            <a:r>
              <a:rPr sz="1400" b="0" i="0">
                <a:solidFill>
                  <a:srgbClr val="EAF0F7"/>
                </a:solidFill>
                <a:latin typeface="Calibri"/>
              </a:rPr>
              <a:t>68% of 117 IAU craters ≥ 100 km recovered, diameter within ±50%</a:t>
            </a:r>
          </a:p>
          <a:p>
            <a:pPr marL="200000" indent="-200000">
              <a:spcAft>
                <a:spcPts val="400"/>
              </a:spcAft>
              <a:buClr>
                <a:srgbClr val="8CC4EC"/>
              </a:buClr>
              <a:buSzPct val="110000"/>
              <a:buFont typeface="Arial" pitchFamily="34" charset="0"/>
              <a:buChar char="▪"/>
            </a:pPr>
            <a:r>
              <a:rPr sz="1400" b="0" i="0">
                <a:solidFill>
                  <a:srgbClr val="EAF0F7"/>
                </a:solidFill>
                <a:latin typeface="Calibri"/>
              </a:rPr>
              <a:t>Median diameter error +2.2%</a:t>
            </a:r>
          </a:p>
          <a:p>
            <a:pPr marL="200000" indent="-200000">
              <a:spcAft>
                <a:spcPts val="400"/>
              </a:spcAft>
              <a:buClr>
                <a:srgbClr val="8CC4EC"/>
              </a:buClr>
              <a:buSzPct val="110000"/>
              <a:buFont typeface="Arial" pitchFamily="34" charset="0"/>
              <a:buChar char="▪"/>
            </a:pPr>
            <a:r>
              <a:rPr sz="1400" b="0" i="0">
                <a:solidFill>
                  <a:srgbClr val="EAF0F7"/>
                </a:solidFill>
                <a:latin typeface="Calibri"/>
              </a:rPr>
              <a:t>Breached craters are missed by design: they do not close</a:t>
            </a:r>
          </a:p>
        </p:txBody>
      </p:sp>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CRATERS</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Closed depressions ≥ 1 km across ±60°</a:t>
            </a:r>
          </a:p>
        </p:txBody>
      </p:sp>
      <p:pic>
        <p:nvPicPr>
          <p:cNvPr id="4" name="Picture 3" descr="Closed depressions ≥ 1 km across ±60°"/>
          <p:cNvPicPr>
            <a:picLocks noChangeAspect="1"/>
          </p:cNvPicPr>
          <p:nvPr/>
        </p:nvPicPr>
        <p:blipFill>
          <a:blip r:embed="rId2"/>
          <a:stretch>
            <a:fillRect/>
          </a:stretch>
        </p:blipFill>
        <p:spPr>
          <a:xfrm>
            <a:off x="711200" y="1422400"/>
            <a:ext cx="6562291" cy="4826000"/>
          </a:xfrm>
          <a:prstGeom prst="rect">
            <a:avLst/>
          </a:prstGeom>
        </p:spPr>
      </p:pic>
      <p:sp>
        <p:nvSpPr>
          <p:cNvPr id="5" name="TextBox 4"/>
          <p:cNvSpPr txBox="1"/>
          <p:nvPr/>
        </p:nvSpPr>
        <p:spPr>
          <a:xfrm>
            <a:off x="7578291" y="1422400"/>
            <a:ext cx="3902509" cy="2717800"/>
          </a:xfrm>
          <a:prstGeom prst="rect">
            <a:avLst/>
          </a:prstGeom>
          <a:noFill/>
        </p:spPr>
        <p:txBody>
          <a:bodyPr wrap="square" anchor="t" lIns="0" rIns="0" tIns="0" bIns="0">
            <a:spAutoFit/>
          </a:bodyPr>
          <a:lstStyle/>
          <a:p>
            <a:pPr marL="200000" indent="-200000">
              <a:spcAft>
                <a:spcPts val="600"/>
              </a:spcAft>
              <a:buClr>
                <a:srgbClr val="8CC4EC"/>
              </a:buClr>
              <a:buSzPct val="110000"/>
              <a:buFont typeface="Arial" pitchFamily="34" charset="0"/>
              <a:buChar char="▪"/>
            </a:pPr>
            <a:r>
              <a:rPr sz="1400" b="0" i="0">
                <a:solidFill>
                  <a:srgbClr val="EAF0F7"/>
                </a:solidFill>
                <a:latin typeface="Calibri"/>
              </a:rPr>
              <a:t>465,354 closed depressions ≥ 1 km, from an 11-hour run</a:t>
            </a:r>
          </a:p>
          <a:p>
            <a:pPr marL="200000" indent="-200000">
              <a:spcAft>
                <a:spcPts val="600"/>
              </a:spcAft>
              <a:buClr>
                <a:srgbClr val="8CC4EC"/>
              </a:buClr>
              <a:buSzPct val="110000"/>
              <a:buFont typeface="Arial" pitchFamily="34" charset="0"/>
              <a:buChar char="▪"/>
            </a:pPr>
            <a:r>
              <a:rPr sz="1400" b="0" i="0">
                <a:solidFill>
                  <a:srgbClr val="EAF0F7"/>
                </a:solidFill>
                <a:latin typeface="Calibri"/>
              </a:rPr>
              <a:t>Against Robbins: 15.3% are catalogued craters at ≥ 1 km, 62.2% at ≥ 5 km, 83.1% at ≥ 20 km</a:t>
            </a:r>
          </a:p>
          <a:p>
            <a:pPr marL="200000" indent="-200000">
              <a:spcAft>
                <a:spcPts val="600"/>
              </a:spcAft>
              <a:buClr>
                <a:srgbClr val="8CC4EC"/>
              </a:buClr>
              <a:buSzPct val="110000"/>
              <a:buFont typeface="Arial" pitchFamily="34" charset="0"/>
              <a:buChar char="▪"/>
            </a:pPr>
            <a:r>
              <a:rPr sz="1400" b="0" i="0">
                <a:solidFill>
                  <a:srgbClr val="EAF0F7"/>
                </a:solidFill>
                <a:latin typeface="Calibri"/>
              </a:rPr>
              <a:t>Their density barely follows the catalogued craters (r −0.11); below ~5 km it follows the DEM's sharpness</a:t>
            </a:r>
          </a:p>
          <a:p>
            <a:pPr marL="200000" indent="-200000">
              <a:spcAft>
                <a:spcPts val="600"/>
              </a:spcAft>
              <a:buClr>
                <a:srgbClr val="8CC4EC"/>
              </a:buClr>
              <a:buSzPct val="110000"/>
              <a:buFont typeface="Arial" pitchFamily="34" charset="0"/>
              <a:buChar char="▪"/>
            </a:pPr>
            <a:r>
              <a:rPr sz="1400" b="0" i="0">
                <a:solidFill>
                  <a:srgbClr val="EAF0F7"/>
                </a:solidFill>
                <a:latin typeface="Calibri"/>
              </a:rPr>
              <a:t>Good for large craters and as prompts for review; for crater counts, Robbins is the reference</a:t>
            </a:r>
          </a:p>
        </p:txBody>
      </p:sp>
      <p:pic>
        <p:nvPicPr>
          <p:cNvPr id="6" name="Picture 5" descr="Closed depressions ≥ 1 km across ±60°"/>
          <p:cNvPicPr>
            <a:picLocks noChangeAspect="1"/>
          </p:cNvPicPr>
          <p:nvPr/>
        </p:nvPicPr>
        <p:blipFill>
          <a:blip r:embed="rId3"/>
          <a:stretch>
            <a:fillRect/>
          </a:stretch>
        </p:blipFill>
        <p:spPr>
          <a:xfrm>
            <a:off x="7578291" y="4241800"/>
            <a:ext cx="2344553" cy="2006599"/>
          </a:xfrm>
          <a:prstGeom prst="rect">
            <a:avLst/>
          </a:prstGeom>
        </p:spPr>
      </p:pic>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CHANNELS</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Channels across ±60°</a:t>
            </a:r>
          </a:p>
        </p:txBody>
      </p:sp>
      <p:pic>
        <p:nvPicPr>
          <p:cNvPr id="4" name="Picture 3" descr="Channels across ±60°"/>
          <p:cNvPicPr>
            <a:picLocks noChangeAspect="1"/>
          </p:cNvPicPr>
          <p:nvPr/>
        </p:nvPicPr>
        <p:blipFill>
          <a:blip r:embed="rId2"/>
          <a:stretch>
            <a:fillRect/>
          </a:stretch>
        </p:blipFill>
        <p:spPr>
          <a:xfrm>
            <a:off x="711200" y="1422400"/>
            <a:ext cx="10769600" cy="3602282"/>
          </a:xfrm>
          <a:prstGeom prst="rect">
            <a:avLst/>
          </a:prstGeom>
        </p:spPr>
      </p:pic>
      <p:pic>
        <p:nvPicPr>
          <p:cNvPr id="5" name="Picture 4" descr="Channels across ±60°"/>
          <p:cNvPicPr>
            <a:picLocks noChangeAspect="1"/>
          </p:cNvPicPr>
          <p:nvPr/>
        </p:nvPicPr>
        <p:blipFill>
          <a:blip r:embed="rId3"/>
          <a:stretch>
            <a:fillRect/>
          </a:stretch>
        </p:blipFill>
        <p:spPr>
          <a:xfrm>
            <a:off x="7670800" y="5177082"/>
            <a:ext cx="3810000" cy="289367"/>
          </a:xfrm>
          <a:prstGeom prst="rect">
            <a:avLst/>
          </a:prstGeom>
        </p:spPr>
      </p:pic>
      <p:sp>
        <p:nvSpPr>
          <p:cNvPr id="6" name="TextBox 5"/>
          <p:cNvSpPr txBox="1"/>
          <p:nvPr/>
        </p:nvSpPr>
        <p:spPr>
          <a:xfrm>
            <a:off x="711200" y="5177082"/>
            <a:ext cx="6731000" cy="1249118"/>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969,822 routed channel segments; orders 3–5 drawn</a:t>
            </a:r>
          </a:p>
          <a:p>
            <a:pPr marL="200000" indent="-200000">
              <a:spcAft>
                <a:spcPts val="400"/>
              </a:spcAft>
              <a:buClr>
                <a:srgbClr val="8CC4EC"/>
              </a:buClr>
              <a:buSzPct val="110000"/>
              <a:buFont typeface="Arial" pitchFamily="34" charset="0"/>
              <a:buChar char="▪"/>
            </a:pPr>
            <a:r>
              <a:rPr sz="1400" b="0" i="0">
                <a:solidFill>
                  <a:srgbClr val="EAF0F7"/>
                </a:solidFill>
                <a:latin typeface="Calibri"/>
              </a:rPr>
              <a:t>60.5% of stream cells discarded as fill artefact (Ius alone: 56%)</a:t>
            </a:r>
          </a:p>
          <a:p>
            <a:pPr marL="200000" indent="-200000">
              <a:spcAft>
                <a:spcPts val="400"/>
              </a:spcAft>
              <a:buClr>
                <a:srgbClr val="8CC4EC"/>
              </a:buClr>
              <a:buSzPct val="110000"/>
              <a:buFont typeface="Arial" pitchFamily="34" charset="0"/>
              <a:buChar char="▪"/>
            </a:pPr>
            <a:r>
              <a:rPr sz="1400" b="0" i="0">
                <a:solidFill>
                  <a:srgbClr val="EAF0F7"/>
                </a:solidFill>
                <a:latin typeface="Calibri"/>
              </a:rPr>
              <a:t>89.8% lie on ground under 2°, so the plateau channels are DEM noise</a:t>
            </a:r>
          </a:p>
          <a:p>
            <a:pPr marL="200000" indent="-200000">
              <a:spcAft>
                <a:spcPts val="400"/>
              </a:spcAft>
              <a:buClr>
                <a:srgbClr val="8CC4EC"/>
              </a:buClr>
              <a:buSzPct val="110000"/>
              <a:buFont typeface="Arial" pitchFamily="34" charset="0"/>
              <a:buChar char="▪"/>
            </a:pPr>
            <a:r>
              <a:rPr sz="1400" b="0" i="0">
                <a:solidFill>
                  <a:srgbClr val="EAF0F7"/>
                </a:solidFill>
                <a:latin typeface="Calibri"/>
              </a:rPr>
              <a:t>No channel reference exists at ±60°, so the network is not scored</a:t>
            </a:r>
          </a:p>
        </p:txBody>
      </p:sp>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TYPE AREAS</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Ius Chasma: candidates to digitise</a:t>
            </a:r>
          </a:p>
        </p:txBody>
      </p:sp>
      <p:pic>
        <p:nvPicPr>
          <p:cNvPr id="4" name="Picture 3" descr="Ius Chasma: candidates to digitise"/>
          <p:cNvPicPr>
            <a:picLocks noChangeAspect="1"/>
          </p:cNvPicPr>
          <p:nvPr/>
        </p:nvPicPr>
        <p:blipFill>
          <a:blip r:embed="rId2"/>
          <a:stretch>
            <a:fillRect/>
          </a:stretch>
        </p:blipFill>
        <p:spPr>
          <a:xfrm>
            <a:off x="2852139" y="1422400"/>
            <a:ext cx="6487721" cy="3683000"/>
          </a:xfrm>
          <a:prstGeom prst="rect">
            <a:avLst/>
          </a:prstGeom>
        </p:spPr>
      </p:pic>
      <p:pic>
        <p:nvPicPr>
          <p:cNvPr id="5" name="Picture 4" descr="Ius Chasma: candidates to digitise"/>
          <p:cNvPicPr>
            <a:picLocks noChangeAspect="1"/>
          </p:cNvPicPr>
          <p:nvPr/>
        </p:nvPicPr>
        <p:blipFill>
          <a:blip r:embed="rId3"/>
          <a:stretch>
            <a:fillRect/>
          </a:stretch>
        </p:blipFill>
        <p:spPr>
          <a:xfrm>
            <a:off x="7670800" y="5257800"/>
            <a:ext cx="3810000" cy="536197"/>
          </a:xfrm>
          <a:prstGeom prst="rect">
            <a:avLst/>
          </a:prstGeom>
        </p:spPr>
      </p:pic>
      <p:sp>
        <p:nvSpPr>
          <p:cNvPr id="6" name="TextBox 5"/>
          <p:cNvSpPr txBox="1"/>
          <p:nvPr/>
        </p:nvSpPr>
        <p:spPr>
          <a:xfrm>
            <a:off x="711200" y="5257800"/>
            <a:ext cx="6731000" cy="11684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Fill raised the canyon floor 2,077 m; 56% of the first channel network was artefact</a:t>
            </a:r>
          </a:p>
          <a:p>
            <a:pPr marL="200000" indent="-200000">
              <a:spcAft>
                <a:spcPts val="400"/>
              </a:spcAft>
              <a:buClr>
                <a:srgbClr val="8CC4EC"/>
              </a:buClr>
              <a:buSzPct val="110000"/>
              <a:buFont typeface="Arial" pitchFamily="34" charset="0"/>
              <a:buChar char="▪"/>
            </a:pPr>
            <a:r>
              <a:rPr sz="1400" b="0" i="0">
                <a:solidFill>
                  <a:srgbClr val="EAF0F7"/>
                </a:solidFill>
                <a:latin typeface="Calibri"/>
              </a:rPr>
              <a:t>188 channel candidates are steep and rock-floored; the review starts with them</a:t>
            </a:r>
          </a:p>
          <a:p>
            <a:pPr marL="200000" indent="-200000">
              <a:spcAft>
                <a:spcPts val="400"/>
              </a:spcAft>
              <a:buClr>
                <a:srgbClr val="8CC4EC"/>
              </a:buClr>
              <a:buSzPct val="110000"/>
              <a:buFont typeface="Arial" pitchFamily="34" charset="0"/>
              <a:buChar char="▪"/>
            </a:pPr>
            <a:r>
              <a:rPr sz="1400" b="0" i="0">
                <a:solidFill>
                  <a:srgbClr val="EAF0F7"/>
                </a:solidFill>
                <a:latin typeface="Calibri"/>
              </a:rPr>
              <a:t>Only 11% of the 1,685 closed depressions ≥ 1 km match a Robbins crater, so they are prompts for review</a:t>
            </a:r>
          </a:p>
        </p:txBody>
      </p:sp>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TYPE AREAS</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Athabasca Valles: the second type area</a:t>
            </a:r>
          </a:p>
        </p:txBody>
      </p:sp>
      <p:pic>
        <p:nvPicPr>
          <p:cNvPr id="4" name="Picture 3" descr="Athabasca Valles: the second type area"/>
          <p:cNvPicPr>
            <a:picLocks noChangeAspect="1"/>
          </p:cNvPicPr>
          <p:nvPr/>
        </p:nvPicPr>
        <p:blipFill>
          <a:blip r:embed="rId2"/>
          <a:stretch>
            <a:fillRect/>
          </a:stretch>
        </p:blipFill>
        <p:spPr>
          <a:xfrm>
            <a:off x="2946066" y="1422400"/>
            <a:ext cx="6299868" cy="3683000"/>
          </a:xfrm>
          <a:prstGeom prst="rect">
            <a:avLst/>
          </a:prstGeom>
        </p:spPr>
      </p:pic>
      <p:pic>
        <p:nvPicPr>
          <p:cNvPr id="5" name="Picture 4" descr="Athabasca Valles: the second type area"/>
          <p:cNvPicPr>
            <a:picLocks noChangeAspect="1"/>
          </p:cNvPicPr>
          <p:nvPr/>
        </p:nvPicPr>
        <p:blipFill>
          <a:blip r:embed="rId3"/>
          <a:stretch>
            <a:fillRect/>
          </a:stretch>
        </p:blipFill>
        <p:spPr>
          <a:xfrm>
            <a:off x="9977120" y="5257800"/>
            <a:ext cx="1503680" cy="1168400"/>
          </a:xfrm>
          <a:prstGeom prst="rect">
            <a:avLst/>
          </a:prstGeom>
        </p:spPr>
      </p:pic>
      <p:sp>
        <p:nvSpPr>
          <p:cNvPr id="6" name="TextBox 5"/>
          <p:cNvSpPr txBox="1"/>
          <p:nvPr/>
        </p:nvSpPr>
        <p:spPr>
          <a:xfrm>
            <a:off x="711200" y="5257800"/>
            <a:ext cx="9037320" cy="11684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Flood lava once mapped as a water channel; the USGS map calls it Late Amazonian volcanic (lAv)</a:t>
            </a:r>
          </a:p>
          <a:p>
            <a:pPr marL="200000" indent="-200000">
              <a:spcAft>
                <a:spcPts val="400"/>
              </a:spcAft>
              <a:buClr>
                <a:srgbClr val="8CC4EC"/>
              </a:buClr>
              <a:buSzPct val="110000"/>
              <a:buFont typeface="Arial" pitchFamily="34" charset="0"/>
              <a:buChar char="▪"/>
            </a:pPr>
            <a:r>
              <a:rPr sz="1400" b="0" i="0">
                <a:solidFill>
                  <a:srgbClr val="EAF0F7"/>
                </a:solidFill>
                <a:latin typeface="Calibri"/>
              </a:rPr>
              <a:t>Built the same way as Ius: 3,283 channel candidates, 409 of them rock-floored</a:t>
            </a:r>
          </a:p>
          <a:p>
            <a:pPr marL="200000" indent="-200000">
              <a:spcAft>
                <a:spcPts val="400"/>
              </a:spcAft>
              <a:buClr>
                <a:srgbClr val="8CC4EC"/>
              </a:buClr>
              <a:buSzPct val="110000"/>
              <a:buFont typeface="Arial" pitchFamily="34" charset="0"/>
              <a:buChar char="▪"/>
            </a:pPr>
            <a:r>
              <a:rPr sz="1400" b="0" i="0">
                <a:solidFill>
                  <a:srgbClr val="EAF0F7"/>
                </a:solidFill>
                <a:latin typeface="Calibri"/>
              </a:rPr>
              <a:t>Catalogued craters: 1,122 per million km² on lAv, against 1,760 and 2,183 on the older units</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The diurnal-contrast index does not track calibrated TES inertia here (r ≈ 0); Viking albedo does (−0.55)</a:t>
            </a:r>
          </a:p>
        </p:txBody>
      </p:sp>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CLASSIFICATION</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Checking the first two classifications</a:t>
            </a:r>
          </a:p>
        </p:txBody>
      </p:sp>
      <p:pic>
        <p:nvPicPr>
          <p:cNvPr id="4" name="Picture 3" descr="Checking the first two classifications"/>
          <p:cNvPicPr>
            <a:picLocks noChangeAspect="1"/>
          </p:cNvPicPr>
          <p:nvPr/>
        </p:nvPicPr>
        <p:blipFill>
          <a:blip r:embed="rId2"/>
          <a:stretch>
            <a:fillRect/>
          </a:stretch>
        </p:blipFill>
        <p:spPr>
          <a:xfrm>
            <a:off x="711200" y="1422400"/>
            <a:ext cx="6346761" cy="4826000"/>
          </a:xfrm>
          <a:prstGeom prst="rect">
            <a:avLst/>
          </a:prstGeom>
        </p:spPr>
      </p:pic>
      <p:sp>
        <p:nvSpPr>
          <p:cNvPr id="5" name="TextBox 4"/>
          <p:cNvSpPr txBox="1"/>
          <p:nvPr/>
        </p:nvSpPr>
        <p:spPr>
          <a:xfrm>
            <a:off x="7362761" y="1422400"/>
            <a:ext cx="4118039" cy="2235200"/>
          </a:xfrm>
          <a:prstGeom prst="rect">
            <a:avLst/>
          </a:prstGeom>
          <a:noFill/>
        </p:spPr>
        <p:txBody>
          <a:bodyPr wrap="square" anchor="t" lIns="0" rIns="0" tIns="0" bIns="0">
            <a:spAutoFit/>
          </a:bodyPr>
          <a:lstStyle/>
          <a:p>
            <a:pPr marL="200000" indent="-200000">
              <a:spcAft>
                <a:spcPts val="600"/>
              </a:spcAft>
              <a:buClr>
                <a:srgbClr val="8CC4EC"/>
              </a:buClr>
              <a:buSzPct val="110000"/>
              <a:buFont typeface="Arial" pitchFamily="34" charset="0"/>
              <a:buChar char="▪"/>
            </a:pPr>
            <a:r>
              <a:rPr sz="1400" b="0" i="0">
                <a:solidFill>
                  <a:srgbClr val="EAF0F7"/>
                </a:solidFill>
                <a:latin typeface="Calibri"/>
              </a:rPr>
              <a:t>The 29 Sep map follows its 4096-px processing tiles instead of the terrain</a:t>
            </a:r>
          </a:p>
          <a:p>
            <a:pPr marL="200000" indent="-200000">
              <a:spcAft>
                <a:spcPts val="600"/>
              </a:spcAft>
              <a:buClr>
                <a:srgbClr val="8CC4EC"/>
              </a:buClr>
              <a:buSzPct val="110000"/>
              <a:buFont typeface="Arial" pitchFamily="34" charset="0"/>
              <a:buChar char="▪"/>
            </a:pPr>
            <a:r>
              <a:rPr sz="1400" b="0" i="0">
                <a:solidFill>
                  <a:srgbClr val="EAF0F7"/>
                </a:solidFill>
                <a:latin typeface="Calibri"/>
              </a:rPr>
              <a:t>The 30 Sep map is mostly elevation: elevation alone reproduces 62% of it</a:t>
            </a:r>
          </a:p>
          <a:p>
            <a:pPr marL="200000" indent="-200000">
              <a:spcAft>
                <a:spcPts val="600"/>
              </a:spcAft>
              <a:buClr>
                <a:srgbClr val="8CC4EC"/>
              </a:buClr>
              <a:buSzPct val="110000"/>
              <a:buFont typeface="Arial" pitchFamily="34" charset="0"/>
              <a:buChar char="▪"/>
            </a:pPr>
            <a:r>
              <a:rPr sz="1400" b="0" i="0">
                <a:solidFill>
                  <a:srgbClr val="EAF0F7"/>
                </a:solidFill>
                <a:latin typeface="Calibri"/>
              </a:rPr>
              <a:t>Both problems led to the corrected stack, with no elevation band and slope in degrees</a:t>
            </a:r>
          </a:p>
        </p:txBody>
      </p:sp>
      <p:pic>
        <p:nvPicPr>
          <p:cNvPr id="6" name="Picture 5" descr="Checking the first two classifications"/>
          <p:cNvPicPr>
            <a:picLocks noChangeAspect="1"/>
          </p:cNvPicPr>
          <p:nvPr/>
        </p:nvPicPr>
        <p:blipFill>
          <a:blip r:embed="rId3"/>
          <a:stretch>
            <a:fillRect/>
          </a:stretch>
        </p:blipFill>
        <p:spPr>
          <a:xfrm>
            <a:off x="7362761" y="3759200"/>
            <a:ext cx="2819400" cy="1517650"/>
          </a:xfrm>
          <a:prstGeom prst="rect">
            <a:avLst/>
          </a:prstGeom>
        </p:spPr>
      </p:pic>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CLASSIFICATION</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Landforms at ±60°, scored on labels the model never saw</a:t>
            </a:r>
          </a:p>
        </p:txBody>
      </p:sp>
      <p:pic>
        <p:nvPicPr>
          <p:cNvPr id="4" name="Picture 3" descr="Landforms at ±60°, scored on labels the model never saw"/>
          <p:cNvPicPr>
            <a:picLocks noChangeAspect="1"/>
          </p:cNvPicPr>
          <p:nvPr/>
        </p:nvPicPr>
        <p:blipFill>
          <a:blip r:embed="rId2"/>
          <a:stretch>
            <a:fillRect/>
          </a:stretch>
        </p:blipFill>
        <p:spPr>
          <a:xfrm>
            <a:off x="711200" y="1422400"/>
            <a:ext cx="10769600" cy="3602282"/>
          </a:xfrm>
          <a:prstGeom prst="rect">
            <a:avLst/>
          </a:prstGeom>
        </p:spPr>
      </p:pic>
      <p:pic>
        <p:nvPicPr>
          <p:cNvPr id="5" name="Picture 4" descr="Landforms at ±60°, scored on labels the model never saw"/>
          <p:cNvPicPr>
            <a:picLocks noChangeAspect="1"/>
          </p:cNvPicPr>
          <p:nvPr/>
        </p:nvPicPr>
        <p:blipFill>
          <a:blip r:embed="rId3"/>
          <a:stretch>
            <a:fillRect/>
          </a:stretch>
        </p:blipFill>
        <p:spPr>
          <a:xfrm>
            <a:off x="8515681" y="5177082"/>
            <a:ext cx="2965119" cy="1249117"/>
          </a:xfrm>
          <a:prstGeom prst="rect">
            <a:avLst/>
          </a:prstGeom>
        </p:spPr>
      </p:pic>
      <p:sp>
        <p:nvSpPr>
          <p:cNvPr id="6" name="TextBox 5"/>
          <p:cNvSpPr txBox="1"/>
          <p:nvPr/>
        </p:nvSpPr>
        <p:spPr>
          <a:xfrm>
            <a:off x="711200" y="5177082"/>
            <a:ext cx="7575881" cy="1249118"/>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512 hand-drawn polygons in whole 15° blocks: 329 train the SVM, 183 are held out</a:t>
            </a:r>
          </a:p>
          <a:p>
            <a:pPr marL="200000" indent="-200000">
              <a:spcAft>
                <a:spcPts val="400"/>
              </a:spcAft>
              <a:buClr>
                <a:srgbClr val="8CC4EC"/>
              </a:buClr>
              <a:buSzPct val="110000"/>
              <a:buFont typeface="Arial" pitchFamily="34" charset="0"/>
              <a:buChar char="▪"/>
            </a:pPr>
            <a:r>
              <a:rPr sz="1400" b="0" i="0">
                <a:solidFill>
                  <a:srgbClr val="EAF0F7"/>
                </a:solidFill>
                <a:latin typeface="Calibri"/>
              </a:rPr>
              <a:t>Published map, 200 m, 11 × 11 majority (2.2 km): 73.8%, κ 0.58 held out; one class everywhere: 58.6%</a:t>
            </a:r>
          </a:p>
          <a:p>
            <a:pPr marL="200000" indent="-200000">
              <a:spcAft>
                <a:spcPts val="400"/>
              </a:spcAft>
              <a:buClr>
                <a:srgbClr val="8CC4EC"/>
              </a:buClr>
              <a:buSzPct val="110000"/>
              <a:buFont typeface="Arial" pitchFamily="34" charset="0"/>
              <a:buChar char="▪"/>
            </a:pPr>
            <a:r>
              <a:rPr sz="1400" b="0" i="0">
                <a:solidFill>
                  <a:srgbClr val="EAF0F7"/>
                </a:solidFill>
                <a:latin typeface="Calibri"/>
              </a:rPr>
              <a:t>Halving the cell bought no accuracy: 69.9% raw at 200 m, 70.5% at 400 m</a:t>
            </a:r>
          </a:p>
          <a:p>
            <a:pPr marL="200000" indent="-200000">
              <a:spcAft>
                <a:spcPts val="400"/>
              </a:spcAft>
              <a:buClr>
                <a:srgbClr val="8CC4EC"/>
              </a:buClr>
              <a:buSzPct val="110000"/>
              <a:buFont typeface="Arial" pitchFamily="34" charset="0"/>
              <a:buChar char="▪"/>
            </a:pPr>
            <a:r>
              <a:rPr sz="1400" b="0" i="0">
                <a:solidFill>
                  <a:srgbClr val="EAF0F7"/>
                </a:solidFill>
                <a:latin typeface="Calibri"/>
              </a:rPr>
              <a:t>Normal Ground and cratered terrain hold up; lava tube does not (2% user's accuracy)</a:t>
            </a:r>
          </a:p>
        </p:txBody>
      </p:sp>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CLASSIFICATION</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The landform classes against the USGS geologic map</a:t>
            </a:r>
          </a:p>
        </p:txBody>
      </p:sp>
      <p:pic>
        <p:nvPicPr>
          <p:cNvPr id="4" name="Picture 3" descr="The landform classes against the USGS geologic map"/>
          <p:cNvPicPr>
            <a:picLocks noChangeAspect="1"/>
          </p:cNvPicPr>
          <p:nvPr/>
        </p:nvPicPr>
        <p:blipFill>
          <a:blip r:embed="rId2"/>
          <a:stretch>
            <a:fillRect/>
          </a:stretch>
        </p:blipFill>
        <p:spPr>
          <a:xfrm>
            <a:off x="1692413" y="1422400"/>
            <a:ext cx="8807173" cy="3683000"/>
          </a:xfrm>
          <a:prstGeom prst="rect">
            <a:avLst/>
          </a:prstGeom>
        </p:spPr>
      </p:pic>
      <p:sp>
        <p:nvSpPr>
          <p:cNvPr id="5" name="TextBox 4"/>
          <p:cNvSpPr txBox="1"/>
          <p:nvPr/>
        </p:nvSpPr>
        <p:spPr>
          <a:xfrm>
            <a:off x="711200" y="5257800"/>
            <a:ext cx="10769600" cy="11684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Each cell: how much more often a class occurs in a unit group than across ±60° (×1 = no link)</a:t>
            </a:r>
          </a:p>
          <a:p>
            <a:pPr marL="200000" indent="-200000">
              <a:spcAft>
                <a:spcPts val="400"/>
              </a:spcAft>
              <a:buClr>
                <a:srgbClr val="8CC4EC"/>
              </a:buClr>
              <a:buSzPct val="110000"/>
              <a:buFont typeface="Arial" pitchFamily="34" charset="0"/>
              <a:buChar char="▪"/>
            </a:pPr>
            <a:r>
              <a:rPr sz="1400" b="0" i="0">
                <a:solidFill>
                  <a:srgbClr val="EAF0F7"/>
                </a:solidFill>
                <a:latin typeface="Calibri"/>
              </a:rPr>
              <a:t>"Lava tube" gathers on volcano flanks and aprons (×3.30, ×4.29), not on volcanic plains (×0.84)</a:t>
            </a:r>
          </a:p>
          <a:p>
            <a:pPr marL="200000" indent="-200000">
              <a:spcAft>
                <a:spcPts val="400"/>
              </a:spcAft>
              <a:buClr>
                <a:srgbClr val="8CC4EC"/>
              </a:buClr>
              <a:buSzPct val="110000"/>
              <a:buFont typeface="Arial" pitchFamily="34" charset="0"/>
              <a:buChar char="▪"/>
            </a:pPr>
            <a:r>
              <a:rPr sz="1400" b="0" i="0">
                <a:solidFill>
                  <a:srgbClr val="EAF0F7"/>
                </a:solidFill>
                <a:latin typeface="Calibri"/>
              </a:rPr>
              <a:t>76% of the volcanic plains come out Normal Ground</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The classes follow terrain, so lava flows are taken from the geologic map</a:t>
            </a:r>
          </a:p>
        </p:txBody>
      </p:sp>
      <p:sp>
        <p:nvSpPr>
          <p:cNvPr id="6" name="TextBox 5"/>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7" name="TextBox 6"/>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CLASSIFICATION</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Does thermal infrared improve the classification?</a:t>
            </a:r>
          </a:p>
        </p:txBody>
      </p:sp>
      <p:pic>
        <p:nvPicPr>
          <p:cNvPr id="4" name="Picture 3" descr="Does thermal infrared improve the classification?"/>
          <p:cNvPicPr>
            <a:picLocks noChangeAspect="1"/>
          </p:cNvPicPr>
          <p:nvPr/>
        </p:nvPicPr>
        <p:blipFill>
          <a:blip r:embed="rId2"/>
          <a:stretch>
            <a:fillRect/>
          </a:stretch>
        </p:blipFill>
        <p:spPr>
          <a:xfrm>
            <a:off x="2092739" y="1422400"/>
            <a:ext cx="8006521" cy="3683000"/>
          </a:xfrm>
          <a:prstGeom prst="rect">
            <a:avLst/>
          </a:prstGeom>
        </p:spPr>
      </p:pic>
      <p:sp>
        <p:nvSpPr>
          <p:cNvPr id="5" name="TextBox 4"/>
          <p:cNvSpPr txBox="1"/>
          <p:nvPr/>
        </p:nvSpPr>
        <p:spPr>
          <a:xfrm>
            <a:off x="711200" y="5257800"/>
            <a:ext cx="10769600" cy="11684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Slope and relief alone: 68.6%, κ 0.51 held out; all seven bands: 67.0%, κ 0.50</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The thermal bands add +1.3 points (95% interval +0.6 to +2.2), small but clear of zero</a:t>
            </a:r>
          </a:p>
          <a:p>
            <a:pPr marL="200000" indent="-200000">
              <a:spcAft>
                <a:spcPts val="400"/>
              </a:spcAft>
              <a:buClr>
                <a:srgbClr val="8CC4EC"/>
              </a:buClr>
              <a:buSzPct val="110000"/>
              <a:buFont typeface="Arial" pitchFamily="34" charset="0"/>
              <a:buChar char="▪"/>
            </a:pPr>
            <a:r>
              <a:rPr sz="1400" b="0" i="0">
                <a:solidFill>
                  <a:srgbClr val="EAF0F7"/>
                </a:solidFill>
                <a:latin typeface="Calibri"/>
              </a:rPr>
              <a:t>Without terrain, visible and thermal score below one class everywhere (58.6%)</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The labels are landforms, so terrain decides them; testing thermal IR properly needs material labels</a:t>
            </a:r>
          </a:p>
        </p:txBody>
      </p:sp>
      <p:sp>
        <p:nvSpPr>
          <p:cNvPr id="6" name="TextBox 5"/>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7" name="TextBox 6"/>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CLASSIFICATION</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The thermal gain, confirmed with ArcGIS Pro's own SVM</a:t>
            </a:r>
          </a:p>
        </p:txBody>
      </p:sp>
      <p:pic>
        <p:nvPicPr>
          <p:cNvPr id="4" name="Picture 3" descr="The thermal gain, confirmed with ArcGIS Pro's own SVM"/>
          <p:cNvPicPr>
            <a:picLocks noChangeAspect="1"/>
          </p:cNvPicPr>
          <p:nvPr/>
        </p:nvPicPr>
        <p:blipFill>
          <a:blip r:embed="rId2"/>
          <a:stretch>
            <a:fillRect/>
          </a:stretch>
        </p:blipFill>
        <p:spPr>
          <a:xfrm>
            <a:off x="1711476" y="1422400"/>
            <a:ext cx="8769047" cy="3683000"/>
          </a:xfrm>
          <a:prstGeom prst="rect">
            <a:avLst/>
          </a:prstGeom>
        </p:spPr>
      </p:pic>
      <p:sp>
        <p:nvSpPr>
          <p:cNvPr id="5" name="TextBox 4"/>
          <p:cNvSpPr txBox="1"/>
          <p:nvPr/>
        </p:nvSpPr>
        <p:spPr>
          <a:xfrm>
            <a:off x="711200" y="5257800"/>
            <a:ext cx="10769600" cy="11684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Pro's SVM retrained over all of ±60° with the published settings, leaving out one band group at a time</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Thermal adds +1.36 points at 200 m (+0.46 to +2.47) and +1.97 at 400 m (+1.08 to +3.35)</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Thermal helps craters and hills and hurts lava tube; leaving out visible, or both groups, leaves the score tied</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Terrain alone ties the overall score but gets only 34 of 124 crater polygons right</a:t>
            </a:r>
          </a:p>
        </p:txBody>
      </p:sp>
      <p:sp>
        <p:nvSpPr>
          <p:cNvPr id="6" name="TextBox 5"/>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7" name="TextBox 6"/>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DEEP LEARNING</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Deep learning, 1: a detector that draws boxes</a:t>
            </a:r>
          </a:p>
        </p:txBody>
      </p:sp>
      <p:pic>
        <p:nvPicPr>
          <p:cNvPr id="4" name="Picture 3" descr="Deep learning, 1: a detector that draws boxes"/>
          <p:cNvPicPr>
            <a:picLocks noChangeAspect="1"/>
          </p:cNvPicPr>
          <p:nvPr/>
        </p:nvPicPr>
        <p:blipFill>
          <a:blip r:embed="rId2"/>
          <a:stretch>
            <a:fillRect/>
          </a:stretch>
        </p:blipFill>
        <p:spPr>
          <a:xfrm>
            <a:off x="711200" y="1422400"/>
            <a:ext cx="5908242" cy="4826000"/>
          </a:xfrm>
          <a:prstGeom prst="rect">
            <a:avLst/>
          </a:prstGeom>
        </p:spPr>
      </p:pic>
      <p:sp>
        <p:nvSpPr>
          <p:cNvPr id="5" name="TextBox 4"/>
          <p:cNvSpPr txBox="1"/>
          <p:nvPr/>
        </p:nvSpPr>
        <p:spPr>
          <a:xfrm>
            <a:off x="6924242" y="1422400"/>
            <a:ext cx="4556558" cy="2235200"/>
          </a:xfrm>
          <a:prstGeom prst="rect">
            <a:avLst/>
          </a:prstGeom>
          <a:noFill/>
        </p:spPr>
        <p:txBody>
          <a:bodyPr wrap="square" anchor="t" lIns="0" rIns="0" tIns="0" bIns="0">
            <a:spAutoFit/>
          </a:bodyPr>
          <a:lstStyle/>
          <a:p>
            <a:pPr marL="200000" indent="-200000">
              <a:spcAft>
                <a:spcPts val="600"/>
              </a:spcAft>
              <a:buClr>
                <a:srgbClr val="8CC4EC"/>
              </a:buClr>
              <a:buSzPct val="110000"/>
              <a:buFont typeface="Arial" pitchFamily="34" charset="0"/>
              <a:buChar char="▪"/>
            </a:pPr>
            <a:r>
              <a:rPr sz="1400" b="0" i="0">
                <a:solidFill>
                  <a:srgbClr val="EAF0F7"/>
                </a:solidFill>
                <a:latin typeface="Calibri"/>
              </a:rPr>
              <a:t>RetinaNet on the 7-band stack, trained on the training blocks only, scored on the 183 held-out polygons</a:t>
            </a:r>
          </a:p>
          <a:p>
            <a:pPr marL="200000" indent="-200000">
              <a:spcAft>
                <a:spcPts val="600"/>
              </a:spcAft>
              <a:buClr>
                <a:srgbClr val="8CC4EC"/>
              </a:buClr>
              <a:buSzPct val="110000"/>
              <a:buFont typeface="Arial" pitchFamily="34" charset="0"/>
              <a:buChar char="▪"/>
            </a:pPr>
            <a:r>
              <a:rPr sz="1400" b="0" i="0">
                <a:solidFill>
                  <a:srgbClr val="EAF0F7"/>
                </a:solidFill>
                <a:latin typeface="Calibri"/>
              </a:rPr>
              <a:t>Crater: 41.9% of polygons found, 87.6% of boxes right, against 71.1% for always naming Crater</a:t>
            </a:r>
          </a:p>
          <a:p>
            <a:pPr marL="200000" indent="-200000">
              <a:spcAft>
                <a:spcPts val="600"/>
              </a:spcAft>
              <a:buClr>
                <a:srgbClr val="8CC4EC"/>
              </a:buClr>
              <a:buSzPct val="110000"/>
              <a:buFont typeface="Arial" pitchFamily="34" charset="0"/>
              <a:buChar char="▪"/>
            </a:pPr>
            <a:r>
              <a:rPr sz="1400" b="0" i="0">
                <a:solidFill>
                  <a:srgbClr val="EAF0F7"/>
                </a:solidFill>
                <a:latin typeface="Calibri"/>
              </a:rPr>
              <a:t>Normal Ground: 22.7% found, 56.9% right; hills and lava tube never named</a:t>
            </a:r>
          </a:p>
          <a:p>
            <a:pPr marL="200000" indent="-200000">
              <a:spcAft>
                <a:spcPts val="600"/>
              </a:spcAft>
              <a:buClr>
                <a:srgbClr val="8CC4EC"/>
              </a:buClr>
              <a:buSzPct val="110000"/>
              <a:buFont typeface="Arial" pitchFamily="34" charset="0"/>
              <a:buChar char="▪"/>
            </a:pPr>
            <a:r>
              <a:rPr sz="1400" b="0" i="0">
                <a:solidFill>
                  <a:srgbClr val="EAF0F7"/>
                </a:solidFill>
                <a:latin typeface="Calibri"/>
              </a:rPr>
              <a:t>Retrained with the backbone unfrozen for 30 epochs, it names hills but finds only 4.5% of Normal Ground, so it is no better</a:t>
            </a:r>
          </a:p>
        </p:txBody>
      </p:sp>
      <p:pic>
        <p:nvPicPr>
          <p:cNvPr id="6" name="Picture 5" descr="Deep learning, 1: a detector that draws boxes"/>
          <p:cNvPicPr>
            <a:picLocks noChangeAspect="1"/>
          </p:cNvPicPr>
          <p:nvPr/>
        </p:nvPicPr>
        <p:blipFill>
          <a:blip r:embed="rId3"/>
          <a:stretch>
            <a:fillRect/>
          </a:stretch>
        </p:blipFill>
        <p:spPr>
          <a:xfrm>
            <a:off x="6924242" y="3759200"/>
            <a:ext cx="2210409" cy="2489199"/>
          </a:xfrm>
          <a:prstGeom prst="rect">
            <a:avLst/>
          </a:prstGeom>
        </p:spPr>
      </p:pic>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DEEP LEARNING</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Deep learning, 2: a U-Net maps terrain provinces</a:t>
            </a:r>
          </a:p>
        </p:txBody>
      </p:sp>
      <p:pic>
        <p:nvPicPr>
          <p:cNvPr id="4" name="Picture 3" descr="Deep learning, 2: a U-Net maps terrain provinces"/>
          <p:cNvPicPr>
            <a:picLocks noChangeAspect="1"/>
          </p:cNvPicPr>
          <p:nvPr/>
        </p:nvPicPr>
        <p:blipFill>
          <a:blip r:embed="rId2"/>
          <a:stretch>
            <a:fillRect/>
          </a:stretch>
        </p:blipFill>
        <p:spPr>
          <a:xfrm>
            <a:off x="711200" y="1422400"/>
            <a:ext cx="5908242" cy="4826000"/>
          </a:xfrm>
          <a:prstGeom prst="rect">
            <a:avLst/>
          </a:prstGeom>
        </p:spPr>
      </p:pic>
      <p:sp>
        <p:nvSpPr>
          <p:cNvPr id="5" name="TextBox 4"/>
          <p:cNvSpPr txBox="1"/>
          <p:nvPr/>
        </p:nvSpPr>
        <p:spPr>
          <a:xfrm>
            <a:off x="6924242" y="1422400"/>
            <a:ext cx="4556558" cy="2590800"/>
          </a:xfrm>
          <a:prstGeom prst="rect">
            <a:avLst/>
          </a:prstGeom>
          <a:noFill/>
        </p:spPr>
        <p:txBody>
          <a:bodyPr wrap="square" anchor="t" lIns="0" rIns="0" tIns="0" bIns="0">
            <a:spAutoFit/>
          </a:bodyPr>
          <a:lstStyle/>
          <a:p>
            <a:pPr marL="200000" indent="-200000">
              <a:spcAft>
                <a:spcPts val="600"/>
              </a:spcAft>
              <a:buClr>
                <a:srgbClr val="8CC4EC"/>
              </a:buClr>
              <a:buSzPct val="110000"/>
              <a:buFont typeface="Arial" pitchFamily="34" charset="0"/>
              <a:buChar char="▪"/>
            </a:pPr>
            <a:r>
              <a:rPr sz="1400" b="0" i="0">
                <a:solidFill>
                  <a:srgbClr val="EAF0F7"/>
                </a:solidFill>
                <a:latin typeface="Calibri"/>
              </a:rPr>
              <a:t>A U-Net pixel classifier on the same stack and labels, over all of ±60°; a second pass, offset 128 px, removes its tile seams</a:t>
            </a:r>
          </a:p>
          <a:p>
            <a:pPr marL="200000" indent="-200000">
              <a:spcAft>
                <a:spcPts val="600"/>
              </a:spcAft>
              <a:buClr>
                <a:srgbClr val="8CC4EC"/>
              </a:buClr>
              <a:buSzPct val="110000"/>
              <a:buFont typeface="Arial" pitchFamily="34" charset="0"/>
              <a:buChar char="▪"/>
            </a:pPr>
            <a:r>
              <a:rPr sz="1400" b="0" i="0">
                <a:solidFill>
                  <a:srgbClr val="EAF0F7"/>
                </a:solidFill>
                <a:latin typeface="Calibri"/>
              </a:rPr>
              <a:t>Held out: 98.9%, κ 0.980, against the published SVM map's 73.8%, κ 0.583, under the same scorer</a:t>
            </a:r>
          </a:p>
          <a:p>
            <a:pPr marL="200000" indent="-200000">
              <a:spcAft>
                <a:spcPts val="600"/>
              </a:spcAft>
              <a:buClr>
                <a:srgbClr val="8CC4EC"/>
              </a:buClr>
              <a:buSzPct val="110000"/>
              <a:buFont typeface="Arial" pitchFamily="34" charset="0"/>
              <a:buChar char="▪"/>
            </a:pPr>
            <a:r>
              <a:rPr sz="1400" b="0" i="0">
                <a:solidFill>
                  <a:srgbClr val="EAF0F7"/>
                </a:solidFill>
                <a:latin typeface="Calibri"/>
              </a:rPr>
              <a:t>Lava tube becomes usable: 77.1% user's accuracy, against 2.4% for the SVM</a:t>
            </a:r>
          </a:p>
          <a:p>
            <a:pPr marL="200000" indent="-200000">
              <a:spcAft>
                <a:spcPts val="600"/>
              </a:spcAft>
              <a:buClr>
                <a:srgbClr val="8CC4EC"/>
              </a:buClr>
              <a:buSzPct val="110000"/>
              <a:buFont typeface="Arial" pitchFamily="34" charset="0"/>
              <a:buChar char="▪"/>
            </a:pPr>
            <a:r>
              <a:rPr sz="1400" b="0" i="0">
                <a:solidFill>
                  <a:srgbClr val="EAF0F7"/>
                </a:solidFill>
                <a:latin typeface="Calibri"/>
              </a:rPr>
              <a:t>It maps provinces rather than single landforms: its 'Crater' covers 82.6% of the ring around named craters. The SVM map stays the published one</a:t>
            </a:r>
          </a:p>
        </p:txBody>
      </p:sp>
      <p:pic>
        <p:nvPicPr>
          <p:cNvPr id="6" name="Picture 5" descr="Deep learning, 2: a U-Net maps terrain provinces"/>
          <p:cNvPicPr>
            <a:picLocks noChangeAspect="1"/>
          </p:cNvPicPr>
          <p:nvPr/>
        </p:nvPicPr>
        <p:blipFill>
          <a:blip r:embed="rId3"/>
          <a:stretch>
            <a:fillRect/>
          </a:stretch>
        </p:blipFill>
        <p:spPr>
          <a:xfrm>
            <a:off x="6924242" y="4114800"/>
            <a:ext cx="1600200" cy="2133600"/>
          </a:xfrm>
          <a:prstGeom prst="rect">
            <a:avLst/>
          </a:prstGeom>
        </p:spPr>
      </p:pic>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HYPOTHESES</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Do the infrared mosaics show lava-flow edges Viking misses? (H1)</a:t>
            </a:r>
          </a:p>
        </p:txBody>
      </p:sp>
      <p:sp>
        <p:nvSpPr>
          <p:cNvPr id="4" name="Rounded Rectangle 3"/>
          <p:cNvSpPr/>
          <p:nvPr/>
        </p:nvSpPr>
        <p:spPr>
          <a:xfrm>
            <a:off x="8604330" y="381000"/>
            <a:ext cx="2876470" cy="266700"/>
          </a:xfrm>
          <a:prstGeom prst="roundRect">
            <a:avLst>
              <a:gd name="adj" fmla="val 50000"/>
            </a:avLst>
          </a:prstGeom>
          <a:noFill/>
          <a:ln w="15875">
            <a:solidFill>
              <a:srgbClr val="8CC4E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buNone/>
            </a:pPr>
            <a:r>
              <a:rPr sz="1000" b="1" i="0" spc="120">
                <a:solidFill>
                  <a:srgbClr val="8CC4EC"/>
                </a:solidFill>
                <a:latin typeface="Calibri"/>
              </a:rPr>
              <a:t>NOT SETTLED: THE MAP IS TOO COARSE</a:t>
            </a:r>
          </a:p>
        </p:txBody>
      </p:sp>
      <p:pic>
        <p:nvPicPr>
          <p:cNvPr id="5" name="Picture 4" descr="Do the infrared mosaics show lava-flow edges Viking misses? (H1)"/>
          <p:cNvPicPr>
            <a:picLocks noChangeAspect="1"/>
          </p:cNvPicPr>
          <p:nvPr/>
        </p:nvPicPr>
        <p:blipFill>
          <a:blip r:embed="rId2"/>
          <a:stretch>
            <a:fillRect/>
          </a:stretch>
        </p:blipFill>
        <p:spPr>
          <a:xfrm>
            <a:off x="1910773" y="1422400"/>
            <a:ext cx="8370454" cy="3683000"/>
          </a:xfrm>
          <a:prstGeom prst="rect">
            <a:avLst/>
          </a:prstGeom>
        </p:spPr>
      </p:pic>
      <p:sp>
        <p:nvSpPr>
          <p:cNvPr id="6" name="TextBox 5"/>
          <p:cNvSpPr txBox="1"/>
          <p:nvPr/>
        </p:nvSpPr>
        <p:spPr>
          <a:xfrm>
            <a:off x="711200" y="5257800"/>
            <a:ext cx="10769600" cy="11684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905 profiles across 10 of the geologic map's lava contacts at Athabasca: does each band tell the units apart?</a:t>
            </a:r>
          </a:p>
          <a:p>
            <a:pPr marL="200000" indent="-200000">
              <a:spcAft>
                <a:spcPts val="400"/>
              </a:spcAft>
              <a:buClr>
                <a:srgbClr val="8CC4EC"/>
              </a:buClr>
              <a:buSzPct val="110000"/>
              <a:buFont typeface="Arial" pitchFamily="34" charset="0"/>
              <a:buChar char="▪"/>
            </a:pPr>
            <a:r>
              <a:rPr sz="1400" b="0" i="0">
                <a:solidFill>
                  <a:srgbClr val="EAF0F7"/>
                </a:solidFill>
                <a:latin typeface="Calibri"/>
              </a:rPr>
              <a:t>Every band does only slightly better than chance (10%): Viking red 12.3%, day IR 21.0%</a:t>
            </a:r>
          </a:p>
          <a:p>
            <a:pPr marL="200000" indent="-200000">
              <a:spcAft>
                <a:spcPts val="400"/>
              </a:spcAft>
              <a:buClr>
                <a:srgbClr val="8CC4EC"/>
              </a:buClr>
              <a:buSzPct val="110000"/>
              <a:buFont typeface="Arial" pitchFamily="34" charset="0"/>
              <a:buChar char="▪"/>
            </a:pPr>
            <a:r>
              <a:rPr sz="1400" b="0" i="0">
                <a:solidFill>
                  <a:srgbClr val="EAF0F7"/>
                </a:solidFill>
                <a:latin typeface="Calibri"/>
              </a:rPr>
              <a:t>Day IR leans toward H1, but the intervals overlap (difference +8.7 points, −1.7 to +18.1)</a:t>
            </a:r>
          </a:p>
          <a:p>
            <a:pPr marL="200000" indent="-200000">
              <a:spcAft>
                <a:spcPts val="400"/>
              </a:spcAft>
              <a:buClr>
                <a:srgbClr val="8CC4EC"/>
              </a:buClr>
              <a:buSzPct val="110000"/>
              <a:buFont typeface="Arial" pitchFamily="34" charset="0"/>
              <a:buChar char="▪"/>
            </a:pPr>
            <a:r>
              <a:rPr sz="1400" b="0" i="0">
                <a:solidFill>
                  <a:srgbClr val="EAF0F7"/>
                </a:solidFill>
                <a:latin typeface="Calibri"/>
              </a:rPr>
              <a:t>Contacts on a 1:20 M map are kilometres wide; H1 is retested on margins digitised at 100 m</a:t>
            </a:r>
          </a:p>
        </p:txBody>
      </p:sp>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HYPOTHESES</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Do volcanic channels differ from fluvial ones? (H2)</a:t>
            </a:r>
          </a:p>
        </p:txBody>
      </p:sp>
      <p:sp>
        <p:nvSpPr>
          <p:cNvPr id="4" name="Rounded Rectangle 3"/>
          <p:cNvSpPr/>
          <p:nvPr/>
        </p:nvSpPr>
        <p:spPr>
          <a:xfrm>
            <a:off x="9320749" y="381000"/>
            <a:ext cx="2160051" cy="266700"/>
          </a:xfrm>
          <a:prstGeom prst="roundRect">
            <a:avLst>
              <a:gd name="adj" fmla="val 50000"/>
            </a:avLst>
          </a:prstGeom>
          <a:noFill/>
          <a:ln w="15875">
            <a:solidFill>
              <a:srgbClr val="8CC4E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buNone/>
            </a:pPr>
            <a:r>
              <a:rPr sz="1000" b="1" i="0" spc="120">
                <a:solidFill>
                  <a:srgbClr val="8CC4EC"/>
                </a:solidFill>
                <a:latin typeface="Calibri"/>
              </a:rPr>
              <a:t>NOT SUPPORTED AT STAGE 1</a:t>
            </a:r>
          </a:p>
        </p:txBody>
      </p:sp>
      <p:pic>
        <p:nvPicPr>
          <p:cNvPr id="5" name="Picture 4" descr="Do volcanic channels differ from fluvial ones? (H2)"/>
          <p:cNvPicPr>
            <a:picLocks noChangeAspect="1"/>
          </p:cNvPicPr>
          <p:nvPr/>
        </p:nvPicPr>
        <p:blipFill>
          <a:blip r:embed="rId2"/>
          <a:stretch>
            <a:fillRect/>
          </a:stretch>
        </p:blipFill>
        <p:spPr>
          <a:xfrm>
            <a:off x="1273024" y="1422400"/>
            <a:ext cx="9645952" cy="3683000"/>
          </a:xfrm>
          <a:prstGeom prst="rect">
            <a:avLst/>
          </a:prstGeom>
        </p:spPr>
      </p:pic>
      <p:sp>
        <p:nvSpPr>
          <p:cNvPr id="6" name="TextBox 5"/>
          <p:cNvSpPr txBox="1"/>
          <p:nvPr/>
        </p:nvSpPr>
        <p:spPr>
          <a:xfrm>
            <a:off x="711200" y="5257800"/>
            <a:ext cx="10769600" cy="11684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Channel candidates, Ius Chasma (fluvial) against Athabasca Valles (volcanic): 2,588 and 3,272</a:t>
            </a:r>
          </a:p>
          <a:p>
            <a:pPr marL="200000" indent="-200000">
              <a:spcAft>
                <a:spcPts val="400"/>
              </a:spcAft>
              <a:buClr>
                <a:srgbClr val="8CC4EC"/>
              </a:buClr>
              <a:buSzPct val="110000"/>
              <a:buFont typeface="Arial" pitchFamily="34" charset="0"/>
              <a:buChar char="▪"/>
            </a:pPr>
            <a:r>
              <a:rPr sz="1400" b="0" i="0">
                <a:solidFill>
                  <a:srgbClr val="EAF0F7"/>
                </a:solidFill>
                <a:latin typeface="Calibri"/>
              </a:rPr>
              <a:t>H2 expected the volcanic channels to be steeper; they are shallower (median 1.4 against 10.2 m per km)</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Thermal response tells the two apart no better than chance (AUC 0.50)</a:t>
            </a:r>
          </a:p>
          <a:p>
            <a:pPr marL="200000" indent="-200000">
              <a:spcAft>
                <a:spcPts val="400"/>
              </a:spcAft>
              <a:buClr>
                <a:srgbClr val="8CC4EC"/>
              </a:buClr>
              <a:buSzPct val="110000"/>
              <a:buFont typeface="Arial" pitchFamily="34" charset="0"/>
              <a:buChar char="▪"/>
            </a:pPr>
            <a:r>
              <a:rPr sz="1400" b="0" i="0">
                <a:solidFill>
                  <a:srgbClr val="EAF0F7"/>
                </a:solidFill>
                <a:latin typeface="Calibri"/>
              </a:rPr>
              <a:t>Not supported at stage 1: the window sets the gradient, not the origin. Reviewed channels retest it</a:t>
            </a:r>
          </a:p>
        </p:txBody>
      </p:sp>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HYPOTHESES</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Is the composite more stable than a single band? (H3)</a:t>
            </a:r>
          </a:p>
        </p:txBody>
      </p:sp>
      <p:sp>
        <p:nvSpPr>
          <p:cNvPr id="4" name="Rounded Rectangle 3"/>
          <p:cNvSpPr/>
          <p:nvPr/>
        </p:nvSpPr>
        <p:spPr>
          <a:xfrm>
            <a:off x="10125750" y="381000"/>
            <a:ext cx="1355050" cy="266700"/>
          </a:xfrm>
          <a:prstGeom prst="roundRect">
            <a:avLst>
              <a:gd name="adj" fmla="val 50000"/>
            </a:avLst>
          </a:prstGeom>
          <a:noFill/>
          <a:ln w="15875">
            <a:solidFill>
              <a:srgbClr val="8CC4E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buNone/>
            </a:pPr>
            <a:r>
              <a:rPr sz="1000" b="1" i="0" spc="120">
                <a:solidFill>
                  <a:srgbClr val="8CC4EC"/>
                </a:solidFill>
                <a:latin typeface="Calibri"/>
              </a:rPr>
              <a:t>NOT SUPPORTED</a:t>
            </a:r>
          </a:p>
        </p:txBody>
      </p:sp>
      <p:pic>
        <p:nvPicPr>
          <p:cNvPr id="5" name="Picture 4" descr="Is the composite more stable than a single band? (H3)"/>
          <p:cNvPicPr>
            <a:picLocks noChangeAspect="1"/>
          </p:cNvPicPr>
          <p:nvPr/>
        </p:nvPicPr>
        <p:blipFill>
          <a:blip r:embed="rId2"/>
          <a:stretch>
            <a:fillRect/>
          </a:stretch>
        </p:blipFill>
        <p:spPr>
          <a:xfrm>
            <a:off x="1711476" y="1422400"/>
            <a:ext cx="8769047" cy="3683000"/>
          </a:xfrm>
          <a:prstGeom prst="rect">
            <a:avLst/>
          </a:prstGeom>
        </p:spPr>
      </p:pic>
      <p:sp>
        <p:nvSpPr>
          <p:cNvPr id="6" name="TextBox 5"/>
          <p:cNvSpPr txBox="1"/>
          <p:nvPr/>
        </p:nvSpPr>
        <p:spPr>
          <a:xfrm>
            <a:off x="711200" y="5257800"/>
            <a:ext cx="10769600" cy="11684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Iso Cluster trained on the west and the east half of Ius, compared over the whole window</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The composites are the least reproducible inputs: 0.40 and 0.38, against 0.61–0.89 for single bands</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They give the smoothest maps, only just ahead of Viking (0.85 against 0.84)</a:t>
            </a:r>
          </a:p>
          <a:p>
            <a:pPr marL="200000" indent="-200000">
              <a:spcAft>
                <a:spcPts val="400"/>
              </a:spcAft>
              <a:buClr>
                <a:srgbClr val="8CC4EC"/>
              </a:buClr>
              <a:buSzPct val="110000"/>
              <a:buFont typeface="Arial" pitchFamily="34" charset="0"/>
              <a:buChar char="▪"/>
            </a:pPr>
            <a:r>
              <a:rPr sz="1400" b="0" i="0">
                <a:solidFill>
                  <a:srgbClr val="EAF0F7"/>
                </a:solidFill>
                <a:latin typeface="Calibri"/>
              </a:rPr>
              <a:t>H3 is not supported</a:t>
            </a:r>
          </a:p>
        </p:txBody>
      </p:sp>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HYPOTHESES</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How many tributary orders does 100 m resolve? (Q5)</a:t>
            </a:r>
          </a:p>
        </p:txBody>
      </p:sp>
      <p:sp>
        <p:nvSpPr>
          <p:cNvPr id="4" name="Rounded Rectangle 3"/>
          <p:cNvSpPr/>
          <p:nvPr/>
        </p:nvSpPr>
        <p:spPr>
          <a:xfrm>
            <a:off x="9255800" y="381000"/>
            <a:ext cx="2225000" cy="266700"/>
          </a:xfrm>
          <a:prstGeom prst="roundRect">
            <a:avLst>
              <a:gd name="adj" fmla="val 50000"/>
            </a:avLst>
          </a:prstGeom>
          <a:noFill/>
          <a:ln w="15875">
            <a:solidFill>
              <a:srgbClr val="8CC4E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buNone/>
            </a:pPr>
            <a:r>
              <a:rPr sz="1000" b="1" i="0" spc="120">
                <a:solidFill>
                  <a:srgbClr val="8CC4EC"/>
                </a:solidFill>
                <a:latin typeface="Calibri"/>
              </a:rPr>
              <a:t>THE DEM CANNOT ANSWER IT</a:t>
            </a:r>
          </a:p>
        </p:txBody>
      </p:sp>
      <p:pic>
        <p:nvPicPr>
          <p:cNvPr id="5" name="Picture 4" descr="How many tributary orders does 100 m resolve? (Q5)"/>
          <p:cNvPicPr>
            <a:picLocks noChangeAspect="1"/>
          </p:cNvPicPr>
          <p:nvPr/>
        </p:nvPicPr>
        <p:blipFill>
          <a:blip r:embed="rId2"/>
          <a:stretch>
            <a:fillRect/>
          </a:stretch>
        </p:blipFill>
        <p:spPr>
          <a:xfrm>
            <a:off x="1711476" y="1422400"/>
            <a:ext cx="8769047" cy="3683000"/>
          </a:xfrm>
          <a:prstGeom prst="rect">
            <a:avLst/>
          </a:prstGeom>
        </p:spPr>
      </p:pic>
      <p:sp>
        <p:nvSpPr>
          <p:cNvPr id="6" name="TextBox 5"/>
          <p:cNvSpPr txBox="1"/>
          <p:nvPr/>
        </p:nvSpPr>
        <p:spPr>
          <a:xfrm>
            <a:off x="711200" y="5257800"/>
            <a:ext cx="10769600" cy="1168400"/>
          </a:xfrm>
          <a:prstGeom prst="rect">
            <a:avLst/>
          </a:prstGeom>
          <a:noFill/>
        </p:spPr>
        <p:txBody>
          <a:bodyPr wrap="square" anchor="t" lIns="0" rIns="0" tIns="0" bIns="0">
            <a:spAutoFit/>
          </a:bodyPr>
          <a:lstStyle/>
          <a:p>
            <a:pPr marL="200000" indent="-200000">
              <a:spcAft>
                <a:spcPts val="400"/>
              </a:spcAft>
              <a:buClr>
                <a:srgbClr val="8CC4EC"/>
              </a:buClr>
              <a:buSzPct val="110000"/>
              <a:buFont typeface="Arial" pitchFamily="34" charset="0"/>
              <a:buChar char="▪"/>
            </a:pPr>
            <a:r>
              <a:rPr sz="1400" b="0" i="0">
                <a:solidFill>
                  <a:srgbClr val="EAF0F7"/>
                </a:solidFill>
                <a:latin typeface="Calibri"/>
              </a:rPr>
              <a:t>Channel thresholds from 1 to 500 km² of catchment at Ius Chasma</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The highest stream order follows the threshold: 5 at 1 km², 3 at 50 km², 2 at 500 km²</a:t>
            </a:r>
          </a:p>
          <a:p>
            <a:pPr marL="200000" indent="-200000">
              <a:spcAft>
                <a:spcPts val="400"/>
              </a:spcAft>
              <a:buClr>
                <a:srgbClr val="8CC4EC"/>
              </a:buClr>
              <a:buSzPct val="110000"/>
              <a:buFont typeface="Arial" pitchFamily="34" charset="0"/>
              <a:buChar char="▪"/>
            </a:pPr>
            <a:r>
              <a:rPr sz="1400" b="0" i="0">
                <a:solidFill>
                  <a:srgbClr val="EAF0F7"/>
                </a:solidFill>
                <a:latin typeface="Calibri"/>
              </a:rPr>
              <a:t>Only 30.8–36.7% of first-order streams lie on slopes ≥ 2°, at every threshold</a:t>
            </a:r>
          </a:p>
          <a:p>
            <a:pPr marL="200000" indent="-200000">
              <a:spcAft>
                <a:spcPts val="400"/>
              </a:spcAft>
              <a:buClr>
                <a:srgbClr val="8CC4EC"/>
              </a:buClr>
              <a:buSzPct val="110000"/>
              <a:buFont typeface="Arial" pitchFamily="34" charset="0"/>
              <a:buChar char="▪"/>
            </a:pPr>
            <a:r>
              <a:rPr sz="1400" b="0" i="0">
                <a:solidFill>
                  <a:srgbClr val="EAF0F7"/>
                </a:solidFill>
                <a:latin typeface="Calibri"/>
              </a:rPr>
              <a:t>The order count reflects the threshold chosen, so the DEM cannot answer Q5</a:t>
            </a:r>
          </a:p>
        </p:txBody>
      </p:sp>
      <p:sp>
        <p:nvSpPr>
          <p:cNvPr id="7" name="TextBox 6"/>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8" name="TextBox 7"/>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WHAT THE MEASUREMENTS LIMIT</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Project Issues and Hurdles</a:t>
            </a:r>
          </a:p>
        </p:txBody>
      </p:sp>
      <p:sp>
        <p:nvSpPr>
          <p:cNvPr id="4" name="Rounded Rectangle 3"/>
          <p:cNvSpPr/>
          <p:nvPr/>
        </p:nvSpPr>
        <p:spPr>
          <a:xfrm>
            <a:off x="711200" y="1422400"/>
            <a:ext cx="5295900" cy="15494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4800"/>
            <a:ext cx="4889500" cy="1295400"/>
          </a:xfrm>
          <a:prstGeom prst="rect">
            <a:avLst/>
          </a:prstGeom>
          <a:noFill/>
        </p:spPr>
        <p:txBody>
          <a:bodyPr wrap="square" anchor="t" lIns="0" rIns="0" tIns="0" bIns="0">
            <a:spAutoFit/>
          </a:bodyPr>
          <a:lstStyle/>
          <a:p>
            <a:pPr>
              <a:buNone/>
            </a:pPr>
            <a:r>
              <a:rPr sz="1400" b="1" i="0">
                <a:solidFill>
                  <a:srgbClr val="8CC4EC"/>
                </a:solidFill>
                <a:latin typeface="Calibri"/>
              </a:rPr>
              <a:t>The thermal signal is weak where it can be checked</a:t>
            </a:r>
          </a:p>
          <a:p>
            <a:pPr>
              <a:spcBef>
                <a:spcPts val="300"/>
              </a:spcBef>
              <a:buNone/>
            </a:pPr>
            <a:r>
              <a:rPr sz="1300" b="0" i="0">
                <a:solidFill>
                  <a:srgbClr val="EAF0F7"/>
                </a:solidFill>
                <a:latin typeface="Calibri"/>
              </a:rPr>
              <a:t>The THEMIS mosaics follow calibrated TES thermal inertia only weakly inside 15° blocks (|r| ≈ 0.1) and not at all across the planet; Viking albedo follows it (r −0.31 to −0.36). In the classification the thermal bands add 1.3–2.0 points, with two classifiers.</a:t>
            </a:r>
          </a:p>
        </p:txBody>
      </p:sp>
      <p:sp>
        <p:nvSpPr>
          <p:cNvPr id="6" name="Rounded Rectangle 5"/>
          <p:cNvSpPr/>
          <p:nvPr/>
        </p:nvSpPr>
        <p:spPr>
          <a:xfrm>
            <a:off x="6184900" y="1422400"/>
            <a:ext cx="5295900" cy="15494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8100" y="1574800"/>
            <a:ext cx="4889500" cy="1295400"/>
          </a:xfrm>
          <a:prstGeom prst="rect">
            <a:avLst/>
          </a:prstGeom>
          <a:noFill/>
        </p:spPr>
        <p:txBody>
          <a:bodyPr wrap="square" anchor="t" lIns="0" rIns="0" tIns="0" bIns="0">
            <a:spAutoFit/>
          </a:bodyPr>
          <a:lstStyle/>
          <a:p>
            <a:pPr>
              <a:buNone/>
            </a:pPr>
            <a:r>
              <a:rPr sz="1400" b="1" i="0">
                <a:solidFill>
                  <a:srgbClr val="8CC4EC"/>
                </a:solidFill>
                <a:latin typeface="Calibri"/>
              </a:rPr>
              <a:t>The landform classes are terrain classes</a:t>
            </a:r>
          </a:p>
          <a:p>
            <a:pPr>
              <a:spcBef>
                <a:spcPts val="300"/>
              </a:spcBef>
              <a:buNone/>
            </a:pPr>
            <a:r>
              <a:rPr sz="1300" b="0" i="0">
                <a:solidFill>
                  <a:srgbClr val="EAF0F7"/>
                </a:solidFill>
                <a:latin typeface="Calibri"/>
              </a:rPr>
              <a:t>Slope and relief alone score as well as all seven bands. On the geologic map the classes sit where terrain puts them, and "lava tube" lands on volcano flanks rather than lava plains.</a:t>
            </a:r>
          </a:p>
        </p:txBody>
      </p:sp>
      <p:sp>
        <p:nvSpPr>
          <p:cNvPr id="8" name="Rounded Rectangle 7"/>
          <p:cNvSpPr/>
          <p:nvPr/>
        </p:nvSpPr>
        <p:spPr>
          <a:xfrm>
            <a:off x="711200" y="3149600"/>
            <a:ext cx="5295900" cy="15494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02000"/>
            <a:ext cx="4889500" cy="1295400"/>
          </a:xfrm>
          <a:prstGeom prst="rect">
            <a:avLst/>
          </a:prstGeom>
          <a:noFill/>
        </p:spPr>
        <p:txBody>
          <a:bodyPr wrap="square" anchor="t" lIns="0" rIns="0" tIns="0" bIns="0">
            <a:spAutoFit/>
          </a:bodyPr>
          <a:lstStyle/>
          <a:p>
            <a:pPr>
              <a:buNone/>
            </a:pPr>
            <a:r>
              <a:rPr sz="1400" b="1" i="0">
                <a:solidFill>
                  <a:srgbClr val="8CC4EC"/>
                </a:solidFill>
                <a:latin typeface="Calibri"/>
              </a:rPr>
              <a:t>Five "Crater" labels are volcanoes</a:t>
            </a:r>
          </a:p>
          <a:p>
            <a:pPr>
              <a:spcBef>
                <a:spcPts val="300"/>
              </a:spcBef>
              <a:buNone/>
            </a:pPr>
            <a:r>
              <a:rPr sz="1300" b="0" i="0">
                <a:solidFill>
                  <a:srgbClr val="EAF0F7"/>
                </a:solidFill>
                <a:latin typeface="Calibri"/>
              </a:rPr>
              <a:t>Arsia Mons alone is 31% of the held-out Crater area; a seven-class scheme is proposed for the final.</a:t>
            </a:r>
          </a:p>
        </p:txBody>
      </p:sp>
      <p:sp>
        <p:nvSpPr>
          <p:cNvPr id="10" name="Rounded Rectangle 9"/>
          <p:cNvSpPr/>
          <p:nvPr/>
        </p:nvSpPr>
        <p:spPr>
          <a:xfrm>
            <a:off x="6184900" y="3149600"/>
            <a:ext cx="5295900" cy="15494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8100" y="3302000"/>
            <a:ext cx="4889500" cy="1295400"/>
          </a:xfrm>
          <a:prstGeom prst="rect">
            <a:avLst/>
          </a:prstGeom>
          <a:noFill/>
        </p:spPr>
        <p:txBody>
          <a:bodyPr wrap="square" anchor="t" lIns="0" rIns="0" tIns="0" bIns="0">
            <a:spAutoFit/>
          </a:bodyPr>
          <a:lstStyle/>
          <a:p>
            <a:pPr>
              <a:buNone/>
            </a:pPr>
            <a:r>
              <a:rPr sz="1400" b="1" i="0">
                <a:solidFill>
                  <a:srgbClr val="8CC4EC"/>
                </a:solidFill>
                <a:latin typeface="Calibri"/>
              </a:rPr>
              <a:t>Lava flows come from the geologic map</a:t>
            </a:r>
          </a:p>
          <a:p>
            <a:pPr>
              <a:spcBef>
                <a:spcPts val="300"/>
              </a:spcBef>
              <a:buNone/>
            </a:pPr>
            <a:r>
              <a:rPr sz="1300" b="0" i="0">
                <a:solidFill>
                  <a:srgbClr val="EAF0F7"/>
                </a:solidFill>
                <a:latin typeface="Calibri"/>
              </a:rPr>
              <a:t>These bands cannot tell volcanic plains from other plains, and a fifth "volcanic" class scored below chance. Lava flows are taken from the USGS map's volcanic units.</a:t>
            </a:r>
          </a:p>
        </p:txBody>
      </p:sp>
      <p:sp>
        <p:nvSpPr>
          <p:cNvPr id="12" name="Rounded Rectangle 11"/>
          <p:cNvSpPr/>
          <p:nvPr/>
        </p:nvSpPr>
        <p:spPr>
          <a:xfrm>
            <a:off x="711200" y="4876800"/>
            <a:ext cx="5295900" cy="15494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029200"/>
            <a:ext cx="4889500" cy="1295400"/>
          </a:xfrm>
          <a:prstGeom prst="rect">
            <a:avLst/>
          </a:prstGeom>
          <a:noFill/>
        </p:spPr>
        <p:txBody>
          <a:bodyPr wrap="square" anchor="t" lIns="0" rIns="0" tIns="0" bIns="0">
            <a:spAutoFit/>
          </a:bodyPr>
          <a:lstStyle/>
          <a:p>
            <a:pPr>
              <a:buNone/>
            </a:pPr>
            <a:r>
              <a:rPr sz="1400" b="1" i="0">
                <a:solidFill>
                  <a:srgbClr val="8CC4EC"/>
                </a:solidFill>
                <a:latin typeface="Calibri"/>
              </a:rPr>
              <a:t>Closed depressions are not a crater count</a:t>
            </a:r>
          </a:p>
          <a:p>
            <a:pPr>
              <a:spcBef>
                <a:spcPts val="300"/>
              </a:spcBef>
              <a:buNone/>
            </a:pPr>
            <a:r>
              <a:rPr sz="1300" b="0" i="0">
                <a:solidFill>
                  <a:srgbClr val="EAF0F7"/>
                </a:solidFill>
                <a:latin typeface="Calibri"/>
              </a:rPr>
              <a:t>Of the candidates ≥ 1 km, 11–13% in the type areas and 15.3% across ±60° are catalogued craters; from 5 km up most are (62.2%). The Robbins catalogue (385,049 craters) is the crater reference.</a:t>
            </a:r>
          </a:p>
        </p:txBody>
      </p:sp>
      <p:sp>
        <p:nvSpPr>
          <p:cNvPr id="14" name="Rounded Rectangle 13"/>
          <p:cNvSpPr/>
          <p:nvPr/>
        </p:nvSpPr>
        <p:spPr>
          <a:xfrm>
            <a:off x="6184900" y="4876800"/>
            <a:ext cx="5295900" cy="15494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8100" y="5029200"/>
            <a:ext cx="4889500" cy="1295400"/>
          </a:xfrm>
          <a:prstGeom prst="rect">
            <a:avLst/>
          </a:prstGeom>
          <a:noFill/>
        </p:spPr>
        <p:txBody>
          <a:bodyPr wrap="square" anchor="t" lIns="0" rIns="0" tIns="0" bIns="0">
            <a:spAutoFit/>
          </a:bodyPr>
          <a:lstStyle/>
          <a:p>
            <a:pPr>
              <a:buNone/>
            </a:pPr>
            <a:r>
              <a:rPr sz="1400" b="1" i="0">
                <a:solidFill>
                  <a:srgbClr val="8CC4EC"/>
                </a:solidFill>
                <a:latin typeface="Calibri"/>
              </a:rPr>
              <a:t>Four hypotheses tested, none supported</a:t>
            </a:r>
          </a:p>
          <a:p>
            <a:pPr>
              <a:spcBef>
                <a:spcPts val="300"/>
              </a:spcBef>
              <a:buNone/>
            </a:pPr>
            <a:r>
              <a:rPr sz="1300" b="0" i="0">
                <a:solidFill>
                  <a:srgbClr val="EAF0F7"/>
                </a:solidFill>
                <a:latin typeface="Calibri"/>
              </a:rPr>
              <a:t>No band separates the geologic map's lava contacts much better than chance, though the map is too coarse to settle H1; the volcanic channels are shallower, and thermal response separates nothing (H2, stage 1); the composite's classes are the least reproducible input (H3); no channel threshold keeps first-order streams on real slopes (Q5).</a:t>
            </a:r>
          </a:p>
        </p:txBody>
      </p:sp>
      <p:sp>
        <p:nvSpPr>
          <p:cNvPr id="16" name="TextBox 15"/>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17" name="TextBox 16"/>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WHAT SLOWS THE WORK</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Project Issues and Hurdles</a:t>
            </a:r>
          </a:p>
        </p:txBody>
      </p:sp>
      <p:sp>
        <p:nvSpPr>
          <p:cNvPr id="4" name="Rounded Rectangle 3"/>
          <p:cNvSpPr/>
          <p:nvPr/>
        </p:nvSpPr>
        <p:spPr>
          <a:xfrm>
            <a:off x="711200" y="1422400"/>
            <a:ext cx="10769600" cy="14986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1422400"/>
            <a:ext cx="3175000" cy="1498600"/>
          </a:xfrm>
          <a:prstGeom prst="rect">
            <a:avLst/>
          </a:prstGeom>
          <a:noFill/>
        </p:spPr>
        <p:txBody>
          <a:bodyPr wrap="square" anchor="ctr" lIns="0" rIns="0" tIns="0" bIns="0">
            <a:spAutoFit/>
          </a:bodyPr>
          <a:lstStyle/>
          <a:p>
            <a:pPr>
              <a:buNone/>
            </a:pPr>
            <a:r>
              <a:rPr sz="2000" b="1" i="0">
                <a:solidFill>
                  <a:srgbClr val="8CC4EC"/>
                </a:solidFill>
                <a:latin typeface="Calibri"/>
              </a:rPr>
              <a:t>The review has not started</a:t>
            </a:r>
          </a:p>
        </p:txBody>
      </p:sp>
      <p:sp>
        <p:nvSpPr>
          <p:cNvPr id="6" name="TextBox 5"/>
          <p:cNvSpPr txBox="1"/>
          <p:nvPr/>
        </p:nvSpPr>
        <p:spPr>
          <a:xfrm>
            <a:off x="4521200" y="1422400"/>
            <a:ext cx="6654800" cy="1498600"/>
          </a:xfrm>
          <a:prstGeom prst="rect">
            <a:avLst/>
          </a:prstGeom>
          <a:noFill/>
        </p:spPr>
        <p:txBody>
          <a:bodyPr wrap="square" anchor="ctr" lIns="0" rIns="0" tIns="0" bIns="0">
            <a:spAutoFit/>
          </a:bodyPr>
          <a:lstStyle/>
          <a:p>
            <a:pPr>
              <a:buNone/>
            </a:pPr>
            <a:r>
              <a:rPr sz="1700" b="0" i="0">
                <a:solidFill>
                  <a:srgbClr val="EAF0F7"/>
                </a:solidFill>
                <a:latin typeface="Calibri"/>
              </a:rPr>
              <a:t>0 of 9,287 candidates are reviewed; H1 and H2 wait for digitised features.</a:t>
            </a:r>
          </a:p>
        </p:txBody>
      </p:sp>
      <p:sp>
        <p:nvSpPr>
          <p:cNvPr id="7" name="Rounded Rectangle 6"/>
          <p:cNvSpPr/>
          <p:nvPr/>
        </p:nvSpPr>
        <p:spPr>
          <a:xfrm>
            <a:off x="711200" y="3098800"/>
            <a:ext cx="10769600" cy="14986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6800" y="3098800"/>
            <a:ext cx="3175000" cy="1498600"/>
          </a:xfrm>
          <a:prstGeom prst="rect">
            <a:avLst/>
          </a:prstGeom>
          <a:noFill/>
        </p:spPr>
        <p:txBody>
          <a:bodyPr wrap="square" anchor="ctr" lIns="0" rIns="0" tIns="0" bIns="0">
            <a:spAutoFit/>
          </a:bodyPr>
          <a:lstStyle/>
          <a:p>
            <a:pPr>
              <a:buNone/>
            </a:pPr>
            <a:r>
              <a:rPr sz="2000" b="1" i="0">
                <a:solidFill>
                  <a:srgbClr val="8CC4EC"/>
                </a:solidFill>
                <a:latin typeface="Calibri"/>
              </a:rPr>
              <a:t>428.7 GB on one USB drive</a:t>
            </a:r>
          </a:p>
        </p:txBody>
      </p:sp>
      <p:sp>
        <p:nvSpPr>
          <p:cNvPr id="9" name="TextBox 8"/>
          <p:cNvSpPr txBox="1"/>
          <p:nvPr/>
        </p:nvSpPr>
        <p:spPr>
          <a:xfrm>
            <a:off x="4521200" y="3098800"/>
            <a:ext cx="6654800" cy="1498600"/>
          </a:xfrm>
          <a:prstGeom prst="rect">
            <a:avLst/>
          </a:prstGeom>
          <a:noFill/>
        </p:spPr>
        <p:txBody>
          <a:bodyPr wrap="square" anchor="ctr" lIns="0" rIns="0" tIns="0" bIns="0">
            <a:spAutoFit/>
          </a:bodyPr>
          <a:lstStyle/>
          <a:p>
            <a:pPr>
              <a:buNone/>
            </a:pPr>
            <a:r>
              <a:rPr sz="1700" b="0" i="0">
                <a:solidFill>
                  <a:srgbClr val="EAF0F7"/>
                </a:solidFill>
                <a:latin typeface="Calibri"/>
              </a:rPr>
              <a:t>Reads cap near 112 MB/s, and the drive has dropped off mid-write, so big outputs are built on internal disk first.</a:t>
            </a:r>
          </a:p>
        </p:txBody>
      </p:sp>
      <p:sp>
        <p:nvSpPr>
          <p:cNvPr id="10" name="Rounded Rectangle 9"/>
          <p:cNvSpPr/>
          <p:nvPr/>
        </p:nvSpPr>
        <p:spPr>
          <a:xfrm>
            <a:off x="711200" y="4775200"/>
            <a:ext cx="10769600" cy="14986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6800" y="4775200"/>
            <a:ext cx="3175000" cy="1498600"/>
          </a:xfrm>
          <a:prstGeom prst="rect">
            <a:avLst/>
          </a:prstGeom>
          <a:noFill/>
        </p:spPr>
        <p:txBody>
          <a:bodyPr wrap="square" anchor="ctr" lIns="0" rIns="0" tIns="0" bIns="0">
            <a:spAutoFit/>
          </a:bodyPr>
          <a:lstStyle/>
          <a:p>
            <a:pPr>
              <a:buNone/>
            </a:pPr>
            <a:r>
              <a:rPr sz="2000" b="1" i="0">
                <a:solidFill>
                  <a:srgbClr val="8CC4EC"/>
                </a:solidFill>
                <a:latin typeface="Calibri"/>
              </a:rPr>
              <a:t>Solved since September</a:t>
            </a:r>
          </a:p>
        </p:txBody>
      </p:sp>
      <p:sp>
        <p:nvSpPr>
          <p:cNvPr id="12" name="TextBox 11"/>
          <p:cNvSpPr txBox="1"/>
          <p:nvPr/>
        </p:nvSpPr>
        <p:spPr>
          <a:xfrm>
            <a:off x="4521200" y="4775200"/>
            <a:ext cx="6654800" cy="1498600"/>
          </a:xfrm>
          <a:prstGeom prst="rect">
            <a:avLst/>
          </a:prstGeom>
          <a:noFill/>
        </p:spPr>
        <p:txBody>
          <a:bodyPr wrap="square" anchor="ctr" lIns="0" rIns="0" tIns="0" bIns="0">
            <a:spAutoFit/>
          </a:bodyPr>
          <a:lstStyle/>
          <a:p>
            <a:pPr>
              <a:buNone/>
            </a:pPr>
            <a:r>
              <a:rPr sz="1700" b="0" i="0">
                <a:solidFill>
                  <a:srgbClr val="EAF0F7"/>
                </a:solidFill>
                <a:latin typeface="Calibri"/>
              </a:rPr>
              <a:t>Three coordinate frames, the z-factor defect, four failed global composites, the missing night mosaic, a defective DEM column at 180°.</a:t>
            </a:r>
          </a:p>
        </p:txBody>
      </p:sp>
      <p:sp>
        <p:nvSpPr>
          <p:cNvPr id="13" name="TextBox 12"/>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14" name="TextBox 13"/>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TextBox 1"/>
          <p:cNvSpPr txBox="1"/>
          <p:nvPr/>
        </p:nvSpPr>
        <p:spPr>
          <a:xfrm>
            <a:off x="711200" y="431800"/>
            <a:ext cx="10769600" cy="177800"/>
          </a:xfrm>
          <a:prstGeom prst="rect">
            <a:avLst/>
          </a:prstGeom>
          <a:noFill/>
        </p:spPr>
        <p:txBody>
          <a:bodyPr wrap="square" anchor="t" lIns="0" rIns="0" tIns="0" bIns="0">
            <a:spAutoFit/>
          </a:bodyPr>
          <a:lstStyle/>
          <a:p>
            <a:pPr algn="l">
              <a:buNone/>
            </a:pPr>
            <a:r>
              <a:rPr sz="1050" b="1" i="0" spc="160">
                <a:solidFill>
                  <a:srgbClr val="8CC4EC"/>
                </a:solidFill>
                <a:latin typeface="Calibri"/>
              </a:rPr>
              <a:t>FOR THE FINAL</a:t>
            </a:r>
          </a:p>
        </p:txBody>
      </p:sp>
      <p:sp>
        <p:nvSpPr>
          <p:cNvPr id="3" name="TextBox 2"/>
          <p:cNvSpPr txBox="1"/>
          <p:nvPr/>
        </p:nvSpPr>
        <p:spPr>
          <a:xfrm>
            <a:off x="711200" y="635000"/>
            <a:ext cx="10769600" cy="558800"/>
          </a:xfrm>
          <a:prstGeom prst="rect">
            <a:avLst/>
          </a:prstGeom>
          <a:noFill/>
        </p:spPr>
        <p:txBody>
          <a:bodyPr wrap="square" anchor="t" lIns="0" rIns="0" tIns="0" bIns="0">
            <a:spAutoFit/>
          </a:bodyPr>
          <a:lstStyle/>
          <a:p>
            <a:pPr algn="l">
              <a:buNone/>
            </a:pPr>
            <a:r>
              <a:rPr sz="2800" b="0" i="0">
                <a:solidFill>
                  <a:srgbClr val="FFFFFF"/>
                </a:solidFill>
                <a:latin typeface="Cambria"/>
              </a:rPr>
              <a:t>Next Steps</a:t>
            </a:r>
          </a:p>
        </p:txBody>
      </p:sp>
      <p:sp>
        <p:nvSpPr>
          <p:cNvPr id="4" name="Rounded Rectangle 3"/>
          <p:cNvSpPr/>
          <p:nvPr/>
        </p:nvSpPr>
        <p:spPr>
          <a:xfrm>
            <a:off x="711200" y="1422400"/>
            <a:ext cx="2540000" cy="20320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89000" y="1600200"/>
            <a:ext cx="330200" cy="330200"/>
          </a:xfrm>
          <a:prstGeom prst="ellipse">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0E2841"/>
                </a:solidFill>
                <a:latin typeface="Cambria"/>
              </a:rPr>
              <a:t>1</a:t>
            </a:r>
          </a:p>
        </p:txBody>
      </p:sp>
      <p:sp>
        <p:nvSpPr>
          <p:cNvPr id="6" name="TextBox 5"/>
          <p:cNvSpPr txBox="1"/>
          <p:nvPr/>
        </p:nvSpPr>
        <p:spPr>
          <a:xfrm>
            <a:off x="889000" y="2057400"/>
            <a:ext cx="2184400" cy="1574800"/>
          </a:xfrm>
          <a:prstGeom prst="rect">
            <a:avLst/>
          </a:prstGeom>
          <a:noFill/>
        </p:spPr>
        <p:txBody>
          <a:bodyPr wrap="square" anchor="t" lIns="0" rIns="0" tIns="0" bIns="0">
            <a:spAutoFit/>
          </a:bodyPr>
          <a:lstStyle/>
          <a:p>
            <a:pPr algn="l">
              <a:buNone/>
            </a:pPr>
            <a:r>
              <a:rPr sz="1300" b="0" i="0">
                <a:solidFill>
                  <a:srgbClr val="EAF0F7"/>
                </a:solidFill>
                <a:latin typeface="Calibri"/>
              </a:rPr>
              <a:t>Review the 9,287 machine candidates at Ius Chasma and Athabasca Valles; draw breached craters and lava margins</a:t>
            </a:r>
          </a:p>
        </p:txBody>
      </p:sp>
      <p:sp>
        <p:nvSpPr>
          <p:cNvPr id="7" name="Rounded Rectangle 6"/>
          <p:cNvSpPr/>
          <p:nvPr/>
        </p:nvSpPr>
        <p:spPr>
          <a:xfrm>
            <a:off x="3454400" y="1422400"/>
            <a:ext cx="2540000" cy="20320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632200" y="1600200"/>
            <a:ext cx="330200" cy="330200"/>
          </a:xfrm>
          <a:prstGeom prst="ellipse">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0E2841"/>
                </a:solidFill>
                <a:latin typeface="Cambria"/>
              </a:rPr>
              <a:t>2</a:t>
            </a:r>
          </a:p>
        </p:txBody>
      </p:sp>
      <p:sp>
        <p:nvSpPr>
          <p:cNvPr id="9" name="TextBox 8"/>
          <p:cNvSpPr txBox="1"/>
          <p:nvPr/>
        </p:nvSpPr>
        <p:spPr>
          <a:xfrm>
            <a:off x="3632200" y="2057400"/>
            <a:ext cx="2184400" cy="1574800"/>
          </a:xfrm>
          <a:prstGeom prst="rect">
            <a:avLst/>
          </a:prstGeom>
          <a:noFill/>
        </p:spPr>
        <p:txBody>
          <a:bodyPr wrap="square" anchor="t" lIns="0" rIns="0" tIns="0" bIns="0">
            <a:spAutoFit/>
          </a:bodyPr>
          <a:lstStyle/>
          <a:p>
            <a:pPr algn="l">
              <a:buNone/>
            </a:pPr>
            <a:r>
              <a:rPr sz="1300" b="0" i="0">
                <a:solidFill>
                  <a:srgbClr val="EAF0F7"/>
                </a:solidFill>
                <a:latin typeface="Calibri"/>
              </a:rPr>
              <a:t>Score the candidates against the reviewed features on the validation sheet; retest H1 on digitised margins and H2 on reviewed channels with their origin set</a:t>
            </a:r>
          </a:p>
        </p:txBody>
      </p:sp>
      <p:sp>
        <p:nvSpPr>
          <p:cNvPr id="10" name="Rounded Rectangle 9"/>
          <p:cNvSpPr/>
          <p:nvPr/>
        </p:nvSpPr>
        <p:spPr>
          <a:xfrm>
            <a:off x="6197600" y="1422400"/>
            <a:ext cx="2540000" cy="20320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375400" y="1600200"/>
            <a:ext cx="330200" cy="330200"/>
          </a:xfrm>
          <a:prstGeom prst="ellipse">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0E2841"/>
                </a:solidFill>
                <a:latin typeface="Cambria"/>
              </a:rPr>
              <a:t>3</a:t>
            </a:r>
          </a:p>
        </p:txBody>
      </p:sp>
      <p:sp>
        <p:nvSpPr>
          <p:cNvPr id="12" name="TextBox 11"/>
          <p:cNvSpPr txBox="1"/>
          <p:nvPr/>
        </p:nvSpPr>
        <p:spPr>
          <a:xfrm>
            <a:off x="6375400" y="2057400"/>
            <a:ext cx="2184400" cy="1574800"/>
          </a:xfrm>
          <a:prstGeom prst="rect">
            <a:avLst/>
          </a:prstGeom>
          <a:noFill/>
        </p:spPr>
        <p:txBody>
          <a:bodyPr wrap="square" anchor="t" lIns="0" rIns="0" tIns="0" bIns="0">
            <a:spAutoFit/>
          </a:bodyPr>
          <a:lstStyle/>
          <a:p>
            <a:pPr algn="l">
              <a:buNone/>
            </a:pPr>
            <a:r>
              <a:rPr sz="1300" b="0" i="0">
                <a:solidFill>
                  <a:srgbClr val="EAF0F7"/>
                </a:solidFill>
                <a:latin typeface="Calibri"/>
              </a:rPr>
              <a:t>Move to seven classes: review the 1,086 proposed labels, rerun the SVM and U-Net, and score both maps on the same held-out polygons</a:t>
            </a:r>
          </a:p>
        </p:txBody>
      </p:sp>
      <p:sp>
        <p:nvSpPr>
          <p:cNvPr id="13" name="Rounded Rectangle 12"/>
          <p:cNvSpPr/>
          <p:nvPr/>
        </p:nvSpPr>
        <p:spPr>
          <a:xfrm>
            <a:off x="8940800" y="1422400"/>
            <a:ext cx="2540000" cy="2032000"/>
          </a:xfrm>
          <a:prstGeom prst="roundRect">
            <a:avLst>
              <a:gd name="adj" fmla="val 5000"/>
            </a:avLst>
          </a:prstGeom>
          <a:solidFill>
            <a:srgbClr val="163A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18600" y="1600200"/>
            <a:ext cx="330200" cy="330200"/>
          </a:xfrm>
          <a:prstGeom prst="ellipse">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0E2841"/>
                </a:solidFill>
                <a:latin typeface="Cambria"/>
              </a:rPr>
              <a:t>4</a:t>
            </a:r>
          </a:p>
        </p:txBody>
      </p:sp>
      <p:sp>
        <p:nvSpPr>
          <p:cNvPr id="15" name="TextBox 14"/>
          <p:cNvSpPr txBox="1"/>
          <p:nvPr/>
        </p:nvSpPr>
        <p:spPr>
          <a:xfrm>
            <a:off x="9118600" y="2057400"/>
            <a:ext cx="2184400" cy="1574800"/>
          </a:xfrm>
          <a:prstGeom prst="rect">
            <a:avLst/>
          </a:prstGeom>
          <a:noFill/>
        </p:spPr>
        <p:txBody>
          <a:bodyPr wrap="square" anchor="t" lIns="0" rIns="0" tIns="0" bIns="0">
            <a:spAutoFit/>
          </a:bodyPr>
          <a:lstStyle/>
          <a:p>
            <a:pPr algn="l">
              <a:buNone/>
            </a:pPr>
            <a:r>
              <a:rPr sz="1300" b="0" i="0">
                <a:solidFill>
                  <a:srgbClr val="EAF0F7"/>
                </a:solidFill>
                <a:latin typeface="Calibri"/>
              </a:rPr>
              <a:t>Deep learning: set aside validation blocks before any further tuning, so the held-out blocks stay a clean test</a:t>
            </a:r>
          </a:p>
        </p:txBody>
      </p:sp>
      <p:sp>
        <p:nvSpPr>
          <p:cNvPr id="16" name="Rectangle 15"/>
          <p:cNvSpPr/>
          <p:nvPr/>
        </p:nvSpPr>
        <p:spPr>
          <a:xfrm>
            <a:off x="711200" y="4381500"/>
            <a:ext cx="10769600" cy="25400"/>
          </a:xfrm>
          <a:prstGeom prst="rect">
            <a:avLst/>
          </a:prstGeom>
          <a:solidFill>
            <a:srgbClr val="2E50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538816" y="4324350"/>
            <a:ext cx="139700" cy="139700"/>
          </a:xfrm>
          <a:prstGeom prst="ellipse">
            <a:avLst/>
          </a:prstGeom>
          <a:solidFill>
            <a:srgbClr val="A9BA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399" y="4013200"/>
            <a:ext cx="1642533" cy="203200"/>
          </a:xfrm>
          <a:prstGeom prst="rect">
            <a:avLst/>
          </a:prstGeom>
          <a:noFill/>
        </p:spPr>
        <p:txBody>
          <a:bodyPr wrap="square" anchor="t" lIns="0" rIns="0" tIns="0" bIns="0">
            <a:spAutoFit/>
          </a:bodyPr>
          <a:lstStyle/>
          <a:p>
            <a:pPr algn="ctr">
              <a:buNone/>
            </a:pPr>
            <a:r>
              <a:rPr sz="1200" b="1" i="0">
                <a:solidFill>
                  <a:srgbClr val="EAF0F7"/>
                </a:solidFill>
                <a:latin typeface="Calibri"/>
              </a:rPr>
              <a:t>8–26 Oct</a:t>
            </a:r>
          </a:p>
        </p:txBody>
      </p:sp>
      <p:sp>
        <p:nvSpPr>
          <p:cNvPr id="19" name="TextBox 18"/>
          <p:cNvSpPr txBox="1"/>
          <p:nvPr/>
        </p:nvSpPr>
        <p:spPr>
          <a:xfrm>
            <a:off x="787399" y="4622800"/>
            <a:ext cx="1642533" cy="1397000"/>
          </a:xfrm>
          <a:prstGeom prst="rect">
            <a:avLst/>
          </a:prstGeom>
          <a:noFill/>
        </p:spPr>
        <p:txBody>
          <a:bodyPr wrap="square" anchor="t" lIns="0" rIns="0" tIns="0" bIns="0">
            <a:spAutoFit/>
          </a:bodyPr>
          <a:lstStyle/>
          <a:p>
            <a:pPr algn="ctr">
              <a:buNone/>
            </a:pPr>
            <a:r>
              <a:rPr sz="1100" b="0" i="0">
                <a:solidFill>
                  <a:srgbClr val="A9BACD"/>
                </a:solidFill>
                <a:latin typeface="Calibri"/>
              </a:rPr>
              <a:t>Pyramids, ±60° crater and channel pass, 200 m map, T1 in Pro, the deep-learning detector and U-Net; seven classes proposed</a:t>
            </a:r>
          </a:p>
        </p:txBody>
      </p:sp>
      <p:sp>
        <p:nvSpPr>
          <p:cNvPr id="20" name="Oval 19"/>
          <p:cNvSpPr/>
          <p:nvPr/>
        </p:nvSpPr>
        <p:spPr>
          <a:xfrm>
            <a:off x="3333750" y="4324350"/>
            <a:ext cx="139700" cy="139700"/>
          </a:xfrm>
          <a:prstGeom prst="ellipse">
            <a:avLst/>
          </a:prstGeom>
          <a:solidFill>
            <a:srgbClr val="A9BA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82333" y="4013200"/>
            <a:ext cx="1642533" cy="203200"/>
          </a:xfrm>
          <a:prstGeom prst="rect">
            <a:avLst/>
          </a:prstGeom>
          <a:noFill/>
        </p:spPr>
        <p:txBody>
          <a:bodyPr wrap="square" anchor="t" lIns="0" rIns="0" tIns="0" bIns="0">
            <a:spAutoFit/>
          </a:bodyPr>
          <a:lstStyle/>
          <a:p>
            <a:pPr algn="ctr">
              <a:buNone/>
            </a:pPr>
            <a:r>
              <a:rPr sz="1200" b="1" i="0">
                <a:solidFill>
                  <a:srgbClr val="EAF0F7"/>
                </a:solidFill>
                <a:latin typeface="Calibri"/>
              </a:rPr>
              <a:t>26 Oct</a:t>
            </a:r>
          </a:p>
        </p:txBody>
      </p:sp>
      <p:sp>
        <p:nvSpPr>
          <p:cNvPr id="22" name="TextBox 21"/>
          <p:cNvSpPr txBox="1"/>
          <p:nvPr/>
        </p:nvSpPr>
        <p:spPr>
          <a:xfrm>
            <a:off x="2582333" y="4622800"/>
            <a:ext cx="1642533" cy="1397000"/>
          </a:xfrm>
          <a:prstGeom prst="rect">
            <a:avLst/>
          </a:prstGeom>
          <a:noFill/>
        </p:spPr>
        <p:txBody>
          <a:bodyPr wrap="square" anchor="t" lIns="0" rIns="0" tIns="0" bIns="0">
            <a:spAutoFit/>
          </a:bodyPr>
          <a:lstStyle/>
          <a:p>
            <a:pPr algn="ctr">
              <a:buNone/>
            </a:pPr>
            <a:r>
              <a:rPr sz="1100" b="0" i="0">
                <a:solidFill>
                  <a:srgbClr val="A9BACD"/>
                </a:solidFill>
                <a:latin typeface="Calibri"/>
              </a:rPr>
              <a:t>Interim data cut; later results go to the final report</a:t>
            </a:r>
          </a:p>
        </p:txBody>
      </p:sp>
      <p:sp>
        <p:nvSpPr>
          <p:cNvPr id="23" name="Oval 22"/>
          <p:cNvSpPr/>
          <p:nvPr/>
        </p:nvSpPr>
        <p:spPr>
          <a:xfrm>
            <a:off x="5128683" y="4324350"/>
            <a:ext cx="139700" cy="139700"/>
          </a:xfrm>
          <a:prstGeom prst="ellipse">
            <a:avLst/>
          </a:prstGeom>
          <a:solidFill>
            <a:srgbClr val="A9BA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7266" y="4013200"/>
            <a:ext cx="1642533" cy="203200"/>
          </a:xfrm>
          <a:prstGeom prst="rect">
            <a:avLst/>
          </a:prstGeom>
          <a:noFill/>
        </p:spPr>
        <p:txBody>
          <a:bodyPr wrap="square" anchor="t" lIns="0" rIns="0" tIns="0" bIns="0">
            <a:spAutoFit/>
          </a:bodyPr>
          <a:lstStyle/>
          <a:p>
            <a:pPr algn="ctr">
              <a:buNone/>
            </a:pPr>
            <a:r>
              <a:rPr sz="1200" b="1" i="0">
                <a:solidFill>
                  <a:srgbClr val="EAF0F7"/>
                </a:solidFill>
                <a:latin typeface="Calibri"/>
              </a:rPr>
              <a:t>27 Oct – 22 Nov</a:t>
            </a:r>
          </a:p>
        </p:txBody>
      </p:sp>
      <p:sp>
        <p:nvSpPr>
          <p:cNvPr id="25" name="TextBox 24"/>
          <p:cNvSpPr txBox="1"/>
          <p:nvPr/>
        </p:nvSpPr>
        <p:spPr>
          <a:xfrm>
            <a:off x="4377266" y="4622800"/>
            <a:ext cx="1642533" cy="1397000"/>
          </a:xfrm>
          <a:prstGeom prst="rect">
            <a:avLst/>
          </a:prstGeom>
          <a:noFill/>
        </p:spPr>
        <p:txBody>
          <a:bodyPr wrap="square" anchor="t" lIns="0" rIns="0" tIns="0" bIns="0">
            <a:spAutoFit/>
          </a:bodyPr>
          <a:lstStyle/>
          <a:p>
            <a:pPr algn="ctr">
              <a:buNone/>
            </a:pPr>
            <a:r>
              <a:rPr sz="1100" b="0" i="0">
                <a:solidFill>
                  <a:srgbClr val="A9BACD"/>
                </a:solidFill>
                <a:latin typeface="Calibri"/>
              </a:rPr>
              <a:t>Review and digitising; the seven-class labels and maps; H1 and H2 on digitised features; data freeze</a:t>
            </a:r>
          </a:p>
        </p:txBody>
      </p:sp>
      <p:sp>
        <p:nvSpPr>
          <p:cNvPr id="26" name="Oval 25"/>
          <p:cNvSpPr/>
          <p:nvPr/>
        </p:nvSpPr>
        <p:spPr>
          <a:xfrm>
            <a:off x="6891866" y="4292600"/>
            <a:ext cx="203200" cy="203200"/>
          </a:xfrm>
          <a:prstGeom prst="ellipse">
            <a:avLst/>
          </a:prstGeom>
          <a:solidFill>
            <a:srgbClr val="8CC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72199" y="4013200"/>
            <a:ext cx="1642533" cy="203200"/>
          </a:xfrm>
          <a:prstGeom prst="rect">
            <a:avLst/>
          </a:prstGeom>
          <a:noFill/>
        </p:spPr>
        <p:txBody>
          <a:bodyPr wrap="square" anchor="t" lIns="0" rIns="0" tIns="0" bIns="0">
            <a:spAutoFit/>
          </a:bodyPr>
          <a:lstStyle/>
          <a:p>
            <a:pPr algn="ctr">
              <a:buNone/>
            </a:pPr>
            <a:r>
              <a:rPr sz="1200" b="1" i="0">
                <a:solidFill>
                  <a:srgbClr val="8CC4EC"/>
                </a:solidFill>
                <a:latin typeface="Calibri"/>
              </a:rPr>
              <a:t>10 Nov</a:t>
            </a:r>
          </a:p>
        </p:txBody>
      </p:sp>
      <p:sp>
        <p:nvSpPr>
          <p:cNvPr id="28" name="TextBox 27"/>
          <p:cNvSpPr txBox="1"/>
          <p:nvPr/>
        </p:nvSpPr>
        <p:spPr>
          <a:xfrm>
            <a:off x="6172199" y="4622800"/>
            <a:ext cx="1642533" cy="1397000"/>
          </a:xfrm>
          <a:prstGeom prst="rect">
            <a:avLst/>
          </a:prstGeom>
          <a:noFill/>
        </p:spPr>
        <p:txBody>
          <a:bodyPr wrap="square" anchor="t" lIns="0" rIns="0" tIns="0" bIns="0">
            <a:spAutoFit/>
          </a:bodyPr>
          <a:lstStyle/>
          <a:p>
            <a:pPr algn="ctr">
              <a:buNone/>
            </a:pPr>
            <a:r>
              <a:rPr sz="1100" b="0" i="0">
                <a:solidFill>
                  <a:srgbClr val="A9BACD"/>
                </a:solidFill>
                <a:latin typeface="Calibri"/>
              </a:rPr>
              <a:t>Interim presentation</a:t>
            </a:r>
          </a:p>
        </p:txBody>
      </p:sp>
      <p:sp>
        <p:nvSpPr>
          <p:cNvPr id="29" name="Oval 28"/>
          <p:cNvSpPr/>
          <p:nvPr/>
        </p:nvSpPr>
        <p:spPr>
          <a:xfrm>
            <a:off x="8718550" y="4324350"/>
            <a:ext cx="139700" cy="139700"/>
          </a:xfrm>
          <a:prstGeom prst="ellipse">
            <a:avLst/>
          </a:prstGeom>
          <a:solidFill>
            <a:srgbClr val="A9BA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67133" y="4013200"/>
            <a:ext cx="1642533" cy="203200"/>
          </a:xfrm>
          <a:prstGeom prst="rect">
            <a:avLst/>
          </a:prstGeom>
          <a:noFill/>
        </p:spPr>
        <p:txBody>
          <a:bodyPr wrap="square" anchor="t" lIns="0" rIns="0" tIns="0" bIns="0">
            <a:spAutoFit/>
          </a:bodyPr>
          <a:lstStyle/>
          <a:p>
            <a:pPr algn="ctr">
              <a:buNone/>
            </a:pPr>
            <a:r>
              <a:rPr sz="1200" b="1" i="0">
                <a:solidFill>
                  <a:srgbClr val="EAF0F7"/>
                </a:solidFill>
                <a:latin typeface="Calibri"/>
              </a:rPr>
              <a:t>23 Nov – 4 Dec</a:t>
            </a:r>
          </a:p>
        </p:txBody>
      </p:sp>
      <p:sp>
        <p:nvSpPr>
          <p:cNvPr id="31" name="TextBox 30"/>
          <p:cNvSpPr txBox="1"/>
          <p:nvPr/>
        </p:nvSpPr>
        <p:spPr>
          <a:xfrm>
            <a:off x="7967133" y="4622800"/>
            <a:ext cx="1642533" cy="1397000"/>
          </a:xfrm>
          <a:prstGeom prst="rect">
            <a:avLst/>
          </a:prstGeom>
          <a:noFill/>
        </p:spPr>
        <p:txBody>
          <a:bodyPr wrap="square" anchor="t" lIns="0" rIns="0" tIns="0" bIns="0">
            <a:spAutoFit/>
          </a:bodyPr>
          <a:lstStyle/>
          <a:p>
            <a:pPr algn="ctr">
              <a:buNone/>
            </a:pPr>
            <a:r>
              <a:rPr sz="1100" b="0" i="0">
                <a:solidFill>
                  <a:srgbClr val="A9BACD"/>
                </a:solidFill>
                <a:latin typeface="Calibri"/>
              </a:rPr>
              <a:t>Final report and presentation</a:t>
            </a:r>
          </a:p>
        </p:txBody>
      </p:sp>
      <p:sp>
        <p:nvSpPr>
          <p:cNvPr id="32" name="Oval 31"/>
          <p:cNvSpPr/>
          <p:nvPr/>
        </p:nvSpPr>
        <p:spPr>
          <a:xfrm>
            <a:off x="10513483" y="4324350"/>
            <a:ext cx="139700" cy="139700"/>
          </a:xfrm>
          <a:prstGeom prst="ellipse">
            <a:avLst/>
          </a:prstGeom>
          <a:solidFill>
            <a:srgbClr val="A9BA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62066" y="4013200"/>
            <a:ext cx="1642533" cy="203200"/>
          </a:xfrm>
          <a:prstGeom prst="rect">
            <a:avLst/>
          </a:prstGeom>
          <a:noFill/>
        </p:spPr>
        <p:txBody>
          <a:bodyPr wrap="square" anchor="t" lIns="0" rIns="0" tIns="0" bIns="0">
            <a:spAutoFit/>
          </a:bodyPr>
          <a:lstStyle/>
          <a:p>
            <a:pPr algn="ctr">
              <a:buNone/>
            </a:pPr>
            <a:r>
              <a:rPr sz="1200" b="1" i="0">
                <a:solidFill>
                  <a:srgbClr val="EAF0F7"/>
                </a:solidFill>
                <a:latin typeface="Calibri"/>
              </a:rPr>
              <a:t>8 Dec</a:t>
            </a:r>
          </a:p>
        </p:txBody>
      </p:sp>
      <p:sp>
        <p:nvSpPr>
          <p:cNvPr id="34" name="TextBox 33"/>
          <p:cNvSpPr txBox="1"/>
          <p:nvPr/>
        </p:nvSpPr>
        <p:spPr>
          <a:xfrm>
            <a:off x="9762066" y="4622800"/>
            <a:ext cx="1642533" cy="1397000"/>
          </a:xfrm>
          <a:prstGeom prst="rect">
            <a:avLst/>
          </a:prstGeom>
          <a:noFill/>
        </p:spPr>
        <p:txBody>
          <a:bodyPr wrap="square" anchor="t" lIns="0" rIns="0" tIns="0" bIns="0">
            <a:spAutoFit/>
          </a:bodyPr>
          <a:lstStyle/>
          <a:p>
            <a:pPr algn="ctr">
              <a:buNone/>
            </a:pPr>
            <a:r>
              <a:rPr sz="1100" b="0" i="0">
                <a:solidFill>
                  <a:srgbClr val="A9BACD"/>
                </a:solidFill>
                <a:latin typeface="Calibri"/>
              </a:rPr>
              <a:t>Final due</a:t>
            </a:r>
          </a:p>
        </p:txBody>
      </p:sp>
      <p:sp>
        <p:nvSpPr>
          <p:cNvPr id="35" name="TextBox 34"/>
          <p:cNvSpPr txBox="1"/>
          <p:nvPr/>
        </p:nvSpPr>
        <p:spPr>
          <a:xfrm>
            <a:off x="711200" y="6553200"/>
            <a:ext cx="6350000" cy="152400"/>
          </a:xfrm>
          <a:prstGeom prst="rect">
            <a:avLst/>
          </a:prstGeom>
          <a:noFill/>
        </p:spPr>
        <p:txBody>
          <a:bodyPr wrap="square" anchor="t" lIns="0" rIns="0" tIns="0" bIns="0">
            <a:spAutoFit/>
          </a:bodyPr>
          <a:lstStyle/>
          <a:p>
            <a:pPr algn="l">
              <a:buNone/>
            </a:pPr>
            <a:r>
              <a:rPr sz="900" b="0" i="0" spc="40">
                <a:solidFill>
                  <a:srgbClr val="A9BACD"/>
                </a:solidFill>
                <a:latin typeface="Calibri"/>
              </a:rPr>
              <a:t>Mars Global Mosaic  ·  Interim presentation</a:t>
            </a:r>
          </a:p>
        </p:txBody>
      </p:sp>
      <p:sp>
        <p:nvSpPr>
          <p:cNvPr id="36" name="TextBox 35"/>
          <p:cNvSpPr txBox="1"/>
          <p:nvPr/>
        </p:nvSpPr>
        <p:spPr>
          <a:xfrm>
            <a:off x="10718800" y="6553200"/>
            <a:ext cx="762000" cy="152400"/>
          </a:xfrm>
          <a:prstGeom prst="rect">
            <a:avLst/>
          </a:prstGeom>
          <a:noFill/>
        </p:spPr>
        <p:txBody>
          <a:bodyPr wrap="square" anchor="t" lIns="0" rIns="0" tIns="0" bIns="0">
            <a:spAutoFit/>
          </a:bodyPr>
          <a:lstStyle/>
          <a:p>
            <a:pPr algn="r">
              <a:buNone/>
            </a:pPr>
            <a:r>
              <a:rPr sz="900" b="1" i="0">
                <a:solidFill>
                  <a:srgbClr val="A9BACD"/>
                </a:solidFill>
                <a:latin typeface="Calibri"/>
              </a:rP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Mars Global Mosaic: Mapping Lava Flows, Fluvial Channels, and Impact Craters in Visible and Infrared</dc:title>
  <dc:subject>Interim presentation</dc:subject>
  <dc:creator>Logan Edwards</dc:creator>
  <cp:keywords/>
  <dc:description/>
  <cp:lastModifiedBy>Logan Edwards</cp:lastModifiedBy>
  <cp:revision>1</cp:revision>
  <dcterms:created xsi:type="dcterms:W3CDTF">2013-01-27T09:14:16Z</dcterms:created>
  <dcterms:modified xsi:type="dcterms:W3CDTF">2013-01-27T09:15:58Z</dcterms:modified>
  <cp:category/>
</cp:coreProperties>
</file>