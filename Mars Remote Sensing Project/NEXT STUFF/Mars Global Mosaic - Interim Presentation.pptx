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0" y="2489200"/>
            <a:ext cx="12192000" cy="1016000"/>
          </a:xfrm>
          <a:prstGeom prst="rect">
            <a:avLst/>
          </a:prstGeom>
          <a:noFill/>
        </p:spPr>
        <p:txBody>
          <a:bodyPr wrap="square" anchor="t" lIns="0" rIns="0" tIns="0" bIns="0">
            <a:spAutoFit/>
          </a:bodyPr>
          <a:lstStyle/>
          <a:p>
            <a:pPr algn="ctr">
              <a:buNone/>
            </a:pPr>
            <a:r>
              <a:rPr sz="6000" b="0" i="0">
                <a:solidFill>
                  <a:srgbClr val="000000"/>
                </a:solidFill>
                <a:latin typeface="Aptos Display"/>
              </a:rPr>
              <a:t>Mars Global Mosaic</a:t>
            </a:r>
          </a:p>
        </p:txBody>
      </p:sp>
      <p:sp>
        <p:nvSpPr>
          <p:cNvPr id="3" name="TextBox 2"/>
          <p:cNvSpPr txBox="1"/>
          <p:nvPr/>
        </p:nvSpPr>
        <p:spPr>
          <a:xfrm>
            <a:off x="0" y="3581400"/>
            <a:ext cx="12192000" cy="304800"/>
          </a:xfrm>
          <a:prstGeom prst="rect">
            <a:avLst/>
          </a:prstGeom>
          <a:noFill/>
        </p:spPr>
        <p:txBody>
          <a:bodyPr wrap="square" anchor="t" lIns="0" rIns="0" tIns="0" bIns="0">
            <a:spAutoFit/>
          </a:bodyPr>
          <a:lstStyle/>
          <a:p>
            <a:pPr algn="ctr">
              <a:buNone/>
            </a:pPr>
            <a:r>
              <a:rPr sz="1200" b="0" i="0">
                <a:solidFill>
                  <a:srgbClr val="000000"/>
                </a:solidFill>
                <a:latin typeface="Aptos"/>
              </a:rPr>
              <a:t>Mars Global Mosaic: Mapping Lava Flows, Fluvial Channels, and Impact Craters in Visible and Infrared</a:t>
            </a:r>
          </a:p>
        </p:txBody>
      </p:sp>
      <p:sp>
        <p:nvSpPr>
          <p:cNvPr id="4" name="TextBox 3"/>
          <p:cNvSpPr txBox="1"/>
          <p:nvPr/>
        </p:nvSpPr>
        <p:spPr>
          <a:xfrm>
            <a:off x="0" y="3873500"/>
            <a:ext cx="12192000" cy="304800"/>
          </a:xfrm>
          <a:prstGeom prst="rect">
            <a:avLst/>
          </a:prstGeom>
          <a:noFill/>
        </p:spPr>
        <p:txBody>
          <a:bodyPr wrap="square" anchor="t" lIns="0" rIns="0" tIns="0" bIns="0">
            <a:spAutoFit/>
          </a:bodyPr>
          <a:lstStyle/>
          <a:p>
            <a:pPr algn="ctr">
              <a:buNone/>
            </a:pPr>
            <a:r>
              <a:rPr sz="1200" b="0" i="0">
                <a:solidFill>
                  <a:srgbClr val="000000"/>
                </a:solidFill>
                <a:latin typeface="Aptos"/>
              </a:rPr>
              <a:t>REMOTE SENSING 2026 OCN 4704 · Logan Edwards</a:t>
            </a:r>
          </a:p>
        </p:txBody>
      </p:sp>
      <p:sp>
        <p:nvSpPr>
          <p:cNvPr id="5" name="TextBox 4"/>
          <p:cNvSpPr txBox="1"/>
          <p:nvPr/>
        </p:nvSpPr>
        <p:spPr>
          <a:xfrm>
            <a:off x="0" y="4165600"/>
            <a:ext cx="12192000" cy="304800"/>
          </a:xfrm>
          <a:prstGeom prst="rect">
            <a:avLst/>
          </a:prstGeom>
          <a:noFill/>
        </p:spPr>
        <p:txBody>
          <a:bodyPr wrap="square" anchor="t" lIns="0" rIns="0" tIns="0" bIns="0">
            <a:spAutoFit/>
          </a:bodyPr>
          <a:lstStyle/>
          <a:p>
            <a:pPr algn="ctr">
              <a:buNone/>
            </a:pPr>
            <a:r>
              <a:rPr sz="1200" b="0" i="0">
                <a:solidFill>
                  <a:srgbClr val="000000"/>
                </a:solidFill>
                <a:latin typeface="Aptos"/>
              </a:rPr>
              <a:t>Interim Presentation · status as of 26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400" b="0" i="0">
                <a:solidFill>
                  <a:srgbClr val="000000"/>
                </a:solidFill>
                <a:latin typeface="Aptos Display"/>
              </a:rPr>
              <a:t>Project Goals</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5500" y="1676400"/>
            <a:ext cx="10541000" cy="1016000"/>
          </a:xfrm>
          <a:prstGeom prst="rect">
            <a:avLst/>
          </a:prstGeom>
          <a:noFill/>
        </p:spPr>
        <p:txBody>
          <a:bodyPr wrap="square" anchor="t" lIns="0" rIns="0" tIns="0" bIns="0">
            <a:spAutoFit/>
          </a:bodyPr>
          <a:lstStyle/>
          <a:p>
            <a:pPr>
              <a:buNone/>
            </a:pPr>
            <a:r>
              <a:rPr sz="1700" b="0" i="0">
                <a:solidFill>
                  <a:srgbClr val="000000"/>
                </a:solidFill>
                <a:latin typeface="Aptos"/>
              </a:rPr>
              <a:t>Assemble one co-registered visible and thermal-infrared mosaic of Mars in ArcGIS Pro, over the ±60° band the THEMIS night mosaic covers (86.6% of the surface), and use it to map lava flows, fluvial channels and impact craters.</a:t>
            </a:r>
          </a:p>
        </p:txBody>
      </p:sp>
      <p:sp>
        <p:nvSpPr>
          <p:cNvPr id="5" name="TextBox 4"/>
          <p:cNvSpPr txBox="1"/>
          <p:nvPr/>
        </p:nvSpPr>
        <p:spPr>
          <a:xfrm>
            <a:off x="825500" y="2946400"/>
            <a:ext cx="10541000" cy="3429000"/>
          </a:xfrm>
          <a:prstGeom prst="rect">
            <a:avLst/>
          </a:prstGeom>
          <a:noFill/>
        </p:spPr>
        <p:txBody>
          <a:bodyPr wrap="square" anchor="t" lIns="0" rIns="0" tIns="0" bIns="0">
            <a:spAutoFit/>
          </a:bodyPr>
          <a:lstStyle/>
          <a:p>
            <a:pPr marL="200000" indent="-200000">
              <a:spcAft>
                <a:spcPts val="1200"/>
              </a:spcAft>
              <a:buFont typeface="Arial" pitchFamily="34" charset="0"/>
              <a:buChar char="•"/>
            </a:pPr>
            <a:r>
              <a:rPr sz="1600" b="0" i="0">
                <a:solidFill>
                  <a:srgbClr val="000000"/>
                </a:solidFill>
                <a:latin typeface="Aptos"/>
              </a:rPr>
              <a:t>Put Viking visible colour, THEMIS day and night infrared and HRSC/MOLA topography on one grid over ±60°.</a:t>
            </a:r>
          </a:p>
          <a:p>
            <a:pPr marL="200000" indent="-200000">
              <a:spcAft>
                <a:spcPts val="1200"/>
              </a:spcAft>
              <a:buFont typeface="Arial" pitchFamily="34" charset="0"/>
              <a:buChar char="•"/>
            </a:pPr>
            <a:r>
              <a:rPr sz="1600" b="0" i="0">
                <a:solidFill>
                  <a:srgbClr val="000000"/>
                </a:solidFill>
                <a:latin typeface="Aptos"/>
              </a:rPr>
              <a:t>Map the three landform families from that stack, first in a type area (Ius Chasma), then across ±60°.</a:t>
            </a:r>
          </a:p>
          <a:p>
            <a:pPr marL="200000" indent="-200000">
              <a:spcAft>
                <a:spcPts val="1200"/>
              </a:spcAft>
              <a:buFont typeface="Arial" pitchFamily="34" charset="0"/>
              <a:buChar char="•"/>
            </a:pPr>
            <a:r>
              <a:rPr sz="1600" b="0" i="0">
                <a:solidFill>
                  <a:srgbClr val="000000"/>
                </a:solidFill>
                <a:latin typeface="Aptos"/>
              </a:rPr>
              <a:t>Test whether thermal infrared separates surfaces that visible light cannot.</a:t>
            </a:r>
          </a:p>
          <a:p>
            <a:pPr marL="200000" indent="-200000">
              <a:spcAft>
                <a:spcPts val="1200"/>
              </a:spcAft>
              <a:buFont typeface="Arial" pitchFamily="34" charset="0"/>
              <a:buChar char="•"/>
            </a:pPr>
            <a:r>
              <a:rPr sz="1600" b="0" i="0">
                <a:solidFill>
                  <a:srgbClr val="000000"/>
                </a:solidFill>
                <a:latin typeface="Aptos"/>
              </a:rPr>
              <a:t>Score every product against something it never saw: held-out hand labels, the IAU crater gazetteer and the USGS geologic map.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400" b="0" i="0">
                <a:solidFill>
                  <a:srgbClr val="000000"/>
                </a:solidFill>
                <a:latin typeface="Aptos Display"/>
              </a:rPr>
              <a:t>Relevant Spectral Bands</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825500" y="1676400"/>
          <a:ext cx="10540998" cy="3048000"/>
        </p:xfrm>
        <a:graphic>
          <a:graphicData uri="http://schemas.openxmlformats.org/drawingml/2006/table">
            <a:tbl>
              <a:tblPr firstRow="1">
                <a:tableStyleId>{5C22544A-7EE6-4342-B048-85BDC9FD1C3A}</a:tableStyleId>
              </a:tblPr>
              <a:tblGrid>
                <a:gridCol w="2184171"/>
                <a:gridCol w="1804315"/>
                <a:gridCol w="664747"/>
                <a:gridCol w="5887765"/>
              </a:tblGrid>
              <a:tr h="508000">
                <a:tc>
                  <a:txBody>
                    <a:bodyPr/>
                    <a:lstStyle/>
                    <a:p>
                      <a:pPr>
                        <a:buNone/>
                      </a:pPr>
                      <a:r>
                        <a:rPr sz="1100" b="1" i="0">
                          <a:solidFill>
                            <a:srgbClr val="FFFFFF"/>
                          </a:solidFill>
                          <a:latin typeface="Aptos"/>
                        </a:rPr>
                        <a:t>Band or product</a:t>
                      </a:r>
                    </a:p>
                  </a:txBody>
                  <a:tcPr marL="76200" marR="76200" marT="38100" marB="38100" anchor="ctr">
                    <a:solidFill>
                      <a:srgbClr val="0E2841"/>
                    </a:solidFill>
                  </a:tcPr>
                </a:tc>
                <a:tc>
                  <a:txBody>
                    <a:bodyPr/>
                    <a:lstStyle/>
                    <a:p>
                      <a:pPr>
                        <a:buNone/>
                      </a:pPr>
                      <a:r>
                        <a:rPr sz="1100" b="1" i="0">
                          <a:solidFill>
                            <a:srgbClr val="FFFFFF"/>
                          </a:solidFill>
                          <a:latin typeface="Aptos"/>
                        </a:rPr>
                        <a:t>Wavelength</a:t>
                      </a:r>
                    </a:p>
                  </a:txBody>
                  <a:tcPr marL="76200" marR="76200" marT="38100" marB="38100" anchor="ctr">
                    <a:solidFill>
                      <a:srgbClr val="0E2841"/>
                    </a:solidFill>
                  </a:tcPr>
                </a:tc>
                <a:tc>
                  <a:txBody>
                    <a:bodyPr/>
                    <a:lstStyle/>
                    <a:p>
                      <a:pPr>
                        <a:buNone/>
                      </a:pPr>
                      <a:r>
                        <a:rPr sz="1100" b="1" i="0">
                          <a:solidFill>
                            <a:srgbClr val="FFFFFF"/>
                          </a:solidFill>
                          <a:latin typeface="Aptos"/>
                        </a:rPr>
                        <a:t>Cell</a:t>
                      </a:r>
                    </a:p>
                  </a:txBody>
                  <a:tcPr marL="76200" marR="76200" marT="38100" marB="38100" anchor="ctr">
                    <a:solidFill>
                      <a:srgbClr val="0E2841"/>
                    </a:solidFill>
                  </a:tcPr>
                </a:tc>
                <a:tc>
                  <a:txBody>
                    <a:bodyPr/>
                    <a:lstStyle/>
                    <a:p>
                      <a:pPr>
                        <a:buNone/>
                      </a:pPr>
                      <a:r>
                        <a:rPr sz="1100" b="1" i="0">
                          <a:solidFill>
                            <a:srgbClr val="FFFFFF"/>
                          </a:solidFill>
                          <a:latin typeface="Aptos"/>
                        </a:rPr>
                        <a:t>What it contributes</a:t>
                      </a:r>
                    </a:p>
                  </a:txBody>
                  <a:tcPr marL="76200" marR="76200" marT="38100" marB="38100" anchor="ctr">
                    <a:solidFill>
                      <a:srgbClr val="0E2841"/>
                    </a:solidFill>
                  </a:tcPr>
                </a:tc>
              </a:tr>
              <a:tr h="508000">
                <a:tc>
                  <a:txBody>
                    <a:bodyPr/>
                    <a:lstStyle/>
                    <a:p>
                      <a:pPr>
                        <a:buNone/>
                      </a:pPr>
                      <a:r>
                        <a:rPr sz="1100" b="0" i="0">
                          <a:solidFill>
                            <a:srgbClr val="000000"/>
                          </a:solidFill>
                          <a:latin typeface="Aptos"/>
                        </a:rPr>
                        <a:t>Viking MDIM 2.1 R, G, B</a:t>
                      </a:r>
                    </a:p>
                  </a:txBody>
                  <a:tcPr marL="76200" marR="76200" marT="25400" marB="25400" anchor="ctr">
                    <a:solidFill>
                      <a:srgbClr val="FFFFFF"/>
                    </a:solidFill>
                  </a:tcPr>
                </a:tc>
                <a:tc>
                  <a:txBody>
                    <a:bodyPr/>
                    <a:lstStyle/>
                    <a:p>
                      <a:pPr>
                        <a:buNone/>
                      </a:pPr>
                      <a:r>
                        <a:rPr sz="1100" b="0" i="0">
                          <a:solidFill>
                            <a:srgbClr val="000000"/>
                          </a:solidFill>
                          <a:latin typeface="Aptos"/>
                        </a:rPr>
                        <a:t>visible, ~0.4–0.7 µm</a:t>
                      </a:r>
                    </a:p>
                  </a:txBody>
                  <a:tcPr marL="76200" marR="76200" marT="25400" marB="25400" anchor="ctr">
                    <a:solidFill>
                      <a:srgbClr val="FFFFFF"/>
                    </a:solidFill>
                  </a:tcPr>
                </a:tc>
                <a:tc>
                  <a:txBody>
                    <a:bodyPr/>
                    <a:lstStyle/>
                    <a:p>
                      <a:pPr>
                        <a:buNone/>
                      </a:pPr>
                      <a:r>
                        <a:rPr sz="1100" b="0" i="0">
                          <a:solidFill>
                            <a:srgbClr val="000000"/>
                          </a:solidFill>
                          <a:latin typeface="Aptos"/>
                        </a:rPr>
                        <a:t>232 m</a:t>
                      </a:r>
                    </a:p>
                  </a:txBody>
                  <a:tcPr marL="76200" marR="76200" marT="25400" marB="25400" anchor="ctr">
                    <a:solidFill>
                      <a:srgbClr val="FFFFFF"/>
                    </a:solidFill>
                  </a:tcPr>
                </a:tc>
                <a:tc>
                  <a:txBody>
                    <a:bodyPr/>
                    <a:lstStyle/>
                    <a:p>
                      <a:pPr>
                        <a:buNone/>
                      </a:pPr>
                      <a:r>
                        <a:rPr sz="1100" b="0" i="0">
                          <a:solidFill>
                            <a:srgbClr val="000000"/>
                          </a:solidFill>
                          <a:latin typeface="Aptos"/>
                        </a:rPr>
                        <a:t>Albedo: bright dust, dark basalt; not stretched by region, so regional differences are real (§28.10).</a:t>
                      </a:r>
                    </a:p>
                  </a:txBody>
                  <a:tcPr marL="76200" marR="76200" marT="25400" marB="25400" anchor="ctr">
                    <a:solidFill>
                      <a:srgbClr val="FFFFFF"/>
                    </a:solidFill>
                  </a:tcPr>
                </a:tc>
              </a:tr>
              <a:tr h="508000">
                <a:tc>
                  <a:txBody>
                    <a:bodyPr/>
                    <a:lstStyle/>
                    <a:p>
                      <a:pPr>
                        <a:buNone/>
                      </a:pPr>
                      <a:r>
                        <a:rPr sz="1100" b="0" i="0">
                          <a:solidFill>
                            <a:srgbClr val="000000"/>
                          </a:solidFill>
                          <a:latin typeface="Aptos"/>
                        </a:rPr>
                        <a:t>THEMIS Day IR (v12)</a:t>
                      </a:r>
                    </a:p>
                  </a:txBody>
                  <a:tcPr marL="76200" marR="76200" marT="25400" marB="25400" anchor="ctr">
                    <a:solidFill>
                      <a:srgbClr val="EEF3F7"/>
                    </a:solidFill>
                  </a:tcPr>
                </a:tc>
                <a:tc>
                  <a:txBody>
                    <a:bodyPr/>
                    <a:lstStyle/>
                    <a:p>
                      <a:pPr>
                        <a:buNone/>
                      </a:pPr>
                      <a:r>
                        <a:rPr sz="1100" b="0" i="0">
                          <a:solidFill>
                            <a:srgbClr val="000000"/>
                          </a:solidFill>
                          <a:latin typeface="Aptos"/>
                        </a:rPr>
                        <a:t>thermal IR, 6.8–14.9 µm</a:t>
                      </a:r>
                    </a:p>
                  </a:txBody>
                  <a:tcPr marL="76200" marR="76200" marT="25400" marB="25400" anchor="ctr">
                    <a:solidFill>
                      <a:srgbClr val="EEF3F7"/>
                    </a:solidFill>
                  </a:tcPr>
                </a:tc>
                <a:tc>
                  <a:txBody>
                    <a:bodyPr/>
                    <a:lstStyle/>
                    <a:p>
                      <a:pPr>
                        <a:buNone/>
                      </a:pPr>
                      <a:r>
                        <a:rPr sz="1100" b="0" i="0">
                          <a:solidFill>
                            <a:srgbClr val="000000"/>
                          </a:solidFill>
                          <a:latin typeface="Aptos"/>
                        </a:rPr>
                        <a:t>100 m</a:t>
                      </a:r>
                    </a:p>
                  </a:txBody>
                  <a:tcPr marL="76200" marR="76200" marT="25400" marB="25400" anchor="ctr">
                    <a:solidFill>
                      <a:srgbClr val="EEF3F7"/>
                    </a:solidFill>
                  </a:tcPr>
                </a:tc>
                <a:tc>
                  <a:txBody>
                    <a:bodyPr/>
                    <a:lstStyle/>
                    <a:p>
                      <a:pPr>
                        <a:buNone/>
                      </a:pPr>
                      <a:r>
                        <a:rPr sz="1100" b="0" i="0">
                          <a:solidFill>
                            <a:srgbClr val="000000"/>
                          </a:solidFill>
                          <a:latin typeface="Aptos"/>
                        </a:rPr>
                        <a:t>Daytime temperature. Ground that is bright in visible stays cooler by day (r −0.49 at Ius, §18.3).</a:t>
                      </a:r>
                    </a:p>
                  </a:txBody>
                  <a:tcPr marL="76200" marR="76200" marT="25400" marB="25400" anchor="ctr">
                    <a:solidFill>
                      <a:srgbClr val="EEF3F7"/>
                    </a:solidFill>
                  </a:tcPr>
                </a:tc>
              </a:tr>
              <a:tr h="508000">
                <a:tc>
                  <a:txBody>
                    <a:bodyPr/>
                    <a:lstStyle/>
                    <a:p>
                      <a:pPr>
                        <a:buNone/>
                      </a:pPr>
                      <a:r>
                        <a:rPr sz="1100" b="0" i="0">
                          <a:solidFill>
                            <a:srgbClr val="000000"/>
                          </a:solidFill>
                          <a:latin typeface="Aptos"/>
                        </a:rPr>
                        <a:t>THEMIS Night IR (v14, ±60°)</a:t>
                      </a:r>
                    </a:p>
                  </a:txBody>
                  <a:tcPr marL="76200" marR="76200" marT="25400" marB="25400" anchor="ctr">
                    <a:solidFill>
                      <a:srgbClr val="FFFFFF"/>
                    </a:solidFill>
                  </a:tcPr>
                </a:tc>
                <a:tc>
                  <a:txBody>
                    <a:bodyPr/>
                    <a:lstStyle/>
                    <a:p>
                      <a:pPr>
                        <a:buNone/>
                      </a:pPr>
                      <a:r>
                        <a:rPr sz="1100" b="0" i="0">
                          <a:solidFill>
                            <a:srgbClr val="000000"/>
                          </a:solidFill>
                          <a:latin typeface="Aptos"/>
                        </a:rPr>
                        <a:t>thermal IR, 6.8–14.9 µm</a:t>
                      </a:r>
                    </a:p>
                  </a:txBody>
                  <a:tcPr marL="76200" marR="76200" marT="25400" marB="25400" anchor="ctr">
                    <a:solidFill>
                      <a:srgbClr val="FFFFFF"/>
                    </a:solidFill>
                  </a:tcPr>
                </a:tc>
                <a:tc>
                  <a:txBody>
                    <a:bodyPr/>
                    <a:lstStyle/>
                    <a:p>
                      <a:pPr>
                        <a:buNone/>
                      </a:pPr>
                      <a:r>
                        <a:rPr sz="1100" b="0" i="0">
                          <a:solidFill>
                            <a:srgbClr val="000000"/>
                          </a:solidFill>
                          <a:latin typeface="Aptos"/>
                        </a:rPr>
                        <a:t>100 m</a:t>
                      </a:r>
                    </a:p>
                  </a:txBody>
                  <a:tcPr marL="76200" marR="76200" marT="25400" marB="25400" anchor="ctr">
                    <a:solidFill>
                      <a:srgbClr val="FFFFFF"/>
                    </a:solidFill>
                  </a:tcPr>
                </a:tc>
                <a:tc>
                  <a:txBody>
                    <a:bodyPr/>
                    <a:lstStyle/>
                    <a:p>
                      <a:pPr>
                        <a:buNone/>
                      </a:pPr>
                      <a:r>
                        <a:rPr sz="1100" b="0" i="0">
                          <a:solidFill>
                            <a:srgbClr val="000000"/>
                          </a:solidFill>
                          <a:latin typeface="Aptos"/>
                        </a:rPr>
                        <a:t>Night temperature: rock holds heat. The band least like the others, |r| ≤ 0.12 (§18.3).</a:t>
                      </a:r>
                    </a:p>
                  </a:txBody>
                  <a:tcPr marL="76200" marR="76200" marT="25400" marB="25400" anchor="ctr">
                    <a:solidFill>
                      <a:srgbClr val="FFFFFF"/>
                    </a:solidFill>
                  </a:tcPr>
                </a:tc>
              </a:tr>
              <a:tr h="508000">
                <a:tc>
                  <a:txBody>
                    <a:bodyPr/>
                    <a:lstStyle/>
                    <a:p>
                      <a:pPr>
                        <a:buNone/>
                      </a:pPr>
                      <a:r>
                        <a:rPr sz="1100" b="0" i="0">
                          <a:solidFill>
                            <a:srgbClr val="000000"/>
                          </a:solidFill>
                          <a:latin typeface="Aptos"/>
                        </a:rPr>
                        <a:t>HRSC/MOLA blended DEM</a:t>
                      </a:r>
                    </a:p>
                  </a:txBody>
                  <a:tcPr marL="76200" marR="76200" marT="25400" marB="25400" anchor="ctr">
                    <a:solidFill>
                      <a:srgbClr val="EEF3F7"/>
                    </a:solidFill>
                  </a:tcPr>
                </a:tc>
                <a:tc>
                  <a:txBody>
                    <a:bodyPr/>
                    <a:lstStyle/>
                    <a:p>
                      <a:pPr>
                        <a:buNone/>
                      </a:pPr>
                      <a:r>
                        <a:rPr sz="1100" b="0" i="0">
                          <a:solidFill>
                            <a:srgbClr val="000000"/>
                          </a:solidFill>
                          <a:latin typeface="Aptos"/>
                        </a:rPr>
                        <a:t>altimetry + stereo</a:t>
                      </a:r>
                    </a:p>
                  </a:txBody>
                  <a:tcPr marL="76200" marR="76200" marT="25400" marB="25400" anchor="ctr">
                    <a:solidFill>
                      <a:srgbClr val="EEF3F7"/>
                    </a:solidFill>
                  </a:tcPr>
                </a:tc>
                <a:tc>
                  <a:txBody>
                    <a:bodyPr/>
                    <a:lstStyle/>
                    <a:p>
                      <a:pPr>
                        <a:buNone/>
                      </a:pPr>
                      <a:r>
                        <a:rPr sz="1100" b="0" i="0">
                          <a:solidFill>
                            <a:srgbClr val="000000"/>
                          </a:solidFill>
                          <a:latin typeface="Aptos"/>
                        </a:rPr>
                        <a:t>200 m</a:t>
                      </a:r>
                    </a:p>
                  </a:txBody>
                  <a:tcPr marL="76200" marR="76200" marT="25400" marB="25400" anchor="ctr">
                    <a:solidFill>
                      <a:srgbClr val="EEF3F7"/>
                    </a:solidFill>
                  </a:tcPr>
                </a:tc>
                <a:tc>
                  <a:txBody>
                    <a:bodyPr/>
                    <a:lstStyle/>
                    <a:p>
                      <a:pPr>
                        <a:buNone/>
                      </a:pPr>
                      <a:r>
                        <a:rPr sz="1100" b="0" i="0">
                          <a:solidFill>
                            <a:srgbClr val="000000"/>
                          </a:solidFill>
                          <a:latin typeface="Aptos"/>
                        </a:rPr>
                        <a:t>Slope in degrees, local relief, hillshade, flow routing, closed-depression depth (§20).</a:t>
                      </a:r>
                    </a:p>
                  </a:txBody>
                  <a:tcPr marL="76200" marR="76200" marT="25400" marB="25400" anchor="ctr">
                    <a:solidFill>
                      <a:srgbClr val="EEF3F7"/>
                    </a:solidFill>
                  </a:tcPr>
                </a:tc>
              </a:tr>
              <a:tr h="508000">
                <a:tc>
                  <a:txBody>
                    <a:bodyPr/>
                    <a:lstStyle/>
                    <a:p>
                      <a:pPr>
                        <a:buNone/>
                      </a:pPr>
                      <a:r>
                        <a:rPr sz="1100" b="0" i="0">
                          <a:solidFill>
                            <a:srgbClr val="000000"/>
                          </a:solidFill>
                          <a:latin typeface="Aptos"/>
                        </a:rPr>
                        <a:t>Diurnal contrast index</a:t>
                      </a:r>
                    </a:p>
                  </a:txBody>
                  <a:tcPr marL="76200" marR="76200" marT="25400" marB="25400" anchor="ctr">
                    <a:solidFill>
                      <a:srgbClr val="FFFFFF"/>
                    </a:solidFill>
                  </a:tcPr>
                </a:tc>
                <a:tc>
                  <a:txBody>
                    <a:bodyPr/>
                    <a:lstStyle/>
                    <a:p>
                      <a:pPr>
                        <a:buNone/>
                      </a:pPr>
                      <a:r>
                        <a:rPr sz="1100" b="0" i="0">
                          <a:solidFill>
                            <a:srgbClr val="000000"/>
                          </a:solidFill>
                          <a:latin typeface="Aptos"/>
                        </a:rPr>
                        <a:t>day − night, relative</a:t>
                      </a:r>
                    </a:p>
                  </a:txBody>
                  <a:tcPr marL="76200" marR="76200" marT="25400" marB="25400" anchor="ctr">
                    <a:solidFill>
                      <a:srgbClr val="FFFFFF"/>
                    </a:solidFill>
                  </a:tcPr>
                </a:tc>
                <a:tc>
                  <a:txBody>
                    <a:bodyPr/>
                    <a:lstStyle/>
                    <a:p>
                      <a:pPr>
                        <a:buNone/>
                      </a:pPr>
                      <a:r>
                        <a:rPr sz="1100" b="0" i="0">
                          <a:solidFill>
                            <a:srgbClr val="000000"/>
                          </a:solidFill>
                          <a:latin typeface="Aptos"/>
                        </a:rPr>
                        <a:t>100 m</a:t>
                      </a:r>
                    </a:p>
                  </a:txBody>
                  <a:tcPr marL="76200" marR="76200" marT="25400" marB="25400" anchor="ctr">
                    <a:solidFill>
                      <a:srgbClr val="FFFFFF"/>
                    </a:solidFill>
                  </a:tcPr>
                </a:tc>
                <a:tc>
                  <a:txBody>
                    <a:bodyPr/>
                    <a:lstStyle/>
                    <a:p>
                      <a:pPr>
                        <a:buNone/>
                      </a:pPr>
                      <a:r>
                        <a:rPr sz="1100" b="0" i="0">
                          <a:solidFill>
                            <a:srgbClr val="000000"/>
                          </a:solidFill>
                          <a:latin typeface="Aptos"/>
                        </a:rPr>
                        <a:t>Separates materials inside one area; not thermal inertia, not comparable across the planet (§24, §28.10).</a:t>
                      </a:r>
                    </a:p>
                  </a:txBody>
                  <a:tcPr marL="76200" marR="76200" marT="25400" marB="25400" anchor="ctr">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400" b="0" i="0">
                <a:solidFill>
                  <a:srgbClr val="000000"/>
                </a:solidFill>
                <a:latin typeface="Aptos Display"/>
              </a:rPr>
              <a:t>Why Fuse Them: Three Independent Dimensions</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825500" y="1676400"/>
          <a:ext cx="10540998" cy="2590800"/>
        </p:xfrm>
        <a:graphic>
          <a:graphicData uri="http://schemas.openxmlformats.org/drawingml/2006/table">
            <a:tbl>
              <a:tblPr firstRow="1">
                <a:tableStyleId>{5C22544A-7EE6-4342-B048-85BDC9FD1C3A}</a:tableStyleId>
              </a:tblPr>
              <a:tblGrid>
                <a:gridCol w="2555393"/>
                <a:gridCol w="1597121"/>
                <a:gridCol w="1597121"/>
                <a:gridCol w="1597121"/>
                <a:gridCol w="1597121"/>
                <a:gridCol w="1597121"/>
              </a:tblGrid>
              <a:tr h="431800">
                <a:tc>
                  <a:txBody>
                    <a:bodyPr/>
                    <a:lstStyle/>
                    <a:p>
                      <a:pPr>
                        <a:buNone/>
                      </a:pPr>
                      <a:r>
                        <a:rPr sz="1300" b="1" i="0">
                          <a:solidFill>
                            <a:srgbClr val="FFFFFF"/>
                          </a:solidFill>
                          <a:latin typeface="Aptos"/>
                        </a:rPr>
                        <a:t>Ius Chasma, r</a:t>
                      </a:r>
                    </a:p>
                  </a:txBody>
                  <a:tcPr marL="76200" marR="76200" marT="38100" marB="38100" anchor="ctr">
                    <a:solidFill>
                      <a:srgbClr val="0E2841"/>
                    </a:solidFill>
                  </a:tcPr>
                </a:tc>
                <a:tc>
                  <a:txBody>
                    <a:bodyPr/>
                    <a:lstStyle/>
                    <a:p>
                      <a:pPr>
                        <a:buNone/>
                      </a:pPr>
                      <a:r>
                        <a:rPr sz="1300" b="1" i="0">
                          <a:solidFill>
                            <a:srgbClr val="FFFFFF"/>
                          </a:solidFill>
                          <a:latin typeface="Aptos"/>
                        </a:rPr>
                        <a:t>Viking R</a:t>
                      </a:r>
                    </a:p>
                  </a:txBody>
                  <a:tcPr marL="76200" marR="76200" marT="38100" marB="38100" anchor="ctr">
                    <a:solidFill>
                      <a:srgbClr val="0E2841"/>
                    </a:solidFill>
                  </a:tcPr>
                </a:tc>
                <a:tc>
                  <a:txBody>
                    <a:bodyPr/>
                    <a:lstStyle/>
                    <a:p>
                      <a:pPr>
                        <a:buNone/>
                      </a:pPr>
                      <a:r>
                        <a:rPr sz="1300" b="1" i="0">
                          <a:solidFill>
                            <a:srgbClr val="FFFFFF"/>
                          </a:solidFill>
                          <a:latin typeface="Aptos"/>
                        </a:rPr>
                        <a:t>Viking G</a:t>
                      </a:r>
                    </a:p>
                  </a:txBody>
                  <a:tcPr marL="76200" marR="76200" marT="38100" marB="38100" anchor="ctr">
                    <a:solidFill>
                      <a:srgbClr val="0E2841"/>
                    </a:solidFill>
                  </a:tcPr>
                </a:tc>
                <a:tc>
                  <a:txBody>
                    <a:bodyPr/>
                    <a:lstStyle/>
                    <a:p>
                      <a:pPr>
                        <a:buNone/>
                      </a:pPr>
                      <a:r>
                        <a:rPr sz="1300" b="1" i="0">
                          <a:solidFill>
                            <a:srgbClr val="FFFFFF"/>
                          </a:solidFill>
                          <a:latin typeface="Aptos"/>
                        </a:rPr>
                        <a:t>Viking B</a:t>
                      </a:r>
                    </a:p>
                  </a:txBody>
                  <a:tcPr marL="76200" marR="76200" marT="38100" marB="38100" anchor="ctr">
                    <a:solidFill>
                      <a:srgbClr val="0E2841"/>
                    </a:solidFill>
                  </a:tcPr>
                </a:tc>
                <a:tc>
                  <a:txBody>
                    <a:bodyPr/>
                    <a:lstStyle/>
                    <a:p>
                      <a:pPr>
                        <a:buNone/>
                      </a:pPr>
                      <a:r>
                        <a:rPr sz="1300" b="1" i="0">
                          <a:solidFill>
                            <a:srgbClr val="FFFFFF"/>
                          </a:solidFill>
                          <a:latin typeface="Aptos"/>
                        </a:rPr>
                        <a:t>Day IR</a:t>
                      </a:r>
                    </a:p>
                  </a:txBody>
                  <a:tcPr marL="76200" marR="76200" marT="38100" marB="38100" anchor="ctr">
                    <a:solidFill>
                      <a:srgbClr val="0E2841"/>
                    </a:solidFill>
                  </a:tcPr>
                </a:tc>
                <a:tc>
                  <a:txBody>
                    <a:bodyPr/>
                    <a:lstStyle/>
                    <a:p>
                      <a:pPr>
                        <a:buNone/>
                      </a:pPr>
                      <a:r>
                        <a:rPr sz="1300" b="1" i="0">
                          <a:solidFill>
                            <a:srgbClr val="FFFFFF"/>
                          </a:solidFill>
                          <a:latin typeface="Aptos"/>
                        </a:rPr>
                        <a:t>Night IR</a:t>
                      </a:r>
                    </a:p>
                  </a:txBody>
                  <a:tcPr marL="76200" marR="76200" marT="38100" marB="38100" anchor="ctr">
                    <a:solidFill>
                      <a:srgbClr val="0E2841"/>
                    </a:solidFill>
                  </a:tcPr>
                </a:tc>
              </a:tr>
              <a:tr h="431800">
                <a:tc>
                  <a:txBody>
                    <a:bodyPr/>
                    <a:lstStyle/>
                    <a:p>
                      <a:pPr>
                        <a:buNone/>
                      </a:pPr>
                      <a:r>
                        <a:rPr sz="1300" b="0" i="0">
                          <a:solidFill>
                            <a:srgbClr val="000000"/>
                          </a:solidFill>
                          <a:latin typeface="Aptos"/>
                        </a:rPr>
                        <a:t>Viking R</a:t>
                      </a:r>
                    </a:p>
                  </a:txBody>
                  <a:tcPr marL="76200" marR="76200" marT="25400" marB="25400" anchor="ctr">
                    <a:solidFill>
                      <a:srgbClr val="FFFFFF"/>
                    </a:solidFill>
                  </a:tcPr>
                </a:tc>
                <a:tc>
                  <a:txBody>
                    <a:bodyPr/>
                    <a:lstStyle/>
                    <a:p>
                      <a:pPr>
                        <a:buNone/>
                      </a:pPr>
                      <a:r>
                        <a:rPr sz="1300" b="0" i="0">
                          <a:solidFill>
                            <a:srgbClr val="000000"/>
                          </a:solidFill>
                          <a:latin typeface="Aptos"/>
                        </a:rPr>
                        <a:t>1</a:t>
                      </a:r>
                    </a:p>
                  </a:txBody>
                  <a:tcPr marL="76200" marR="76200" marT="25400" marB="25400" anchor="ctr">
                    <a:solidFill>
                      <a:srgbClr val="FFFFFF"/>
                    </a:solidFill>
                  </a:tcPr>
                </a:tc>
                <a:tc>
                  <a:txBody>
                    <a:bodyPr/>
                    <a:lstStyle/>
                    <a:p>
                      <a:pPr>
                        <a:buNone/>
                      </a:pPr>
                      <a:r>
                        <a:rPr sz="1300" b="0" i="0">
                          <a:solidFill>
                            <a:srgbClr val="000000"/>
                          </a:solidFill>
                          <a:latin typeface="Aptos"/>
                        </a:rPr>
                        <a:t>+0.960</a:t>
                      </a:r>
                    </a:p>
                  </a:txBody>
                  <a:tcPr marL="76200" marR="76200" marT="25400" marB="25400" anchor="ctr">
                    <a:solidFill>
                      <a:srgbClr val="FFFFFF"/>
                    </a:solidFill>
                  </a:tcPr>
                </a:tc>
                <a:tc>
                  <a:txBody>
                    <a:bodyPr/>
                    <a:lstStyle/>
                    <a:p>
                      <a:pPr>
                        <a:buNone/>
                      </a:pPr>
                      <a:r>
                        <a:rPr sz="1300" b="0" i="0">
                          <a:solidFill>
                            <a:srgbClr val="000000"/>
                          </a:solidFill>
                          <a:latin typeface="Aptos"/>
                        </a:rPr>
                        <a:t>+0.925</a:t>
                      </a:r>
                    </a:p>
                  </a:txBody>
                  <a:tcPr marL="76200" marR="76200" marT="25400" marB="25400" anchor="ctr">
                    <a:solidFill>
                      <a:srgbClr val="FFFFFF"/>
                    </a:solidFill>
                  </a:tcPr>
                </a:tc>
                <a:tc>
                  <a:txBody>
                    <a:bodyPr/>
                    <a:lstStyle/>
                    <a:p>
                      <a:pPr>
                        <a:buNone/>
                      </a:pPr>
                      <a:r>
                        <a:rPr sz="1300" b="0" i="0">
                          <a:solidFill>
                            <a:srgbClr val="000000"/>
                          </a:solidFill>
                          <a:latin typeface="Aptos"/>
                        </a:rPr>
                        <a:t>−0.486</a:t>
                      </a:r>
                    </a:p>
                  </a:txBody>
                  <a:tcPr marL="76200" marR="76200" marT="25400" marB="25400" anchor="ctr">
                    <a:solidFill>
                      <a:srgbClr val="FFFFFF"/>
                    </a:solidFill>
                  </a:tcPr>
                </a:tc>
                <a:tc>
                  <a:txBody>
                    <a:bodyPr/>
                    <a:lstStyle/>
                    <a:p>
                      <a:pPr>
                        <a:buNone/>
                      </a:pPr>
                      <a:r>
                        <a:rPr sz="1300" b="0" i="0">
                          <a:solidFill>
                            <a:srgbClr val="0E9ED4"/>
                          </a:solidFill>
                          <a:latin typeface="Aptos"/>
                        </a:rPr>
                        <a:t>−0.121</a:t>
                      </a:r>
                    </a:p>
                  </a:txBody>
                  <a:tcPr marL="76200" marR="76200" marT="25400" marB="25400" anchor="ctr">
                    <a:solidFill>
                      <a:srgbClr val="FFFFFF"/>
                    </a:solidFill>
                  </a:tcPr>
                </a:tc>
              </a:tr>
              <a:tr h="431800">
                <a:tc>
                  <a:txBody>
                    <a:bodyPr/>
                    <a:lstStyle/>
                    <a:p>
                      <a:pPr>
                        <a:buNone/>
                      </a:pPr>
                      <a:r>
                        <a:rPr sz="1300" b="0" i="0">
                          <a:solidFill>
                            <a:srgbClr val="000000"/>
                          </a:solidFill>
                          <a:latin typeface="Aptos"/>
                        </a:rPr>
                        <a:t>Viking G</a:t>
                      </a:r>
                    </a:p>
                  </a:txBody>
                  <a:tcPr marL="76200" marR="76200" marT="25400" marB="25400" anchor="ctr">
                    <a:solidFill>
                      <a:srgbClr val="EEF3F7"/>
                    </a:solidFill>
                  </a:tcPr>
                </a:tc>
                <a:tc>
                  <a:txBody>
                    <a:bodyPr/>
                    <a:lstStyle/>
                    <a:p>
                      <a:pPr>
                        <a:buNone/>
                      </a:pPr>
                      <a:r>
                        <a:rPr sz="1300" b="0" i="0">
                          <a:solidFill>
                            <a:srgbClr val="000000"/>
                          </a:solidFill>
                          <a:latin typeface="Aptos"/>
                        </a:rPr>
                        <a:t>+0.960</a:t>
                      </a:r>
                    </a:p>
                  </a:txBody>
                  <a:tcPr marL="76200" marR="76200" marT="25400" marB="25400" anchor="ctr">
                    <a:solidFill>
                      <a:srgbClr val="EEF3F7"/>
                    </a:solidFill>
                  </a:tcPr>
                </a:tc>
                <a:tc>
                  <a:txBody>
                    <a:bodyPr/>
                    <a:lstStyle/>
                    <a:p>
                      <a:pPr>
                        <a:buNone/>
                      </a:pPr>
                      <a:r>
                        <a:rPr sz="1300" b="0" i="0">
                          <a:solidFill>
                            <a:srgbClr val="000000"/>
                          </a:solidFill>
                          <a:latin typeface="Aptos"/>
                        </a:rPr>
                        <a:t>1</a:t>
                      </a:r>
                    </a:p>
                  </a:txBody>
                  <a:tcPr marL="76200" marR="76200" marT="25400" marB="25400" anchor="ctr">
                    <a:solidFill>
                      <a:srgbClr val="EEF3F7"/>
                    </a:solidFill>
                  </a:tcPr>
                </a:tc>
                <a:tc>
                  <a:txBody>
                    <a:bodyPr/>
                    <a:lstStyle/>
                    <a:p>
                      <a:pPr>
                        <a:buNone/>
                      </a:pPr>
                      <a:r>
                        <a:rPr sz="1300" b="0" i="0">
                          <a:solidFill>
                            <a:srgbClr val="000000"/>
                          </a:solidFill>
                          <a:latin typeface="Aptos"/>
                        </a:rPr>
                        <a:t>+0.993</a:t>
                      </a:r>
                    </a:p>
                  </a:txBody>
                  <a:tcPr marL="76200" marR="76200" marT="25400" marB="25400" anchor="ctr">
                    <a:solidFill>
                      <a:srgbClr val="EEF3F7"/>
                    </a:solidFill>
                  </a:tcPr>
                </a:tc>
                <a:tc>
                  <a:txBody>
                    <a:bodyPr/>
                    <a:lstStyle/>
                    <a:p>
                      <a:pPr>
                        <a:buNone/>
                      </a:pPr>
                      <a:r>
                        <a:rPr sz="1300" b="0" i="0">
                          <a:solidFill>
                            <a:srgbClr val="000000"/>
                          </a:solidFill>
                          <a:latin typeface="Aptos"/>
                        </a:rPr>
                        <a:t>−0.496</a:t>
                      </a:r>
                    </a:p>
                  </a:txBody>
                  <a:tcPr marL="76200" marR="76200" marT="25400" marB="25400" anchor="ctr">
                    <a:solidFill>
                      <a:srgbClr val="EEF3F7"/>
                    </a:solidFill>
                  </a:tcPr>
                </a:tc>
                <a:tc>
                  <a:txBody>
                    <a:bodyPr/>
                    <a:lstStyle/>
                    <a:p>
                      <a:pPr>
                        <a:buNone/>
                      </a:pPr>
                      <a:r>
                        <a:rPr sz="1300" b="0" i="0">
                          <a:solidFill>
                            <a:srgbClr val="0E9ED4"/>
                          </a:solidFill>
                          <a:latin typeface="Aptos"/>
                        </a:rPr>
                        <a:t>−0.085</a:t>
                      </a:r>
                    </a:p>
                  </a:txBody>
                  <a:tcPr marL="76200" marR="76200" marT="25400" marB="25400" anchor="ctr">
                    <a:solidFill>
                      <a:srgbClr val="EEF3F7"/>
                    </a:solidFill>
                  </a:tcPr>
                </a:tc>
              </a:tr>
              <a:tr h="431800">
                <a:tc>
                  <a:txBody>
                    <a:bodyPr/>
                    <a:lstStyle/>
                    <a:p>
                      <a:pPr>
                        <a:buNone/>
                      </a:pPr>
                      <a:r>
                        <a:rPr sz="1300" b="0" i="0">
                          <a:solidFill>
                            <a:srgbClr val="000000"/>
                          </a:solidFill>
                          <a:latin typeface="Aptos"/>
                        </a:rPr>
                        <a:t>Viking B</a:t>
                      </a:r>
                    </a:p>
                  </a:txBody>
                  <a:tcPr marL="76200" marR="76200" marT="25400" marB="25400" anchor="ctr">
                    <a:solidFill>
                      <a:srgbClr val="FFFFFF"/>
                    </a:solidFill>
                  </a:tcPr>
                </a:tc>
                <a:tc>
                  <a:txBody>
                    <a:bodyPr/>
                    <a:lstStyle/>
                    <a:p>
                      <a:pPr>
                        <a:buNone/>
                      </a:pPr>
                      <a:r>
                        <a:rPr sz="1300" b="0" i="0">
                          <a:solidFill>
                            <a:srgbClr val="000000"/>
                          </a:solidFill>
                          <a:latin typeface="Aptos"/>
                        </a:rPr>
                        <a:t>+0.925</a:t>
                      </a:r>
                    </a:p>
                  </a:txBody>
                  <a:tcPr marL="76200" marR="76200" marT="25400" marB="25400" anchor="ctr">
                    <a:solidFill>
                      <a:srgbClr val="FFFFFF"/>
                    </a:solidFill>
                  </a:tcPr>
                </a:tc>
                <a:tc>
                  <a:txBody>
                    <a:bodyPr/>
                    <a:lstStyle/>
                    <a:p>
                      <a:pPr>
                        <a:buNone/>
                      </a:pPr>
                      <a:r>
                        <a:rPr sz="1300" b="0" i="0">
                          <a:solidFill>
                            <a:srgbClr val="000000"/>
                          </a:solidFill>
                          <a:latin typeface="Aptos"/>
                        </a:rPr>
                        <a:t>+0.993</a:t>
                      </a:r>
                    </a:p>
                  </a:txBody>
                  <a:tcPr marL="76200" marR="76200" marT="25400" marB="25400" anchor="ctr">
                    <a:solidFill>
                      <a:srgbClr val="FFFFFF"/>
                    </a:solidFill>
                  </a:tcPr>
                </a:tc>
                <a:tc>
                  <a:txBody>
                    <a:bodyPr/>
                    <a:lstStyle/>
                    <a:p>
                      <a:pPr>
                        <a:buNone/>
                      </a:pPr>
                      <a:r>
                        <a:rPr sz="1300" b="0" i="0">
                          <a:solidFill>
                            <a:srgbClr val="000000"/>
                          </a:solidFill>
                          <a:latin typeface="Aptos"/>
                        </a:rPr>
                        <a:t>1</a:t>
                      </a:r>
                    </a:p>
                  </a:txBody>
                  <a:tcPr marL="76200" marR="76200" marT="25400" marB="25400" anchor="ctr">
                    <a:solidFill>
                      <a:srgbClr val="FFFFFF"/>
                    </a:solidFill>
                  </a:tcPr>
                </a:tc>
                <a:tc>
                  <a:txBody>
                    <a:bodyPr/>
                    <a:lstStyle/>
                    <a:p>
                      <a:pPr>
                        <a:buNone/>
                      </a:pPr>
                      <a:r>
                        <a:rPr sz="1300" b="0" i="0">
                          <a:solidFill>
                            <a:srgbClr val="000000"/>
                          </a:solidFill>
                          <a:latin typeface="Aptos"/>
                        </a:rPr>
                        <a:t>−0.488</a:t>
                      </a:r>
                    </a:p>
                  </a:txBody>
                  <a:tcPr marL="76200" marR="76200" marT="25400" marB="25400" anchor="ctr">
                    <a:solidFill>
                      <a:srgbClr val="FFFFFF"/>
                    </a:solidFill>
                  </a:tcPr>
                </a:tc>
                <a:tc>
                  <a:txBody>
                    <a:bodyPr/>
                    <a:lstStyle/>
                    <a:p>
                      <a:pPr>
                        <a:buNone/>
                      </a:pPr>
                      <a:r>
                        <a:rPr sz="1300" b="0" i="0">
                          <a:solidFill>
                            <a:srgbClr val="0E9ED4"/>
                          </a:solidFill>
                          <a:latin typeface="Aptos"/>
                        </a:rPr>
                        <a:t>−0.068</a:t>
                      </a:r>
                    </a:p>
                  </a:txBody>
                  <a:tcPr marL="76200" marR="76200" marT="25400" marB="25400" anchor="ctr">
                    <a:solidFill>
                      <a:srgbClr val="FFFFFF"/>
                    </a:solidFill>
                  </a:tcPr>
                </a:tc>
              </a:tr>
              <a:tr h="431800">
                <a:tc>
                  <a:txBody>
                    <a:bodyPr/>
                    <a:lstStyle/>
                    <a:p>
                      <a:pPr>
                        <a:buNone/>
                      </a:pPr>
                      <a:r>
                        <a:rPr sz="1300" b="0" i="0">
                          <a:solidFill>
                            <a:srgbClr val="000000"/>
                          </a:solidFill>
                          <a:latin typeface="Aptos"/>
                        </a:rPr>
                        <a:t>Day IR</a:t>
                      </a:r>
                    </a:p>
                  </a:txBody>
                  <a:tcPr marL="76200" marR="76200" marT="25400" marB="25400" anchor="ctr">
                    <a:solidFill>
                      <a:srgbClr val="EEF3F7"/>
                    </a:solidFill>
                  </a:tcPr>
                </a:tc>
                <a:tc>
                  <a:txBody>
                    <a:bodyPr/>
                    <a:lstStyle/>
                    <a:p>
                      <a:pPr>
                        <a:buNone/>
                      </a:pPr>
                      <a:r>
                        <a:rPr sz="1300" b="0" i="0">
                          <a:solidFill>
                            <a:srgbClr val="000000"/>
                          </a:solidFill>
                          <a:latin typeface="Aptos"/>
                        </a:rPr>
                        <a:t>−0.486</a:t>
                      </a:r>
                    </a:p>
                  </a:txBody>
                  <a:tcPr marL="76200" marR="76200" marT="25400" marB="25400" anchor="ctr">
                    <a:solidFill>
                      <a:srgbClr val="EEF3F7"/>
                    </a:solidFill>
                  </a:tcPr>
                </a:tc>
                <a:tc>
                  <a:txBody>
                    <a:bodyPr/>
                    <a:lstStyle/>
                    <a:p>
                      <a:pPr>
                        <a:buNone/>
                      </a:pPr>
                      <a:r>
                        <a:rPr sz="1300" b="0" i="0">
                          <a:solidFill>
                            <a:srgbClr val="000000"/>
                          </a:solidFill>
                          <a:latin typeface="Aptos"/>
                        </a:rPr>
                        <a:t>−0.496</a:t>
                      </a:r>
                    </a:p>
                  </a:txBody>
                  <a:tcPr marL="76200" marR="76200" marT="25400" marB="25400" anchor="ctr">
                    <a:solidFill>
                      <a:srgbClr val="EEF3F7"/>
                    </a:solidFill>
                  </a:tcPr>
                </a:tc>
                <a:tc>
                  <a:txBody>
                    <a:bodyPr/>
                    <a:lstStyle/>
                    <a:p>
                      <a:pPr>
                        <a:buNone/>
                      </a:pPr>
                      <a:r>
                        <a:rPr sz="1300" b="0" i="0">
                          <a:solidFill>
                            <a:srgbClr val="000000"/>
                          </a:solidFill>
                          <a:latin typeface="Aptos"/>
                        </a:rPr>
                        <a:t>−0.488</a:t>
                      </a:r>
                    </a:p>
                  </a:txBody>
                  <a:tcPr marL="76200" marR="76200" marT="25400" marB="25400" anchor="ctr">
                    <a:solidFill>
                      <a:srgbClr val="EEF3F7"/>
                    </a:solidFill>
                  </a:tcPr>
                </a:tc>
                <a:tc>
                  <a:txBody>
                    <a:bodyPr/>
                    <a:lstStyle/>
                    <a:p>
                      <a:pPr>
                        <a:buNone/>
                      </a:pPr>
                      <a:r>
                        <a:rPr sz="1300" b="0" i="0">
                          <a:solidFill>
                            <a:srgbClr val="000000"/>
                          </a:solidFill>
                          <a:latin typeface="Aptos"/>
                        </a:rPr>
                        <a:t>1</a:t>
                      </a:r>
                    </a:p>
                  </a:txBody>
                  <a:tcPr marL="76200" marR="76200" marT="25400" marB="25400" anchor="ctr">
                    <a:solidFill>
                      <a:srgbClr val="EEF3F7"/>
                    </a:solidFill>
                  </a:tcPr>
                </a:tc>
                <a:tc>
                  <a:txBody>
                    <a:bodyPr/>
                    <a:lstStyle/>
                    <a:p>
                      <a:pPr>
                        <a:buNone/>
                      </a:pPr>
                      <a:r>
                        <a:rPr sz="1300" b="0" i="0">
                          <a:solidFill>
                            <a:srgbClr val="0E9ED4"/>
                          </a:solidFill>
                          <a:latin typeface="Aptos"/>
                        </a:rPr>
                        <a:t>+0.105</a:t>
                      </a:r>
                    </a:p>
                  </a:txBody>
                  <a:tcPr marL="76200" marR="76200" marT="25400" marB="25400" anchor="ctr">
                    <a:solidFill>
                      <a:srgbClr val="EEF3F7"/>
                    </a:solidFill>
                  </a:tcPr>
                </a:tc>
              </a:tr>
              <a:tr h="431800">
                <a:tc>
                  <a:txBody>
                    <a:bodyPr/>
                    <a:lstStyle/>
                    <a:p>
                      <a:pPr>
                        <a:buNone/>
                      </a:pPr>
                      <a:r>
                        <a:rPr sz="1300" b="0" i="0">
                          <a:solidFill>
                            <a:srgbClr val="000000"/>
                          </a:solidFill>
                          <a:latin typeface="Aptos"/>
                        </a:rPr>
                        <a:t>Night IR</a:t>
                      </a:r>
                    </a:p>
                  </a:txBody>
                  <a:tcPr marL="76200" marR="76200" marT="25400" marB="25400" anchor="ctr">
                    <a:solidFill>
                      <a:srgbClr val="FFFFFF"/>
                    </a:solidFill>
                  </a:tcPr>
                </a:tc>
                <a:tc>
                  <a:txBody>
                    <a:bodyPr/>
                    <a:lstStyle/>
                    <a:p>
                      <a:pPr>
                        <a:buNone/>
                      </a:pPr>
                      <a:r>
                        <a:rPr sz="1300" b="0" i="0">
                          <a:solidFill>
                            <a:srgbClr val="0E9ED4"/>
                          </a:solidFill>
                          <a:latin typeface="Aptos"/>
                        </a:rPr>
                        <a:t>−0.121</a:t>
                      </a:r>
                    </a:p>
                  </a:txBody>
                  <a:tcPr marL="76200" marR="76200" marT="25400" marB="25400" anchor="ctr">
                    <a:solidFill>
                      <a:srgbClr val="FFFFFF"/>
                    </a:solidFill>
                  </a:tcPr>
                </a:tc>
                <a:tc>
                  <a:txBody>
                    <a:bodyPr/>
                    <a:lstStyle/>
                    <a:p>
                      <a:pPr>
                        <a:buNone/>
                      </a:pPr>
                      <a:r>
                        <a:rPr sz="1300" b="0" i="0">
                          <a:solidFill>
                            <a:srgbClr val="0E9ED4"/>
                          </a:solidFill>
                          <a:latin typeface="Aptos"/>
                        </a:rPr>
                        <a:t>−0.085</a:t>
                      </a:r>
                    </a:p>
                  </a:txBody>
                  <a:tcPr marL="76200" marR="76200" marT="25400" marB="25400" anchor="ctr">
                    <a:solidFill>
                      <a:srgbClr val="FFFFFF"/>
                    </a:solidFill>
                  </a:tcPr>
                </a:tc>
                <a:tc>
                  <a:txBody>
                    <a:bodyPr/>
                    <a:lstStyle/>
                    <a:p>
                      <a:pPr>
                        <a:buNone/>
                      </a:pPr>
                      <a:r>
                        <a:rPr sz="1300" b="0" i="0">
                          <a:solidFill>
                            <a:srgbClr val="0E9ED4"/>
                          </a:solidFill>
                          <a:latin typeface="Aptos"/>
                        </a:rPr>
                        <a:t>−0.068</a:t>
                      </a:r>
                    </a:p>
                  </a:txBody>
                  <a:tcPr marL="76200" marR="76200" marT="25400" marB="25400" anchor="ctr">
                    <a:solidFill>
                      <a:srgbClr val="FFFFFF"/>
                    </a:solidFill>
                  </a:tcPr>
                </a:tc>
                <a:tc>
                  <a:txBody>
                    <a:bodyPr/>
                    <a:lstStyle/>
                    <a:p>
                      <a:pPr>
                        <a:buNone/>
                      </a:pPr>
                      <a:r>
                        <a:rPr sz="1300" b="0" i="0">
                          <a:solidFill>
                            <a:srgbClr val="0E9ED4"/>
                          </a:solidFill>
                          <a:latin typeface="Aptos"/>
                        </a:rPr>
                        <a:t>+0.105</a:t>
                      </a:r>
                    </a:p>
                  </a:txBody>
                  <a:tcPr marL="76200" marR="76200" marT="25400" marB="25400" anchor="ctr">
                    <a:solidFill>
                      <a:srgbClr val="FFFFFF"/>
                    </a:solidFill>
                  </a:tcPr>
                </a:tc>
                <a:tc>
                  <a:txBody>
                    <a:bodyPr/>
                    <a:lstStyle/>
                    <a:p>
                      <a:pPr>
                        <a:buNone/>
                      </a:pPr>
                      <a:r>
                        <a:rPr sz="1300" b="0" i="0">
                          <a:solidFill>
                            <a:srgbClr val="000000"/>
                          </a:solidFill>
                          <a:latin typeface="Aptos"/>
                        </a:rPr>
                        <a:t>1</a:t>
                      </a:r>
                    </a:p>
                  </a:txBody>
                  <a:tcPr marL="76200" marR="76200" marT="25400" marB="25400" anchor="ctr">
                    <a:solidFill>
                      <a:srgbClr val="FFFFFF"/>
                    </a:solidFill>
                  </a:tcPr>
                </a:tc>
              </a:tr>
            </a:tbl>
          </a:graphicData>
        </a:graphic>
      </p:graphicFrame>
      <p:sp>
        <p:nvSpPr>
          <p:cNvPr id="5" name="TextBox 4"/>
          <p:cNvSpPr txBox="1"/>
          <p:nvPr/>
        </p:nvSpPr>
        <p:spPr>
          <a:xfrm>
            <a:off x="825500" y="4572000"/>
            <a:ext cx="10541000" cy="508000"/>
          </a:xfrm>
          <a:prstGeom prst="rect">
            <a:avLst/>
          </a:prstGeom>
          <a:noFill/>
        </p:spPr>
        <p:txBody>
          <a:bodyPr wrap="square" anchor="t" lIns="0" rIns="0" tIns="0" bIns="0">
            <a:spAutoFit/>
          </a:bodyPr>
          <a:lstStyle/>
          <a:p>
            <a:pPr>
              <a:buNone/>
            </a:pPr>
            <a:r>
              <a:rPr sz="1300" b="0" i="1">
                <a:solidFill>
                  <a:srgbClr val="555F66"/>
                </a:solidFill>
                <a:latin typeface="Aptos"/>
              </a:rPr>
              <a:t>The three Viking bands behave as one (r 0.93–0.99); day IR adds a second dimension and night IR a third. That is the measured case for fusing them.   PROJECT-KNOWLEDGE.md §18.3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400" b="0" i="0">
                <a:solidFill>
                  <a:srgbClr val="000000"/>
                </a:solidFill>
                <a:latin typeface="Aptos Display"/>
              </a:rPr>
              <a:t>Project Tasks and Percent Complete</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825500" y="1676400"/>
          <a:ext cx="10540999" cy="4572000"/>
        </p:xfrm>
        <a:graphic>
          <a:graphicData uri="http://schemas.openxmlformats.org/drawingml/2006/table">
            <a:tbl>
              <a:tblPr firstRow="1">
                <a:tableStyleId>{5C22544A-7EE6-4342-B048-85BDC9FD1C3A}</a:tableStyleId>
              </a:tblPr>
              <a:tblGrid>
                <a:gridCol w="383309"/>
                <a:gridCol w="2874818"/>
                <a:gridCol w="5749636"/>
                <a:gridCol w="766618"/>
                <a:gridCol w="766618"/>
              </a:tblGrid>
              <a:tr h="304800">
                <a:tc>
                  <a:txBody>
                    <a:bodyPr/>
                    <a:lstStyle/>
                    <a:p>
                      <a:pPr>
                        <a:buNone/>
                      </a:pPr>
                      <a:r>
                        <a:rPr sz="1000" b="1" i="0">
                          <a:solidFill>
                            <a:srgbClr val="FFFFFF"/>
                          </a:solidFill>
                          <a:latin typeface="Aptos"/>
                        </a:rPr>
                        <a:t>#</a:t>
                      </a:r>
                    </a:p>
                  </a:txBody>
                  <a:tcPr marL="76200" marR="76200" marT="38100" marB="38100" anchor="ctr">
                    <a:solidFill>
                      <a:srgbClr val="0E2841"/>
                    </a:solidFill>
                  </a:tcPr>
                </a:tc>
                <a:tc>
                  <a:txBody>
                    <a:bodyPr/>
                    <a:lstStyle/>
                    <a:p>
                      <a:pPr>
                        <a:buNone/>
                      </a:pPr>
                      <a:r>
                        <a:rPr sz="1000" b="1" i="0">
                          <a:solidFill>
                            <a:srgbClr val="FFFFFF"/>
                          </a:solidFill>
                          <a:latin typeface="Aptos"/>
                        </a:rPr>
                        <a:t>Task</a:t>
                      </a:r>
                    </a:p>
                  </a:txBody>
                  <a:tcPr marL="76200" marR="76200" marT="38100" marB="38100" anchor="ctr">
                    <a:solidFill>
                      <a:srgbClr val="0E2841"/>
                    </a:solidFill>
                  </a:tcPr>
                </a:tc>
                <a:tc>
                  <a:txBody>
                    <a:bodyPr/>
                    <a:lstStyle/>
                    <a:p>
                      <a:pPr>
                        <a:buNone/>
                      </a:pPr>
                      <a:r>
                        <a:rPr sz="1000" b="1" i="0">
                          <a:solidFill>
                            <a:srgbClr val="FFFFFF"/>
                          </a:solidFill>
                          <a:latin typeface="Aptos"/>
                        </a:rPr>
                        <a:t>Where it stands</a:t>
                      </a:r>
                    </a:p>
                  </a:txBody>
                  <a:tcPr marL="76200" marR="76200" marT="38100" marB="38100" anchor="ctr">
                    <a:solidFill>
                      <a:srgbClr val="0E2841"/>
                    </a:solidFill>
                  </a:tcPr>
                </a:tc>
                <a:tc>
                  <a:txBody>
                    <a:bodyPr/>
                    <a:lstStyle/>
                    <a:p>
                      <a:pPr>
                        <a:buNone/>
                      </a:pPr>
                      <a:r>
                        <a:rPr sz="1000" b="1" i="0">
                          <a:solidFill>
                            <a:srgbClr val="FFFFFF"/>
                          </a:solidFill>
                          <a:latin typeface="Aptos"/>
                        </a:rPr>
                        <a:t>13 Sep</a:t>
                      </a:r>
                    </a:p>
                  </a:txBody>
                  <a:tcPr marL="76200" marR="76200" marT="38100" marB="38100" anchor="ctr">
                    <a:solidFill>
                      <a:srgbClr val="0E2841"/>
                    </a:solidFill>
                  </a:tcPr>
                </a:tc>
                <a:tc>
                  <a:txBody>
                    <a:bodyPr/>
                    <a:lstStyle/>
                    <a:p>
                      <a:pPr>
                        <a:buNone/>
                      </a:pPr>
                      <a:r>
                        <a:rPr sz="1000" b="1" i="0">
                          <a:solidFill>
                            <a:srgbClr val="FFFFFF"/>
                          </a:solidFill>
                          <a:latin typeface="Aptos"/>
                        </a:rPr>
                        <a:t>Now</a:t>
                      </a:r>
                    </a:p>
                  </a:txBody>
                  <a:tcPr marL="76200" marR="76200" marT="38100" marB="38100" anchor="ctr">
                    <a:solidFill>
                      <a:srgbClr val="0E2841"/>
                    </a:solidFill>
                  </a:tcPr>
                </a:tc>
              </a:tr>
              <a:tr h="304800">
                <a:tc>
                  <a:txBody>
                    <a:bodyPr/>
                    <a:lstStyle/>
                    <a:p>
                      <a:pPr>
                        <a:buNone/>
                      </a:pPr>
                      <a:r>
                        <a:rPr sz="1000" b="0" i="0">
                          <a:solidFill>
                            <a:srgbClr val="000000"/>
                          </a:solidFill>
                          <a:latin typeface="Aptos"/>
                        </a:rPr>
                        <a:t>1</a:t>
                      </a:r>
                    </a:p>
                  </a:txBody>
                  <a:tcPr marL="76200" marR="76200" marT="25400" marB="25400" anchor="ctr">
                    <a:solidFill>
                      <a:srgbClr val="FFFFFF"/>
                    </a:solidFill>
                  </a:tcPr>
                </a:tc>
                <a:tc>
                  <a:txBody>
                    <a:bodyPr/>
                    <a:lstStyle/>
                    <a:p>
                      <a:pPr>
                        <a:buNone/>
                      </a:pPr>
                      <a:r>
                        <a:rPr sz="1000" b="0" i="0">
                          <a:solidFill>
                            <a:srgbClr val="000000"/>
                          </a:solidFill>
                          <a:latin typeface="Aptos"/>
                        </a:rPr>
                        <a:t>Scope, targets and type area</a:t>
                      </a:r>
                    </a:p>
                  </a:txBody>
                  <a:tcPr marL="76200" marR="76200" marT="25400" marB="25400" anchor="ctr">
                    <a:solidFill>
                      <a:srgbClr val="FFFFFF"/>
                    </a:solidFill>
                  </a:tcPr>
                </a:tc>
                <a:tc>
                  <a:txBody>
                    <a:bodyPr/>
                    <a:lstStyle/>
                    <a:p>
                      <a:pPr>
                        <a:buNone/>
                      </a:pPr>
                      <a:r>
                        <a:rPr sz="1000" b="0" i="0">
                          <a:solidFill>
                            <a:srgbClr val="000000"/>
                          </a:solidFill>
                          <a:latin typeface="Aptos"/>
                        </a:rPr>
                        <a:t>Two type areas, Ius Chasma and Athabasca Valles; the ±60° extent</a:t>
                      </a:r>
                    </a:p>
                  </a:txBody>
                  <a:tcPr marL="76200" marR="76200" marT="25400" marB="25400" anchor="ctr">
                    <a:solidFill>
                      <a:srgbClr val="FFFFFF"/>
                    </a:solidFill>
                  </a:tcPr>
                </a:tc>
                <a:tc>
                  <a:txBody>
                    <a:bodyPr/>
                    <a:lstStyle/>
                    <a:p>
                      <a:pPr>
                        <a:buNone/>
                      </a:pPr>
                      <a:r>
                        <a:rPr sz="1000" b="0" i="0">
                          <a:solidFill>
                            <a:srgbClr val="000000"/>
                          </a:solidFill>
                          <a:latin typeface="Aptos"/>
                        </a:rPr>
                        <a:t>90%</a:t>
                      </a:r>
                    </a:p>
                  </a:txBody>
                  <a:tcPr marL="76200" marR="76200" marT="25400" marB="25400" anchor="ctr">
                    <a:solidFill>
                      <a:srgbClr val="FFFFFF"/>
                    </a:solidFill>
                  </a:tcPr>
                </a:tc>
                <a:tc>
                  <a:txBody>
                    <a:bodyPr/>
                    <a:lstStyle/>
                    <a:p>
                      <a:pPr>
                        <a:buNone/>
                      </a:pPr>
                      <a:r>
                        <a:rPr sz="1000" b="0" i="0">
                          <a:solidFill>
                            <a:srgbClr val="000000"/>
                          </a:solidFill>
                          <a:latin typeface="Aptos"/>
                        </a:rPr>
                        <a:t>100%</a:t>
                      </a:r>
                    </a:p>
                  </a:txBody>
                  <a:tcPr marL="76200" marR="76200" marT="25400" marB="25400" anchor="ctr">
                    <a:solidFill>
                      <a:srgbClr val="FFFFFF"/>
                    </a:solidFill>
                  </a:tcPr>
                </a:tc>
              </a:tr>
              <a:tr h="304800">
                <a:tc>
                  <a:txBody>
                    <a:bodyPr/>
                    <a:lstStyle/>
                    <a:p>
                      <a:pPr>
                        <a:buNone/>
                      </a:pPr>
                      <a:r>
                        <a:rPr sz="1000" b="0" i="0">
                          <a:solidFill>
                            <a:srgbClr val="000000"/>
                          </a:solidFill>
                          <a:latin typeface="Aptos"/>
                        </a:rPr>
                        <a:t>2</a:t>
                      </a:r>
                    </a:p>
                  </a:txBody>
                  <a:tcPr marL="76200" marR="76200" marT="25400" marB="25400" anchor="ctr">
                    <a:solidFill>
                      <a:srgbClr val="EEF3F7"/>
                    </a:solidFill>
                  </a:tcPr>
                </a:tc>
                <a:tc>
                  <a:txBody>
                    <a:bodyPr/>
                    <a:lstStyle/>
                    <a:p>
                      <a:pPr>
                        <a:buNone/>
                      </a:pPr>
                      <a:r>
                        <a:rPr sz="1000" b="0" i="0">
                          <a:solidFill>
                            <a:srgbClr val="000000"/>
                          </a:solidFill>
                          <a:latin typeface="Aptos"/>
                        </a:rPr>
                        <a:t>Raster acquisition</a:t>
                      </a:r>
                    </a:p>
                  </a:txBody>
                  <a:tcPr marL="76200" marR="76200" marT="25400" marB="25400" anchor="ctr">
                    <a:solidFill>
                      <a:srgbClr val="EEF3F7"/>
                    </a:solidFill>
                  </a:tcPr>
                </a:tc>
                <a:tc>
                  <a:txBody>
                    <a:bodyPr/>
                    <a:lstStyle/>
                    <a:p>
                      <a:pPr>
                        <a:buNone/>
                      </a:pPr>
                      <a:r>
                        <a:rPr sz="1000" b="0" i="0">
                          <a:solidFill>
                            <a:srgbClr val="000000"/>
                          </a:solidFill>
                          <a:latin typeface="Aptos"/>
                        </a:rPr>
                        <a:t>Three global mosaics plus the THEMIS night IR mosaic</a:t>
                      </a:r>
                    </a:p>
                  </a:txBody>
                  <a:tcPr marL="76200" marR="76200" marT="25400" marB="25400" anchor="ctr">
                    <a:solidFill>
                      <a:srgbClr val="EEF3F7"/>
                    </a:solidFill>
                  </a:tcPr>
                </a:tc>
                <a:tc>
                  <a:txBody>
                    <a:bodyPr/>
                    <a:lstStyle/>
                    <a:p>
                      <a:pPr>
                        <a:buNone/>
                      </a:pPr>
                      <a:r>
                        <a:rPr sz="1000" b="0" i="0">
                          <a:solidFill>
                            <a:srgbClr val="000000"/>
                          </a:solidFill>
                          <a:latin typeface="Aptos"/>
                        </a:rPr>
                        <a:t>100%</a:t>
                      </a:r>
                    </a:p>
                  </a:txBody>
                  <a:tcPr marL="76200" marR="76200" marT="25400" marB="25400" anchor="ctr">
                    <a:solidFill>
                      <a:srgbClr val="EEF3F7"/>
                    </a:solidFill>
                  </a:tcPr>
                </a:tc>
                <a:tc>
                  <a:txBody>
                    <a:bodyPr/>
                    <a:lstStyle/>
                    <a:p>
                      <a:pPr>
                        <a:buNone/>
                      </a:pPr>
                      <a:r>
                        <a:rPr sz="1000" b="0" i="0">
                          <a:solidFill>
                            <a:srgbClr val="000000"/>
                          </a:solidFill>
                          <a:latin typeface="Aptos"/>
                        </a:rPr>
                        <a:t>100%</a:t>
                      </a:r>
                    </a:p>
                  </a:txBody>
                  <a:tcPr marL="76200" marR="76200" marT="25400" marB="25400" anchor="ctr">
                    <a:solidFill>
                      <a:srgbClr val="EEF3F7"/>
                    </a:solidFill>
                  </a:tcPr>
                </a:tc>
              </a:tr>
              <a:tr h="304800">
                <a:tc>
                  <a:txBody>
                    <a:bodyPr/>
                    <a:lstStyle/>
                    <a:p>
                      <a:pPr>
                        <a:buNone/>
                      </a:pPr>
                      <a:r>
                        <a:rPr sz="1000" b="0" i="0">
                          <a:solidFill>
                            <a:srgbClr val="000000"/>
                          </a:solidFill>
                          <a:latin typeface="Aptos"/>
                        </a:rPr>
                        <a:t>3</a:t>
                      </a:r>
                    </a:p>
                  </a:txBody>
                  <a:tcPr marL="76200" marR="76200" marT="25400" marB="25400" anchor="ctr">
                    <a:solidFill>
                      <a:srgbClr val="FFFFFF"/>
                    </a:solidFill>
                  </a:tcPr>
                </a:tc>
                <a:tc>
                  <a:txBody>
                    <a:bodyPr/>
                    <a:lstStyle/>
                    <a:p>
                      <a:pPr>
                        <a:buNone/>
                      </a:pPr>
                      <a:r>
                        <a:rPr sz="1000" b="0" i="0">
                          <a:solidFill>
                            <a:srgbClr val="000000"/>
                          </a:solidFill>
                          <a:latin typeface="Aptos"/>
                        </a:rPr>
                        <a:t>Statistics, stretches, pyramids</a:t>
                      </a:r>
                    </a:p>
                  </a:txBody>
                  <a:tcPr marL="76200" marR="76200" marT="25400" marB="25400" anchor="ctr">
                    <a:solidFill>
                      <a:srgbClr val="FFFFFF"/>
                    </a:solidFill>
                  </a:tcPr>
                </a:tc>
                <a:tc>
                  <a:txBody>
                    <a:bodyPr/>
                    <a:lstStyle/>
                    <a:p>
                      <a:pPr>
                        <a:buNone/>
                      </a:pPr>
                      <a:r>
                        <a:rPr sz="1000" b="0" i="0">
                          <a:solidFill>
                            <a:srgbClr val="000000"/>
                          </a:solidFill>
                          <a:latin typeface="Aptos"/>
                        </a:rPr>
                        <a:t>Done for every product; pyramids on the four source globals took 26 min</a:t>
                      </a:r>
                    </a:p>
                  </a:txBody>
                  <a:tcPr marL="76200" marR="76200" marT="25400" marB="25400" anchor="ctr">
                    <a:solidFill>
                      <a:srgbClr val="FFFFFF"/>
                    </a:solidFill>
                  </a:tcPr>
                </a:tc>
                <a:tc>
                  <a:txBody>
                    <a:bodyPr/>
                    <a:lstStyle/>
                    <a:p>
                      <a:pPr>
                        <a:buNone/>
                      </a:pPr>
                      <a:r>
                        <a:rPr sz="1000" b="0" i="0">
                          <a:solidFill>
                            <a:srgbClr val="000000"/>
                          </a:solidFill>
                          <a:latin typeface="Aptos"/>
                        </a:rPr>
                        <a:t>70%</a:t>
                      </a:r>
                    </a:p>
                  </a:txBody>
                  <a:tcPr marL="76200" marR="76200" marT="25400" marB="25400" anchor="ctr">
                    <a:solidFill>
                      <a:srgbClr val="FFFFFF"/>
                    </a:solidFill>
                  </a:tcPr>
                </a:tc>
                <a:tc>
                  <a:txBody>
                    <a:bodyPr/>
                    <a:lstStyle/>
                    <a:p>
                      <a:pPr>
                        <a:buNone/>
                      </a:pPr>
                      <a:r>
                        <a:rPr sz="1000" b="0" i="0">
                          <a:solidFill>
                            <a:srgbClr val="000000"/>
                          </a:solidFill>
                          <a:latin typeface="Aptos"/>
                        </a:rPr>
                        <a:t>100%</a:t>
                      </a:r>
                    </a:p>
                  </a:txBody>
                  <a:tcPr marL="76200" marR="76200" marT="25400" marB="25400" anchor="ctr">
                    <a:solidFill>
                      <a:srgbClr val="FFFFFF"/>
                    </a:solidFill>
                  </a:tcPr>
                </a:tc>
              </a:tr>
              <a:tr h="304800">
                <a:tc>
                  <a:txBody>
                    <a:bodyPr/>
                    <a:lstStyle/>
                    <a:p>
                      <a:pPr>
                        <a:buNone/>
                      </a:pPr>
                      <a:r>
                        <a:rPr sz="1000" b="0" i="0">
                          <a:solidFill>
                            <a:srgbClr val="000000"/>
                          </a:solidFill>
                          <a:latin typeface="Aptos"/>
                        </a:rPr>
                        <a:t>4</a:t>
                      </a:r>
                    </a:p>
                  </a:txBody>
                  <a:tcPr marL="76200" marR="76200" marT="25400" marB="25400" anchor="ctr">
                    <a:solidFill>
                      <a:srgbClr val="EEF3F7"/>
                    </a:solidFill>
                  </a:tcPr>
                </a:tc>
                <a:tc>
                  <a:txBody>
                    <a:bodyPr/>
                    <a:lstStyle/>
                    <a:p>
                      <a:pPr>
                        <a:buNone/>
                      </a:pPr>
                      <a:r>
                        <a:rPr sz="1000" b="0" i="0">
                          <a:solidFill>
                            <a:srgbClr val="000000"/>
                          </a:solidFill>
                          <a:latin typeface="Aptos"/>
                        </a:rPr>
                        <a:t>Grouped mosaic viewer</a:t>
                      </a:r>
                    </a:p>
                  </a:txBody>
                  <a:tcPr marL="76200" marR="76200" marT="25400" marB="25400" anchor="ctr">
                    <a:solidFill>
                      <a:srgbClr val="EEF3F7"/>
                    </a:solidFill>
                  </a:tcPr>
                </a:tc>
                <a:tc>
                  <a:txBody>
                    <a:bodyPr/>
                    <a:lstStyle/>
                    <a:p>
                      <a:pPr>
                        <a:buNone/>
                      </a:pPr>
                      <a:r>
                        <a:rPr sz="1000" b="0" i="0">
                          <a:solidFill>
                            <a:srgbClr val="000000"/>
                          </a:solidFill>
                          <a:latin typeface="Aptos"/>
                        </a:rPr>
                        <a:t>Done</a:t>
                      </a:r>
                    </a:p>
                  </a:txBody>
                  <a:tcPr marL="76200" marR="76200" marT="25400" marB="25400" anchor="ctr">
                    <a:solidFill>
                      <a:srgbClr val="EEF3F7"/>
                    </a:solidFill>
                  </a:tcPr>
                </a:tc>
                <a:tc>
                  <a:txBody>
                    <a:bodyPr/>
                    <a:lstStyle/>
                    <a:p>
                      <a:pPr>
                        <a:buNone/>
                      </a:pPr>
                      <a:r>
                        <a:rPr sz="1000" b="0" i="0">
                          <a:solidFill>
                            <a:srgbClr val="000000"/>
                          </a:solidFill>
                          <a:latin typeface="Aptos"/>
                        </a:rPr>
                        <a:t>100%</a:t>
                      </a:r>
                    </a:p>
                  </a:txBody>
                  <a:tcPr marL="76200" marR="76200" marT="25400" marB="25400" anchor="ctr">
                    <a:solidFill>
                      <a:srgbClr val="EEF3F7"/>
                    </a:solidFill>
                  </a:tcPr>
                </a:tc>
                <a:tc>
                  <a:txBody>
                    <a:bodyPr/>
                    <a:lstStyle/>
                    <a:p>
                      <a:pPr>
                        <a:buNone/>
                      </a:pPr>
                      <a:r>
                        <a:rPr sz="1000" b="0" i="0">
                          <a:solidFill>
                            <a:srgbClr val="000000"/>
                          </a:solidFill>
                          <a:latin typeface="Aptos"/>
                        </a:rPr>
                        <a:t>100%</a:t>
                      </a:r>
                    </a:p>
                  </a:txBody>
                  <a:tcPr marL="76200" marR="76200" marT="25400" marB="25400" anchor="ctr">
                    <a:solidFill>
                      <a:srgbClr val="EEF3F7"/>
                    </a:solidFill>
                  </a:tcPr>
                </a:tc>
              </a:tr>
              <a:tr h="304800">
                <a:tc>
                  <a:txBody>
                    <a:bodyPr/>
                    <a:lstStyle/>
                    <a:p>
                      <a:pPr>
                        <a:buNone/>
                      </a:pPr>
                      <a:r>
                        <a:rPr sz="1000" b="0" i="0">
                          <a:solidFill>
                            <a:srgbClr val="000000"/>
                          </a:solidFill>
                          <a:latin typeface="Aptos"/>
                        </a:rPr>
                        <a:t>5</a:t>
                      </a:r>
                    </a:p>
                  </a:txBody>
                  <a:tcPr marL="76200" marR="76200" marT="25400" marB="25400" anchor="ctr">
                    <a:solidFill>
                      <a:srgbClr val="FFFFFF"/>
                    </a:solidFill>
                  </a:tcPr>
                </a:tc>
                <a:tc>
                  <a:txBody>
                    <a:bodyPr/>
                    <a:lstStyle/>
                    <a:p>
                      <a:pPr>
                        <a:buNone/>
                      </a:pPr>
                      <a:r>
                        <a:rPr sz="1000" b="0" i="0">
                          <a:solidFill>
                            <a:srgbClr val="000000"/>
                          </a:solidFill>
                          <a:latin typeface="Aptos"/>
                        </a:rPr>
                        <a:t>DEM terrain derivatives</a:t>
                      </a:r>
                    </a:p>
                  </a:txBody>
                  <a:tcPr marL="76200" marR="76200" marT="25400" marB="25400" anchor="ctr">
                    <a:solidFill>
                      <a:srgbClr val="FFFFFF"/>
                    </a:solidFill>
                  </a:tcPr>
                </a:tc>
                <a:tc>
                  <a:txBody>
                    <a:bodyPr/>
                    <a:lstStyle/>
                    <a:p>
                      <a:pPr>
                        <a:buNone/>
                      </a:pPr>
                      <a:r>
                        <a:rPr sz="1000" b="0" i="0">
                          <a:solidFill>
                            <a:srgbClr val="000000"/>
                          </a:solidFill>
                          <a:latin typeface="Aptos"/>
                        </a:rPr>
                        <a:t>Slope rebuilt in degrees, type area and ±60°; WARNING 000869 gone</a:t>
                      </a:r>
                    </a:p>
                  </a:txBody>
                  <a:tcPr marL="76200" marR="76200" marT="25400" marB="25400" anchor="ctr">
                    <a:solidFill>
                      <a:srgbClr val="FFFFFF"/>
                    </a:solidFill>
                  </a:tcPr>
                </a:tc>
                <a:tc>
                  <a:txBody>
                    <a:bodyPr/>
                    <a:lstStyle/>
                    <a:p>
                      <a:pPr>
                        <a:buNone/>
                      </a:pPr>
                      <a:r>
                        <a:rPr sz="1000" b="0" i="0">
                          <a:solidFill>
                            <a:srgbClr val="000000"/>
                          </a:solidFill>
                          <a:latin typeface="Aptos"/>
                        </a:rPr>
                        <a:t>80%</a:t>
                      </a:r>
                    </a:p>
                  </a:txBody>
                  <a:tcPr marL="76200" marR="76200" marT="25400" marB="25400" anchor="ctr">
                    <a:solidFill>
                      <a:srgbClr val="FFFFFF"/>
                    </a:solidFill>
                  </a:tcPr>
                </a:tc>
                <a:tc>
                  <a:txBody>
                    <a:bodyPr/>
                    <a:lstStyle/>
                    <a:p>
                      <a:pPr>
                        <a:buNone/>
                      </a:pPr>
                      <a:r>
                        <a:rPr sz="1000" b="0" i="0">
                          <a:solidFill>
                            <a:srgbClr val="000000"/>
                          </a:solidFill>
                          <a:latin typeface="Aptos"/>
                        </a:rPr>
                        <a:t>100%</a:t>
                      </a:r>
                    </a:p>
                  </a:txBody>
                  <a:tcPr marL="76200" marR="76200" marT="25400" marB="25400" anchor="ctr">
                    <a:solidFill>
                      <a:srgbClr val="FFFFFF"/>
                    </a:solidFill>
                  </a:tcPr>
                </a:tc>
              </a:tr>
              <a:tr h="304800">
                <a:tc>
                  <a:txBody>
                    <a:bodyPr/>
                    <a:lstStyle/>
                    <a:p>
                      <a:pPr>
                        <a:buNone/>
                      </a:pPr>
                      <a:r>
                        <a:rPr sz="1000" b="0" i="0">
                          <a:solidFill>
                            <a:srgbClr val="000000"/>
                          </a:solidFill>
                          <a:latin typeface="Aptos"/>
                        </a:rPr>
                        <a:t>6</a:t>
                      </a:r>
                    </a:p>
                  </a:txBody>
                  <a:tcPr marL="76200" marR="76200" marT="25400" marB="25400" anchor="ctr">
                    <a:solidFill>
                      <a:srgbClr val="EEF3F7"/>
                    </a:solidFill>
                  </a:tcPr>
                </a:tc>
                <a:tc>
                  <a:txBody>
                    <a:bodyPr/>
                    <a:lstStyle/>
                    <a:p>
                      <a:pPr>
                        <a:buNone/>
                      </a:pPr>
                      <a:r>
                        <a:rPr sz="1000" b="0" i="0">
                          <a:solidFill>
                            <a:srgbClr val="000000"/>
                          </a:solidFill>
                          <a:latin typeface="Aptos"/>
                        </a:rPr>
                        <a:t>Image-gradient products</a:t>
                      </a:r>
                    </a:p>
                  </a:txBody>
                  <a:tcPr marL="76200" marR="76200" marT="25400" marB="25400" anchor="ctr">
                    <a:solidFill>
                      <a:srgbClr val="EEF3F7"/>
                    </a:solidFill>
                  </a:tcPr>
                </a:tc>
                <a:tc>
                  <a:txBody>
                    <a:bodyPr/>
                    <a:lstStyle/>
                    <a:p>
                      <a:pPr>
                        <a:buNone/>
                      </a:pPr>
                      <a:r>
                        <a:rPr sz="1000" b="0" i="0">
                          <a:solidFill>
                            <a:srgbClr val="000000"/>
                          </a:solidFill>
                          <a:latin typeface="Aptos"/>
                        </a:rPr>
                        <a:t>Renamed Gradient_*; not used further</a:t>
                      </a:r>
                    </a:p>
                  </a:txBody>
                  <a:tcPr marL="76200" marR="76200" marT="25400" marB="25400" anchor="ctr">
                    <a:solidFill>
                      <a:srgbClr val="EEF3F7"/>
                    </a:solidFill>
                  </a:tcPr>
                </a:tc>
                <a:tc>
                  <a:txBody>
                    <a:bodyPr/>
                    <a:lstStyle/>
                    <a:p>
                      <a:pPr>
                        <a:buNone/>
                      </a:pPr>
                      <a:r>
                        <a:rPr sz="1000" b="0" i="0">
                          <a:solidFill>
                            <a:srgbClr val="000000"/>
                          </a:solidFill>
                          <a:latin typeface="Aptos"/>
                        </a:rPr>
                        <a:t>70%</a:t>
                      </a:r>
                    </a:p>
                  </a:txBody>
                  <a:tcPr marL="76200" marR="76200" marT="25400" marB="25400" anchor="ctr">
                    <a:solidFill>
                      <a:srgbClr val="EEF3F7"/>
                    </a:solidFill>
                  </a:tcPr>
                </a:tc>
                <a:tc>
                  <a:txBody>
                    <a:bodyPr/>
                    <a:lstStyle/>
                    <a:p>
                      <a:pPr>
                        <a:buNone/>
                      </a:pPr>
                      <a:r>
                        <a:rPr sz="1000" b="0" i="0">
                          <a:solidFill>
                            <a:srgbClr val="000000"/>
                          </a:solidFill>
                          <a:latin typeface="Aptos"/>
                        </a:rPr>
                        <a:t>100%</a:t>
                      </a:r>
                    </a:p>
                  </a:txBody>
                  <a:tcPr marL="76200" marR="76200" marT="25400" marB="25400" anchor="ctr">
                    <a:solidFill>
                      <a:srgbClr val="EEF3F7"/>
                    </a:solidFill>
                  </a:tcPr>
                </a:tc>
              </a:tr>
              <a:tr h="304800">
                <a:tc>
                  <a:txBody>
                    <a:bodyPr/>
                    <a:lstStyle/>
                    <a:p>
                      <a:pPr>
                        <a:buNone/>
                      </a:pPr>
                      <a:r>
                        <a:rPr sz="1000" b="0" i="0">
                          <a:solidFill>
                            <a:srgbClr val="000000"/>
                          </a:solidFill>
                          <a:latin typeface="Aptos"/>
                        </a:rPr>
                        <a:t>7</a:t>
                      </a:r>
                    </a:p>
                  </a:txBody>
                  <a:tcPr marL="76200" marR="76200" marT="25400" marB="25400" anchor="ctr">
                    <a:solidFill>
                      <a:srgbClr val="FFFFFF"/>
                    </a:solidFill>
                  </a:tcPr>
                </a:tc>
                <a:tc>
                  <a:txBody>
                    <a:bodyPr/>
                    <a:lstStyle/>
                    <a:p>
                      <a:pPr>
                        <a:buNone/>
                      </a:pPr>
                      <a:r>
                        <a:rPr sz="1000" b="0" i="0">
                          <a:solidFill>
                            <a:srgbClr val="000000"/>
                          </a:solidFill>
                          <a:latin typeface="Aptos"/>
                        </a:rPr>
                        <a:t>Jezero context</a:t>
                      </a:r>
                    </a:p>
                  </a:txBody>
                  <a:tcPr marL="76200" marR="76200" marT="25400" marB="25400" anchor="ctr">
                    <a:solidFill>
                      <a:srgbClr val="FFFFFF"/>
                    </a:solidFill>
                  </a:tcPr>
                </a:tc>
                <a:tc>
                  <a:txBody>
                    <a:bodyPr/>
                    <a:lstStyle/>
                    <a:p>
                      <a:pPr>
                        <a:buNone/>
                      </a:pPr>
                      <a:r>
                        <a:rPr sz="1000" b="0" i="0">
                          <a:solidFill>
                            <a:srgbClr val="000000"/>
                          </a:solidFill>
                          <a:latin typeface="Aptos"/>
                        </a:rPr>
                        <a:t>Hosted services only; the dead HiRISE link removed</a:t>
                      </a:r>
                    </a:p>
                  </a:txBody>
                  <a:tcPr marL="76200" marR="76200" marT="25400" marB="25400" anchor="ctr">
                    <a:solidFill>
                      <a:srgbClr val="FFFFFF"/>
                    </a:solidFill>
                  </a:tcPr>
                </a:tc>
                <a:tc>
                  <a:txBody>
                    <a:bodyPr/>
                    <a:lstStyle/>
                    <a:p>
                      <a:pPr>
                        <a:buNone/>
                      </a:pPr>
                      <a:r>
                        <a:rPr sz="1000" b="0" i="0">
                          <a:solidFill>
                            <a:srgbClr val="000000"/>
                          </a:solidFill>
                          <a:latin typeface="Aptos"/>
                        </a:rPr>
                        <a:t>20%</a:t>
                      </a:r>
                    </a:p>
                  </a:txBody>
                  <a:tcPr marL="76200" marR="76200" marT="25400" marB="25400" anchor="ctr">
                    <a:solidFill>
                      <a:srgbClr val="FFFFFF"/>
                    </a:solidFill>
                  </a:tcPr>
                </a:tc>
                <a:tc>
                  <a:txBody>
                    <a:bodyPr/>
                    <a:lstStyle/>
                    <a:p>
                      <a:pPr>
                        <a:buNone/>
                      </a:pPr>
                      <a:r>
                        <a:rPr sz="1000" b="0" i="0">
                          <a:solidFill>
                            <a:srgbClr val="000000"/>
                          </a:solidFill>
                          <a:latin typeface="Aptos"/>
                        </a:rPr>
                        <a:t>100%</a:t>
                      </a:r>
                    </a:p>
                  </a:txBody>
                  <a:tcPr marL="76200" marR="76200" marT="25400" marB="25400" anchor="ctr">
                    <a:solidFill>
                      <a:srgbClr val="FFFFFF"/>
                    </a:solidFill>
                  </a:tcPr>
                </a:tc>
              </a:tr>
              <a:tr h="304800">
                <a:tc>
                  <a:txBody>
                    <a:bodyPr/>
                    <a:lstStyle/>
                    <a:p>
                      <a:pPr>
                        <a:buNone/>
                      </a:pPr>
                      <a:r>
                        <a:rPr sz="1000" b="0" i="0">
                          <a:solidFill>
                            <a:srgbClr val="000000"/>
                          </a:solidFill>
                          <a:latin typeface="Aptos"/>
                        </a:rPr>
                        <a:t>8</a:t>
                      </a:r>
                    </a:p>
                  </a:txBody>
                  <a:tcPr marL="76200" marR="76200" marT="25400" marB="25400" anchor="ctr">
                    <a:solidFill>
                      <a:srgbClr val="EEF3F7"/>
                    </a:solidFill>
                  </a:tcPr>
                </a:tc>
                <a:tc>
                  <a:txBody>
                    <a:bodyPr/>
                    <a:lstStyle/>
                    <a:p>
                      <a:pPr>
                        <a:buNone/>
                      </a:pPr>
                      <a:r>
                        <a:rPr sz="1000" b="0" i="0">
                          <a:solidFill>
                            <a:srgbClr val="000000"/>
                          </a:solidFill>
                          <a:latin typeface="Aptos"/>
                        </a:rPr>
                        <a:t>Classification</a:t>
                      </a:r>
                    </a:p>
                  </a:txBody>
                  <a:tcPr marL="76200" marR="76200" marT="25400" marB="25400" anchor="ctr">
                    <a:solidFill>
                      <a:srgbClr val="EEF3F7"/>
                    </a:solidFill>
                  </a:tcPr>
                </a:tc>
                <a:tc>
                  <a:txBody>
                    <a:bodyPr/>
                    <a:lstStyle/>
                    <a:p>
                      <a:pPr>
                        <a:buNone/>
                      </a:pPr>
                      <a:r>
                        <a:rPr sz="1000" b="0" i="0">
                          <a:solidFill>
                            <a:srgbClr val="000000"/>
                          </a:solidFill>
                          <a:latin typeface="Aptos"/>
                        </a:rPr>
                        <a:t>±60° SVM on hand-drawn labels, 200 m: 73.8%, κ 0.58 held out; seven classes proposed</a:t>
                      </a:r>
                    </a:p>
                  </a:txBody>
                  <a:tcPr marL="76200" marR="76200" marT="25400" marB="25400" anchor="ctr">
                    <a:solidFill>
                      <a:srgbClr val="EEF3F7"/>
                    </a:solidFill>
                  </a:tcPr>
                </a:tc>
                <a:tc>
                  <a:txBody>
                    <a:bodyPr/>
                    <a:lstStyle/>
                    <a:p>
                      <a:pPr>
                        <a:buNone/>
                      </a:pPr>
                      <a:r>
                        <a:rPr sz="1000" b="0" i="0">
                          <a:solidFill>
                            <a:srgbClr val="000000"/>
                          </a:solidFill>
                          <a:latin typeface="Aptos"/>
                        </a:rPr>
                        <a:t>20%</a:t>
                      </a:r>
                    </a:p>
                  </a:txBody>
                  <a:tcPr marL="76200" marR="76200" marT="25400" marB="25400" anchor="ctr">
                    <a:solidFill>
                      <a:srgbClr val="EEF3F7"/>
                    </a:solidFill>
                  </a:tcPr>
                </a:tc>
                <a:tc>
                  <a:txBody>
                    <a:bodyPr/>
                    <a:lstStyle/>
                    <a:p>
                      <a:pPr>
                        <a:buNone/>
                      </a:pPr>
                      <a:r>
                        <a:rPr sz="1000" b="0" i="0">
                          <a:solidFill>
                            <a:srgbClr val="000000"/>
                          </a:solidFill>
                          <a:latin typeface="Aptos"/>
                        </a:rPr>
                        <a:t>75%</a:t>
                      </a:r>
                    </a:p>
                  </a:txBody>
                  <a:tcPr marL="76200" marR="76200" marT="25400" marB="25400" anchor="ctr">
                    <a:solidFill>
                      <a:srgbClr val="EEF3F7"/>
                    </a:solidFill>
                  </a:tcPr>
                </a:tc>
              </a:tr>
              <a:tr h="304800">
                <a:tc>
                  <a:txBody>
                    <a:bodyPr/>
                    <a:lstStyle/>
                    <a:p>
                      <a:pPr>
                        <a:buNone/>
                      </a:pPr>
                      <a:r>
                        <a:rPr sz="1000" b="0" i="0">
                          <a:solidFill>
                            <a:srgbClr val="000000"/>
                          </a:solidFill>
                          <a:latin typeface="Aptos"/>
                        </a:rPr>
                        <a:t>9</a:t>
                      </a:r>
                    </a:p>
                  </a:txBody>
                  <a:tcPr marL="76200" marR="76200" marT="25400" marB="25400" anchor="ctr">
                    <a:solidFill>
                      <a:srgbClr val="FFFFFF"/>
                    </a:solidFill>
                  </a:tcPr>
                </a:tc>
                <a:tc>
                  <a:txBody>
                    <a:bodyPr/>
                    <a:lstStyle/>
                    <a:p>
                      <a:pPr>
                        <a:buNone/>
                      </a:pPr>
                      <a:r>
                        <a:rPr sz="1000" b="0" i="0">
                          <a:solidFill>
                            <a:srgbClr val="000000"/>
                          </a:solidFill>
                          <a:latin typeface="Aptos"/>
                        </a:rPr>
                        <a:t>CRS harmonisation</a:t>
                      </a:r>
                    </a:p>
                  </a:txBody>
                  <a:tcPr marL="76200" marR="76200" marT="25400" marB="25400" anchor="ctr">
                    <a:solidFill>
                      <a:srgbClr val="FFFFFF"/>
                    </a:solidFill>
                  </a:tcPr>
                </a:tc>
                <a:tc>
                  <a:txBody>
                    <a:bodyPr/>
                    <a:lstStyle/>
                    <a:p>
                      <a:pPr>
                        <a:buNone/>
                      </a:pPr>
                      <a:r>
                        <a:rPr sz="1000" b="0" i="0">
                          <a:solidFill>
                            <a:srgbClr val="000000"/>
                          </a:solidFill>
                          <a:latin typeface="Aptos"/>
                        </a:rPr>
                        <a:t>Done: one 100 m / 200 m grid over ±60°</a:t>
                      </a:r>
                    </a:p>
                  </a:txBody>
                  <a:tcPr marL="76200" marR="76200" marT="25400" marB="25400" anchor="ctr">
                    <a:solidFill>
                      <a:srgbClr val="FFFFFF"/>
                    </a:solidFill>
                  </a:tcPr>
                </a:tc>
                <a:tc>
                  <a:txBody>
                    <a:bodyPr/>
                    <a:lstStyle/>
                    <a:p>
                      <a:pPr>
                        <a:buNone/>
                      </a:pPr>
                      <a:r>
                        <a:rPr sz="1000" b="0" i="0">
                          <a:solidFill>
                            <a:srgbClr val="000000"/>
                          </a:solidFill>
                          <a:latin typeface="Aptos"/>
                        </a:rPr>
                        <a:t>15%</a:t>
                      </a:r>
                    </a:p>
                  </a:txBody>
                  <a:tcPr marL="76200" marR="76200" marT="25400" marB="25400" anchor="ctr">
                    <a:solidFill>
                      <a:srgbClr val="FFFFFF"/>
                    </a:solidFill>
                  </a:tcPr>
                </a:tc>
                <a:tc>
                  <a:txBody>
                    <a:bodyPr/>
                    <a:lstStyle/>
                    <a:p>
                      <a:pPr>
                        <a:buNone/>
                      </a:pPr>
                      <a:r>
                        <a:rPr sz="1000" b="0" i="0">
                          <a:solidFill>
                            <a:srgbClr val="000000"/>
                          </a:solidFill>
                          <a:latin typeface="Aptos"/>
                        </a:rPr>
                        <a:t>100%</a:t>
                      </a:r>
                    </a:p>
                  </a:txBody>
                  <a:tcPr marL="76200" marR="76200" marT="25400" marB="25400" anchor="ctr">
                    <a:solidFill>
                      <a:srgbClr val="FFFFFF"/>
                    </a:solidFill>
                  </a:tcPr>
                </a:tc>
              </a:tr>
              <a:tr h="304800">
                <a:tc>
                  <a:txBody>
                    <a:bodyPr/>
                    <a:lstStyle/>
                    <a:p>
                      <a:pPr>
                        <a:buNone/>
                      </a:pPr>
                      <a:r>
                        <a:rPr sz="1000" b="0" i="0">
                          <a:solidFill>
                            <a:srgbClr val="000000"/>
                          </a:solidFill>
                          <a:latin typeface="Aptos"/>
                        </a:rPr>
                        <a:t>10</a:t>
                      </a:r>
                    </a:p>
                  </a:txBody>
                  <a:tcPr marL="76200" marR="76200" marT="25400" marB="25400" anchor="ctr">
                    <a:solidFill>
                      <a:srgbClr val="EEF3F7"/>
                    </a:solidFill>
                  </a:tcPr>
                </a:tc>
                <a:tc>
                  <a:txBody>
                    <a:bodyPr/>
                    <a:lstStyle/>
                    <a:p>
                      <a:pPr>
                        <a:buNone/>
                      </a:pPr>
                      <a:r>
                        <a:rPr sz="1000" b="0" i="0">
                          <a:solidFill>
                            <a:srgbClr val="000000"/>
                          </a:solidFill>
                          <a:latin typeface="Aptos"/>
                        </a:rPr>
                        <a:t>Visible + IR composite</a:t>
                      </a:r>
                    </a:p>
                  </a:txBody>
                  <a:tcPr marL="76200" marR="76200" marT="25400" marB="25400" anchor="ctr">
                    <a:solidFill>
                      <a:srgbClr val="EEF3F7"/>
                    </a:solidFill>
                  </a:tcPr>
                </a:tc>
                <a:tc>
                  <a:txBody>
                    <a:bodyPr/>
                    <a:lstStyle/>
                    <a:p>
                      <a:pPr>
                        <a:buNone/>
                      </a:pPr>
                      <a:r>
                        <a:rPr sz="1000" b="0" i="0">
                          <a:solidFill>
                            <a:srgbClr val="000000"/>
                          </a:solidFill>
                          <a:latin typeface="Aptos"/>
                        </a:rPr>
                        <a:t>Done: type area; 7-band ±60° stack</a:t>
                      </a:r>
                    </a:p>
                  </a:txBody>
                  <a:tcPr marL="76200" marR="76200" marT="25400" marB="25400" anchor="ctr">
                    <a:solidFill>
                      <a:srgbClr val="EEF3F7"/>
                    </a:solidFill>
                  </a:tcPr>
                </a:tc>
                <a:tc>
                  <a:txBody>
                    <a:bodyPr/>
                    <a:lstStyle/>
                    <a:p>
                      <a:pPr>
                        <a:buNone/>
                      </a:pPr>
                      <a:r>
                        <a:rPr sz="1000" b="0" i="0">
                          <a:solidFill>
                            <a:srgbClr val="000000"/>
                          </a:solidFill>
                          <a:latin typeface="Aptos"/>
                        </a:rPr>
                        <a:t>5%</a:t>
                      </a:r>
                    </a:p>
                  </a:txBody>
                  <a:tcPr marL="76200" marR="76200" marT="25400" marB="25400" anchor="ctr">
                    <a:solidFill>
                      <a:srgbClr val="EEF3F7"/>
                    </a:solidFill>
                  </a:tcPr>
                </a:tc>
                <a:tc>
                  <a:txBody>
                    <a:bodyPr/>
                    <a:lstStyle/>
                    <a:p>
                      <a:pPr>
                        <a:buNone/>
                      </a:pPr>
                      <a:r>
                        <a:rPr sz="1000" b="0" i="0">
                          <a:solidFill>
                            <a:srgbClr val="000000"/>
                          </a:solidFill>
                          <a:latin typeface="Aptos"/>
                        </a:rPr>
                        <a:t>100%</a:t>
                      </a:r>
                    </a:p>
                  </a:txBody>
                  <a:tcPr marL="76200" marR="76200" marT="25400" marB="25400" anchor="ctr">
                    <a:solidFill>
                      <a:srgbClr val="EEF3F7"/>
                    </a:solidFill>
                  </a:tcPr>
                </a:tc>
              </a:tr>
              <a:tr h="304800">
                <a:tc>
                  <a:txBody>
                    <a:bodyPr/>
                    <a:lstStyle/>
                    <a:p>
                      <a:pPr>
                        <a:buNone/>
                      </a:pPr>
                      <a:r>
                        <a:rPr sz="1000" b="0" i="0">
                          <a:solidFill>
                            <a:srgbClr val="000000"/>
                          </a:solidFill>
                          <a:latin typeface="Aptos"/>
                        </a:rPr>
                        <a:t>11</a:t>
                      </a:r>
                    </a:p>
                  </a:txBody>
                  <a:tcPr marL="76200" marR="76200" marT="25400" marB="25400" anchor="ctr">
                    <a:solidFill>
                      <a:srgbClr val="FFFFFF"/>
                    </a:solidFill>
                  </a:tcPr>
                </a:tc>
                <a:tc>
                  <a:txBody>
                    <a:bodyPr/>
                    <a:lstStyle/>
                    <a:p>
                      <a:pPr>
                        <a:buNone/>
                      </a:pPr>
                      <a:r>
                        <a:rPr sz="1000" b="0" i="0">
                          <a:solidFill>
                            <a:srgbClr val="000000"/>
                          </a:solidFill>
                          <a:latin typeface="Aptos"/>
                        </a:rPr>
                        <a:t>Landform digitising</a:t>
                      </a:r>
                    </a:p>
                  </a:txBody>
                  <a:tcPr marL="76200" marR="76200" marT="25400" marB="25400" anchor="ctr">
                    <a:solidFill>
                      <a:srgbClr val="FFFFFF"/>
                    </a:solidFill>
                  </a:tcPr>
                </a:tc>
                <a:tc>
                  <a:txBody>
                    <a:bodyPr/>
                    <a:lstStyle/>
                    <a:p>
                      <a:pPr>
                        <a:buNone/>
                      </a:pPr>
                      <a:r>
                        <a:rPr sz="1000" b="0" i="0">
                          <a:solidFill>
                            <a:srgbClr val="000000"/>
                          </a:solidFill>
                          <a:latin typeface="Aptos"/>
                        </a:rPr>
                        <a:t>512 training polygons drawn; landform classes set up but empty; candidates ready to review</a:t>
                      </a:r>
                    </a:p>
                  </a:txBody>
                  <a:tcPr marL="76200" marR="76200" marT="25400" marB="25400" anchor="ctr">
                    <a:solidFill>
                      <a:srgbClr val="FFFFFF"/>
                    </a:solidFill>
                  </a:tcPr>
                </a:tc>
                <a:tc>
                  <a:txBody>
                    <a:bodyPr/>
                    <a:lstStyle/>
                    <a:p>
                      <a:pPr>
                        <a:buNone/>
                      </a:pPr>
                      <a:r>
                        <a:rPr sz="1000" b="0" i="0">
                          <a:solidFill>
                            <a:srgbClr val="000000"/>
                          </a:solidFill>
                          <a:latin typeface="Aptos"/>
                        </a:rPr>
                        <a:t>0%</a:t>
                      </a:r>
                    </a:p>
                  </a:txBody>
                  <a:tcPr marL="76200" marR="76200" marT="25400" marB="25400" anchor="ctr">
                    <a:solidFill>
                      <a:srgbClr val="FFFFFF"/>
                    </a:solidFill>
                  </a:tcPr>
                </a:tc>
                <a:tc>
                  <a:txBody>
                    <a:bodyPr/>
                    <a:lstStyle/>
                    <a:p>
                      <a:pPr>
                        <a:buNone/>
                      </a:pPr>
                      <a:r>
                        <a:rPr sz="1000" b="0" i="0">
                          <a:solidFill>
                            <a:srgbClr val="000000"/>
                          </a:solidFill>
                          <a:latin typeface="Aptos"/>
                        </a:rPr>
                        <a:t>10%</a:t>
                      </a:r>
                    </a:p>
                  </a:txBody>
                  <a:tcPr marL="76200" marR="76200" marT="25400" marB="25400" anchor="ctr">
                    <a:solidFill>
                      <a:srgbClr val="FFFFFF"/>
                    </a:solidFill>
                  </a:tcPr>
                </a:tc>
              </a:tr>
              <a:tr h="304800">
                <a:tc>
                  <a:txBody>
                    <a:bodyPr/>
                    <a:lstStyle/>
                    <a:p>
                      <a:pPr>
                        <a:buNone/>
                      </a:pPr>
                      <a:r>
                        <a:rPr sz="1000" b="0" i="0">
                          <a:solidFill>
                            <a:srgbClr val="000000"/>
                          </a:solidFill>
                          <a:latin typeface="Aptos"/>
                        </a:rPr>
                        <a:t>12</a:t>
                      </a:r>
                    </a:p>
                  </a:txBody>
                  <a:tcPr marL="76200" marR="76200" marT="25400" marB="25400" anchor="ctr">
                    <a:solidFill>
                      <a:srgbClr val="EEF3F7"/>
                    </a:solidFill>
                  </a:tcPr>
                </a:tc>
                <a:tc>
                  <a:txBody>
                    <a:bodyPr/>
                    <a:lstStyle/>
                    <a:p>
                      <a:pPr>
                        <a:buNone/>
                      </a:pPr>
                      <a:r>
                        <a:rPr sz="1000" b="0" i="0">
                          <a:solidFill>
                            <a:srgbClr val="000000"/>
                          </a:solidFill>
                          <a:latin typeface="Aptos"/>
                        </a:rPr>
                        <a:t>Crater inventory</a:t>
                      </a:r>
                    </a:p>
                  </a:txBody>
                  <a:tcPr marL="76200" marR="76200" marT="25400" marB="25400" anchor="ctr">
                    <a:solidFill>
                      <a:srgbClr val="EEF3F7"/>
                    </a:solidFill>
                  </a:tcPr>
                </a:tc>
                <a:tc>
                  <a:txBody>
                    <a:bodyPr/>
                    <a:lstStyle/>
                    <a:p>
                      <a:pPr>
                        <a:buNone/>
                      </a:pPr>
                      <a:r>
                        <a:rPr sz="1000" b="0" i="0">
                          <a:solidFill>
                            <a:srgbClr val="000000"/>
                          </a:solidFill>
                          <a:latin typeface="Aptos"/>
                        </a:rPr>
                        <a:t>Robbins catalogue in the project (385,049); 465,354 closed depressions ≥ 1 km at ±60°</a:t>
                      </a:r>
                    </a:p>
                  </a:txBody>
                  <a:tcPr marL="76200" marR="76200" marT="25400" marB="25400" anchor="ctr">
                    <a:solidFill>
                      <a:srgbClr val="EEF3F7"/>
                    </a:solidFill>
                  </a:tcPr>
                </a:tc>
                <a:tc>
                  <a:txBody>
                    <a:bodyPr/>
                    <a:lstStyle/>
                    <a:p>
                      <a:pPr>
                        <a:buNone/>
                      </a:pPr>
                      <a:r>
                        <a:rPr sz="1000" b="0" i="0">
                          <a:solidFill>
                            <a:srgbClr val="000000"/>
                          </a:solidFill>
                          <a:latin typeface="Aptos"/>
                        </a:rPr>
                        <a:t>0%</a:t>
                      </a:r>
                    </a:p>
                  </a:txBody>
                  <a:tcPr marL="76200" marR="76200" marT="25400" marB="25400" anchor="ctr">
                    <a:solidFill>
                      <a:srgbClr val="EEF3F7"/>
                    </a:solidFill>
                  </a:tcPr>
                </a:tc>
                <a:tc>
                  <a:txBody>
                    <a:bodyPr/>
                    <a:lstStyle/>
                    <a:p>
                      <a:pPr>
                        <a:buNone/>
                      </a:pPr>
                      <a:r>
                        <a:rPr sz="1000" b="0" i="0">
                          <a:solidFill>
                            <a:srgbClr val="000000"/>
                          </a:solidFill>
                          <a:latin typeface="Aptos"/>
                        </a:rPr>
                        <a:t>60%</a:t>
                      </a:r>
                    </a:p>
                  </a:txBody>
                  <a:tcPr marL="76200" marR="76200" marT="25400" marB="25400" anchor="ctr">
                    <a:solidFill>
                      <a:srgbClr val="EEF3F7"/>
                    </a:solidFill>
                  </a:tcPr>
                </a:tc>
              </a:tr>
              <a:tr h="304800">
                <a:tc>
                  <a:txBody>
                    <a:bodyPr/>
                    <a:lstStyle/>
                    <a:p>
                      <a:pPr>
                        <a:buNone/>
                      </a:pPr>
                      <a:r>
                        <a:rPr sz="1000" b="0" i="0">
                          <a:solidFill>
                            <a:srgbClr val="000000"/>
                          </a:solidFill>
                          <a:latin typeface="Aptos"/>
                        </a:rPr>
                        <a:t>13</a:t>
                      </a:r>
                    </a:p>
                  </a:txBody>
                  <a:tcPr marL="76200" marR="76200" marT="25400" marB="25400" anchor="ctr">
                    <a:solidFill>
                      <a:srgbClr val="FFFFFF"/>
                    </a:solidFill>
                  </a:tcPr>
                </a:tc>
                <a:tc>
                  <a:txBody>
                    <a:bodyPr/>
                    <a:lstStyle/>
                    <a:p>
                      <a:pPr>
                        <a:buNone/>
                      </a:pPr>
                      <a:r>
                        <a:rPr sz="1000" b="0" i="0">
                          <a:solidFill>
                            <a:srgbClr val="000000"/>
                          </a:solidFill>
                          <a:latin typeface="Aptos"/>
                        </a:rPr>
                        <a:t>Map layouts</a:t>
                      </a:r>
                    </a:p>
                  </a:txBody>
                  <a:tcPr marL="76200" marR="76200" marT="25400" marB="25400" anchor="ctr">
                    <a:solidFill>
                      <a:srgbClr val="FFFFFF"/>
                    </a:solidFill>
                  </a:tcPr>
                </a:tc>
                <a:tc>
                  <a:txBody>
                    <a:bodyPr/>
                    <a:lstStyle/>
                    <a:p>
                      <a:pPr>
                        <a:buNone/>
                      </a:pPr>
                      <a:r>
                        <a:rPr sz="1000" b="0" i="0">
                          <a:solidFill>
                            <a:srgbClr val="000000"/>
                          </a:solidFill>
                          <a:latin typeface="Aptos"/>
                        </a:rPr>
                        <a:t>17 map layouts with graticules (none in September)</a:t>
                      </a:r>
                    </a:p>
                  </a:txBody>
                  <a:tcPr marL="76200" marR="76200" marT="25400" marB="25400" anchor="ctr">
                    <a:solidFill>
                      <a:srgbClr val="FFFFFF"/>
                    </a:solidFill>
                  </a:tcPr>
                </a:tc>
                <a:tc>
                  <a:txBody>
                    <a:bodyPr/>
                    <a:lstStyle/>
                    <a:p>
                      <a:pPr>
                        <a:buNone/>
                      </a:pPr>
                      <a:r>
                        <a:rPr sz="1000" b="0" i="0">
                          <a:solidFill>
                            <a:srgbClr val="000000"/>
                          </a:solidFill>
                          <a:latin typeface="Aptos"/>
                        </a:rPr>
                        <a:t>0%</a:t>
                      </a:r>
                    </a:p>
                  </a:txBody>
                  <a:tcPr marL="76200" marR="76200" marT="25400" marB="25400" anchor="ctr">
                    <a:solidFill>
                      <a:srgbClr val="FFFFFF"/>
                    </a:solidFill>
                  </a:tcPr>
                </a:tc>
                <a:tc>
                  <a:txBody>
                    <a:bodyPr/>
                    <a:lstStyle/>
                    <a:p>
                      <a:pPr>
                        <a:buNone/>
                      </a:pPr>
                      <a:r>
                        <a:rPr sz="1000" b="0" i="0">
                          <a:solidFill>
                            <a:srgbClr val="000000"/>
                          </a:solidFill>
                          <a:latin typeface="Aptos"/>
                        </a:rPr>
                        <a:t>85%</a:t>
                      </a:r>
                    </a:p>
                  </a:txBody>
                  <a:tcPr marL="76200" marR="76200" marT="25400" marB="25400" anchor="ctr">
                    <a:solidFill>
                      <a:srgbClr val="FFFFFF"/>
                    </a:solidFill>
                  </a:tcPr>
                </a:tc>
              </a:tr>
              <a:tr h="304800">
                <a:tc>
                  <a:txBody>
                    <a:bodyPr/>
                    <a:lstStyle/>
                    <a:p>
                      <a:pPr>
                        <a:buNone/>
                      </a:pPr>
                      <a:r>
                        <a:rPr sz="1000" b="0" i="0">
                          <a:solidFill>
                            <a:srgbClr val="000000"/>
                          </a:solidFill>
                          <a:latin typeface="Aptos"/>
                        </a:rPr>
                        <a:t>14</a:t>
                      </a:r>
                    </a:p>
                  </a:txBody>
                  <a:tcPr marL="76200" marR="76200" marT="25400" marB="25400" anchor="ctr">
                    <a:solidFill>
                      <a:srgbClr val="EEF3F7"/>
                    </a:solidFill>
                  </a:tcPr>
                </a:tc>
                <a:tc>
                  <a:txBody>
                    <a:bodyPr/>
                    <a:lstStyle/>
                    <a:p>
                      <a:pPr>
                        <a:buNone/>
                      </a:pPr>
                      <a:r>
                        <a:rPr sz="1000" b="0" i="0">
                          <a:solidFill>
                            <a:srgbClr val="000000"/>
                          </a:solidFill>
                          <a:latin typeface="Aptos"/>
                        </a:rPr>
                        <a:t>Report and presentations</a:t>
                      </a:r>
                    </a:p>
                  </a:txBody>
                  <a:tcPr marL="76200" marR="76200" marT="25400" marB="25400" anchor="ctr">
                    <a:solidFill>
                      <a:srgbClr val="EEF3F7"/>
                    </a:solidFill>
                  </a:tcPr>
                </a:tc>
                <a:tc>
                  <a:txBody>
                    <a:bodyPr/>
                    <a:lstStyle/>
                    <a:p>
                      <a:pPr>
                        <a:buNone/>
                      </a:pPr>
                      <a:r>
                        <a:rPr sz="1000" b="0" i="0">
                          <a:solidFill>
                            <a:srgbClr val="000000"/>
                          </a:solidFill>
                          <a:latin typeface="Aptos"/>
                        </a:rPr>
                        <a:t>Prospectus and Presentation 1 delivered; interim built to the 26 Oct cut; final paper and deck drafted</a:t>
                      </a:r>
                    </a:p>
                  </a:txBody>
                  <a:tcPr marL="76200" marR="76200" marT="25400" marB="25400" anchor="ctr">
                    <a:solidFill>
                      <a:srgbClr val="EEF3F7"/>
                    </a:solidFill>
                  </a:tcPr>
                </a:tc>
                <a:tc>
                  <a:txBody>
                    <a:bodyPr/>
                    <a:lstStyle/>
                    <a:p>
                      <a:pPr>
                        <a:buNone/>
                      </a:pPr>
                      <a:r>
                        <a:rPr sz="1000" b="0" i="0">
                          <a:solidFill>
                            <a:srgbClr val="000000"/>
                          </a:solidFill>
                          <a:latin typeface="Aptos"/>
                        </a:rPr>
                        <a:t>25%</a:t>
                      </a:r>
                    </a:p>
                  </a:txBody>
                  <a:tcPr marL="76200" marR="76200" marT="25400" marB="25400" anchor="ctr">
                    <a:solidFill>
                      <a:srgbClr val="EEF3F7"/>
                    </a:solidFill>
                  </a:tcPr>
                </a:tc>
                <a:tc>
                  <a:txBody>
                    <a:bodyPr/>
                    <a:lstStyle/>
                    <a:p>
                      <a:pPr>
                        <a:buNone/>
                      </a:pPr>
                      <a:r>
                        <a:rPr sz="1000" b="0" i="0">
                          <a:solidFill>
                            <a:srgbClr val="000000"/>
                          </a:solidFill>
                          <a:latin typeface="Aptos"/>
                        </a:rPr>
                        <a:t>60%</a:t>
                      </a:r>
                    </a:p>
                  </a:txBody>
                  <a:tcPr marL="76200" marR="76200" marT="25400" marB="25400" anchor="ctr">
                    <a:solidFill>
                      <a:srgbClr val="EEF3F7"/>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400" b="0" i="0">
                <a:solidFill>
                  <a:srgbClr val="000000"/>
                </a:solidFill>
                <a:latin typeface="Aptos Display"/>
              </a:rPr>
              <a:t>Processing Completed Since the Last Report</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825500" y="1676400"/>
          <a:ext cx="10540999" cy="4978400"/>
        </p:xfrm>
        <a:graphic>
          <a:graphicData uri="http://schemas.openxmlformats.org/drawingml/2006/table">
            <a:tbl>
              <a:tblPr firstRow="1">
                <a:tableStyleId>{5C22544A-7EE6-4342-B048-85BDC9FD1C3A}</a:tableStyleId>
              </a:tblPr>
              <a:tblGrid>
                <a:gridCol w="1023398"/>
                <a:gridCol w="4502951"/>
                <a:gridCol w="4093592"/>
                <a:gridCol w="921058"/>
              </a:tblGrid>
              <a:tr h="355600">
                <a:tc>
                  <a:txBody>
                    <a:bodyPr/>
                    <a:lstStyle/>
                    <a:p>
                      <a:pPr>
                        <a:buNone/>
                      </a:pPr>
                      <a:r>
                        <a:rPr sz="1100" b="1" i="0">
                          <a:solidFill>
                            <a:srgbClr val="FFFFFF"/>
                          </a:solidFill>
                          <a:latin typeface="Aptos"/>
                        </a:rPr>
                        <a:t>When</a:t>
                      </a:r>
                    </a:p>
                  </a:txBody>
                  <a:tcPr marL="76200" marR="76200" marT="38100" marB="38100" anchor="ctr">
                    <a:solidFill>
                      <a:srgbClr val="0E2841"/>
                    </a:solidFill>
                  </a:tcPr>
                </a:tc>
                <a:tc>
                  <a:txBody>
                    <a:bodyPr/>
                    <a:lstStyle/>
                    <a:p>
                      <a:pPr>
                        <a:buNone/>
                      </a:pPr>
                      <a:r>
                        <a:rPr sz="1100" b="1" i="0">
                          <a:solidFill>
                            <a:srgbClr val="FFFFFF"/>
                          </a:solidFill>
                          <a:latin typeface="Aptos"/>
                        </a:rPr>
                        <a:t>What</a:t>
                      </a:r>
                    </a:p>
                  </a:txBody>
                  <a:tcPr marL="76200" marR="76200" marT="38100" marB="38100" anchor="ctr">
                    <a:solidFill>
                      <a:srgbClr val="0E2841"/>
                    </a:solidFill>
                  </a:tcPr>
                </a:tc>
                <a:tc>
                  <a:txBody>
                    <a:bodyPr/>
                    <a:lstStyle/>
                    <a:p>
                      <a:pPr>
                        <a:buNone/>
                      </a:pPr>
                      <a:r>
                        <a:rPr sz="1100" b="1" i="0">
                          <a:solidFill>
                            <a:srgbClr val="FFFFFF"/>
                          </a:solidFill>
                          <a:latin typeface="Aptos"/>
                        </a:rPr>
                        <a:t>Outcome</a:t>
                      </a:r>
                    </a:p>
                  </a:txBody>
                  <a:tcPr marL="76200" marR="76200" marT="38100" marB="38100" anchor="ctr">
                    <a:solidFill>
                      <a:srgbClr val="0E2841"/>
                    </a:solidFill>
                  </a:tcPr>
                </a:tc>
                <a:tc>
                  <a:txBody>
                    <a:bodyPr/>
                    <a:lstStyle/>
                    <a:p>
                      <a:pPr>
                        <a:buNone/>
                      </a:pPr>
                      <a:r>
                        <a:rPr sz="1100" b="1" i="0">
                          <a:solidFill>
                            <a:srgbClr val="FFFFFF"/>
                          </a:solidFill>
                          <a:latin typeface="Aptos"/>
                        </a:rPr>
                        <a:t>KB</a:t>
                      </a:r>
                    </a:p>
                  </a:txBody>
                  <a:tcPr marL="76200" marR="76200" marT="38100" marB="38100" anchor="ctr">
                    <a:solidFill>
                      <a:srgbClr val="0E2841"/>
                    </a:solidFill>
                  </a:tcPr>
                </a:tc>
              </a:tr>
              <a:tr h="355600">
                <a:tc>
                  <a:txBody>
                    <a:bodyPr/>
                    <a:lstStyle/>
                    <a:p>
                      <a:pPr>
                        <a:buNone/>
                      </a:pPr>
                      <a:r>
                        <a:rPr sz="1100" b="0" i="0">
                          <a:solidFill>
                            <a:srgbClr val="000000"/>
                          </a:solidFill>
                          <a:latin typeface="Aptos"/>
                        </a:rPr>
                        <a:t>18 Sep</a:t>
                      </a:r>
                    </a:p>
                  </a:txBody>
                  <a:tcPr marL="76200" marR="76200" marT="25400" marB="25400" anchor="ctr">
                    <a:solidFill>
                      <a:srgbClr val="FFFFFF"/>
                    </a:solidFill>
                  </a:tcPr>
                </a:tc>
                <a:tc>
                  <a:txBody>
                    <a:bodyPr/>
                    <a:lstStyle/>
                    <a:p>
                      <a:pPr>
                        <a:buNone/>
                      </a:pPr>
                      <a:r>
                        <a:rPr sz="1100" b="0" i="0">
                          <a:solidFill>
                            <a:srgbClr val="000000"/>
                          </a:solidFill>
                          <a:latin typeface="Aptos"/>
                        </a:rPr>
                        <a:t>Night IR acquired; type-area stack; slope on a metric grid</a:t>
                      </a:r>
                    </a:p>
                  </a:txBody>
                  <a:tcPr marL="76200" marR="76200" marT="25400" marB="25400" anchor="ctr">
                    <a:solidFill>
                      <a:srgbClr val="FFFFFF"/>
                    </a:solidFill>
                  </a:tcPr>
                </a:tc>
                <a:tc>
                  <a:txBody>
                    <a:bodyPr/>
                    <a:lstStyle/>
                    <a:p>
                      <a:pPr>
                        <a:buNone/>
                      </a:pPr>
                      <a:r>
                        <a:rPr sz="1100" b="0" i="0">
                          <a:solidFill>
                            <a:srgbClr val="000000"/>
                          </a:solidFill>
                          <a:latin typeface="Aptos"/>
                        </a:rPr>
                        <a:t>Four inputs on one 100 m grid, 100% co-valid; slope in degrees</a:t>
                      </a:r>
                    </a:p>
                  </a:txBody>
                  <a:tcPr marL="76200" marR="76200" marT="25400" marB="25400" anchor="ctr">
                    <a:solidFill>
                      <a:srgbClr val="FFFFFF"/>
                    </a:solidFill>
                  </a:tcPr>
                </a:tc>
                <a:tc>
                  <a:txBody>
                    <a:bodyPr/>
                    <a:lstStyle/>
                    <a:p>
                      <a:pPr>
                        <a:buNone/>
                      </a:pPr>
                      <a:r>
                        <a:rPr sz="1100" b="0" i="0">
                          <a:solidFill>
                            <a:srgbClr val="000000"/>
                          </a:solidFill>
                          <a:latin typeface="Aptos"/>
                        </a:rPr>
                        <a:t>§15–20</a:t>
                      </a:r>
                    </a:p>
                  </a:txBody>
                  <a:tcPr marL="76200" marR="76200" marT="25400" marB="25400" anchor="ctr">
                    <a:solidFill>
                      <a:srgbClr val="FFFFFF"/>
                    </a:solidFill>
                  </a:tcPr>
                </a:tc>
              </a:tr>
              <a:tr h="355600">
                <a:tc>
                  <a:txBody>
                    <a:bodyPr/>
                    <a:lstStyle/>
                    <a:p>
                      <a:pPr>
                        <a:buNone/>
                      </a:pPr>
                      <a:r>
                        <a:rPr sz="1100" b="0" i="0">
                          <a:solidFill>
                            <a:srgbClr val="000000"/>
                          </a:solidFill>
                          <a:latin typeface="Aptos"/>
                        </a:rPr>
                        <a:t>19 Sep</a:t>
                      </a:r>
                    </a:p>
                  </a:txBody>
                  <a:tcPr marL="76200" marR="76200" marT="25400" marB="25400" anchor="ctr">
                    <a:solidFill>
                      <a:srgbClr val="EEF3F7"/>
                    </a:solidFill>
                  </a:tcPr>
                </a:tc>
                <a:tc>
                  <a:txBody>
                    <a:bodyPr/>
                    <a:lstStyle/>
                    <a:p>
                      <a:pPr>
                        <a:buNone/>
                      </a:pPr>
                      <a:r>
                        <a:rPr sz="1100" b="0" i="0">
                          <a:solidFill>
                            <a:srgbClr val="000000"/>
                          </a:solidFill>
                          <a:latin typeface="Aptos"/>
                        </a:rPr>
                        <a:t>±60° grids and diurnal contrast index</a:t>
                      </a:r>
                    </a:p>
                  </a:txBody>
                  <a:tcPr marL="76200" marR="76200" marT="25400" marB="25400" anchor="ctr">
                    <a:solidFill>
                      <a:srgbClr val="EEF3F7"/>
                    </a:solidFill>
                  </a:tcPr>
                </a:tc>
                <a:tc>
                  <a:txBody>
                    <a:bodyPr/>
                    <a:lstStyle/>
                    <a:p>
                      <a:pPr>
                        <a:buNone/>
                      </a:pPr>
                      <a:r>
                        <a:rPr sz="1100" b="0" i="0">
                          <a:solidFill>
                            <a:srgbClr val="000000"/>
                          </a:solidFill>
                          <a:latin typeface="Aptos"/>
                        </a:rPr>
                        <a:t>15.2 bn px in 36.3 min</a:t>
                      </a:r>
                    </a:p>
                  </a:txBody>
                  <a:tcPr marL="76200" marR="76200" marT="25400" marB="25400" anchor="ctr">
                    <a:solidFill>
                      <a:srgbClr val="EEF3F7"/>
                    </a:solidFill>
                  </a:tcPr>
                </a:tc>
                <a:tc>
                  <a:txBody>
                    <a:bodyPr/>
                    <a:lstStyle/>
                    <a:p>
                      <a:pPr>
                        <a:buNone/>
                      </a:pPr>
                      <a:r>
                        <a:rPr sz="1100" b="0" i="0">
                          <a:solidFill>
                            <a:srgbClr val="000000"/>
                          </a:solidFill>
                          <a:latin typeface="Aptos"/>
                        </a:rPr>
                        <a:t>§28</a:t>
                      </a:r>
                    </a:p>
                  </a:txBody>
                  <a:tcPr marL="76200" marR="76200" marT="25400" marB="25400" anchor="ctr">
                    <a:solidFill>
                      <a:srgbClr val="EEF3F7"/>
                    </a:solidFill>
                  </a:tcPr>
                </a:tc>
              </a:tr>
              <a:tr h="355600">
                <a:tc>
                  <a:txBody>
                    <a:bodyPr/>
                    <a:lstStyle/>
                    <a:p>
                      <a:pPr>
                        <a:buNone/>
                      </a:pPr>
                      <a:r>
                        <a:rPr sz="1100" b="0" i="0">
                          <a:solidFill>
                            <a:srgbClr val="000000"/>
                          </a:solidFill>
                          <a:latin typeface="Aptos"/>
                        </a:rPr>
                        <a:t>19 Sep</a:t>
                      </a:r>
                    </a:p>
                  </a:txBody>
                  <a:tcPr marL="76200" marR="76200" marT="25400" marB="25400" anchor="ctr">
                    <a:solidFill>
                      <a:srgbClr val="FFFFFF"/>
                    </a:solidFill>
                  </a:tcPr>
                </a:tc>
                <a:tc>
                  <a:txBody>
                    <a:bodyPr/>
                    <a:lstStyle/>
                    <a:p>
                      <a:pPr>
                        <a:buNone/>
                      </a:pPr>
                      <a:r>
                        <a:rPr sz="1100" b="0" i="0">
                          <a:solidFill>
                            <a:srgbClr val="000000"/>
                          </a:solidFill>
                          <a:latin typeface="Aptos"/>
                        </a:rPr>
                        <a:t>Channel and crater candidates, Ius; basins at ±60°</a:t>
                      </a:r>
                    </a:p>
                  </a:txBody>
                  <a:tcPr marL="76200" marR="76200" marT="25400" marB="25400" anchor="ctr">
                    <a:solidFill>
                      <a:srgbClr val="FFFFFF"/>
                    </a:solidFill>
                  </a:tcPr>
                </a:tc>
                <a:tc>
                  <a:txBody>
                    <a:bodyPr/>
                    <a:lstStyle/>
                    <a:p>
                      <a:pPr>
                        <a:buNone/>
                      </a:pPr>
                      <a:r>
                        <a:rPr sz="1100" b="0" i="0">
                          <a:solidFill>
                            <a:srgbClr val="000000"/>
                          </a:solidFill>
                          <a:latin typeface="Aptos"/>
                        </a:rPr>
                        <a:t>2,610 channels; 1,685 closed depressions; 5,144 basins ≥ 20 km</a:t>
                      </a:r>
                    </a:p>
                  </a:txBody>
                  <a:tcPr marL="76200" marR="76200" marT="25400" marB="25400" anchor="ctr">
                    <a:solidFill>
                      <a:srgbClr val="FFFFFF"/>
                    </a:solidFill>
                  </a:tcPr>
                </a:tc>
                <a:tc>
                  <a:txBody>
                    <a:bodyPr/>
                    <a:lstStyle/>
                    <a:p>
                      <a:pPr>
                        <a:buNone/>
                      </a:pPr>
                      <a:r>
                        <a:rPr sz="1100" b="0" i="0">
                          <a:solidFill>
                            <a:srgbClr val="000000"/>
                          </a:solidFill>
                          <a:latin typeface="Aptos"/>
                        </a:rPr>
                        <a:t>§25–28</a:t>
                      </a:r>
                    </a:p>
                  </a:txBody>
                  <a:tcPr marL="76200" marR="76200" marT="25400" marB="25400" anchor="ctr">
                    <a:solidFill>
                      <a:srgbClr val="FFFFFF"/>
                    </a:solidFill>
                  </a:tcPr>
                </a:tc>
              </a:tr>
              <a:tr h="355600">
                <a:tc>
                  <a:txBody>
                    <a:bodyPr/>
                    <a:lstStyle/>
                    <a:p>
                      <a:pPr>
                        <a:buNone/>
                      </a:pPr>
                      <a:r>
                        <a:rPr sz="1100" b="0" i="0">
                          <a:solidFill>
                            <a:srgbClr val="000000"/>
                          </a:solidFill>
                          <a:latin typeface="Aptos"/>
                        </a:rPr>
                        <a:t>24–30 Sep</a:t>
                      </a:r>
                    </a:p>
                  </a:txBody>
                  <a:tcPr marL="76200" marR="76200" marT="25400" marB="25400" anchor="ctr">
                    <a:solidFill>
                      <a:srgbClr val="EEF3F7"/>
                    </a:solidFill>
                  </a:tcPr>
                </a:tc>
                <a:tc>
                  <a:txBody>
                    <a:bodyPr/>
                    <a:lstStyle/>
                    <a:p>
                      <a:pPr>
                        <a:buNone/>
                      </a:pPr>
                      <a:r>
                        <a:rPr sz="1100" b="0" i="0">
                          <a:solidFill>
                            <a:srgbClr val="000000"/>
                          </a:solidFill>
                          <a:latin typeface="Aptos"/>
                        </a:rPr>
                        <a:t>Global composites in the Pro GUI (desktop)</a:t>
                      </a:r>
                    </a:p>
                  </a:txBody>
                  <a:tcPr marL="76200" marR="76200" marT="25400" marB="25400" anchor="ctr">
                    <a:solidFill>
                      <a:srgbClr val="EEF3F7"/>
                    </a:solidFill>
                  </a:tcPr>
                </a:tc>
                <a:tc>
                  <a:txBody>
                    <a:bodyPr/>
                    <a:lstStyle/>
                    <a:p>
                      <a:pPr>
                        <a:buNone/>
                      </a:pPr>
                      <a:r>
                        <a:rPr sz="1100" b="0" i="0">
                          <a:solidFill>
                            <a:srgbClr val="000000"/>
                          </a:solidFill>
                          <a:latin typeface="Aptos"/>
                        </a:rPr>
                        <a:t>Two runs finished: 2 h 52 m and 3 h 10 m</a:t>
                      </a:r>
                    </a:p>
                  </a:txBody>
                  <a:tcPr marL="76200" marR="76200" marT="25400" marB="25400" anchor="ctr">
                    <a:solidFill>
                      <a:srgbClr val="EEF3F7"/>
                    </a:solidFill>
                  </a:tcPr>
                </a:tc>
                <a:tc>
                  <a:txBody>
                    <a:bodyPr/>
                    <a:lstStyle/>
                    <a:p>
                      <a:pPr>
                        <a:buNone/>
                      </a:pPr>
                      <a:r>
                        <a:rPr sz="1100" b="0" i="0">
                          <a:solidFill>
                            <a:srgbClr val="000000"/>
                          </a:solidFill>
                          <a:latin typeface="Aptos"/>
                        </a:rPr>
                        <a:t>§29</a:t>
                      </a:r>
                    </a:p>
                  </a:txBody>
                  <a:tcPr marL="76200" marR="76200" marT="25400" marB="25400" anchor="ctr">
                    <a:solidFill>
                      <a:srgbClr val="EEF3F7"/>
                    </a:solidFill>
                  </a:tcPr>
                </a:tc>
              </a:tr>
              <a:tr h="355600">
                <a:tc>
                  <a:txBody>
                    <a:bodyPr/>
                    <a:lstStyle/>
                    <a:p>
                      <a:pPr>
                        <a:buNone/>
                      </a:pPr>
                      <a:r>
                        <a:rPr sz="1100" b="0" i="0">
                          <a:solidFill>
                            <a:srgbClr val="000000"/>
                          </a:solidFill>
                          <a:latin typeface="Aptos"/>
                        </a:rPr>
                        <a:t>29 Sep</a:t>
                      </a:r>
                    </a:p>
                  </a:txBody>
                  <a:tcPr marL="76200" marR="76200" marT="25400" marB="25400" anchor="ctr">
                    <a:solidFill>
                      <a:srgbClr val="FFFFFF"/>
                    </a:solidFill>
                  </a:tcPr>
                </a:tc>
                <a:tc>
                  <a:txBody>
                    <a:bodyPr/>
                    <a:lstStyle/>
                    <a:p>
                      <a:pPr>
                        <a:buNone/>
                      </a:pPr>
                      <a:r>
                        <a:rPr sz="1100" b="0" i="0">
                          <a:solidFill>
                            <a:srgbClr val="000000"/>
                          </a:solidFill>
                          <a:latin typeface="Aptos"/>
                        </a:rPr>
                        <a:t>Hand-drawn training polygons; SVMs</a:t>
                      </a:r>
                    </a:p>
                  </a:txBody>
                  <a:tcPr marL="76200" marR="76200" marT="25400" marB="25400" anchor="ctr">
                    <a:solidFill>
                      <a:srgbClr val="FFFFFF"/>
                    </a:solidFill>
                  </a:tcPr>
                </a:tc>
                <a:tc>
                  <a:txBody>
                    <a:bodyPr/>
                    <a:lstStyle/>
                    <a:p>
                      <a:pPr>
                        <a:buNone/>
                      </a:pPr>
                      <a:r>
                        <a:rPr sz="1100" b="0" i="0">
                          <a:solidFill>
                            <a:srgbClr val="000000"/>
                          </a:solidFill>
                          <a:latin typeface="Aptos"/>
                        </a:rPr>
                        <a:t>Four classes; two ±60° maps</a:t>
                      </a:r>
                    </a:p>
                  </a:txBody>
                  <a:tcPr marL="76200" marR="76200" marT="25400" marB="25400" anchor="ctr">
                    <a:solidFill>
                      <a:srgbClr val="FFFFFF"/>
                    </a:solidFill>
                  </a:tcPr>
                </a:tc>
                <a:tc>
                  <a:txBody>
                    <a:bodyPr/>
                    <a:lstStyle/>
                    <a:p>
                      <a:pPr>
                        <a:buNone/>
                      </a:pPr>
                      <a:r>
                        <a:rPr sz="1100" b="0" i="0">
                          <a:solidFill>
                            <a:srgbClr val="000000"/>
                          </a:solidFill>
                          <a:latin typeface="Aptos"/>
                        </a:rPr>
                        <a:t>§29</a:t>
                      </a:r>
                    </a:p>
                  </a:txBody>
                  <a:tcPr marL="76200" marR="76200" marT="25400" marB="25400" anchor="ctr">
                    <a:solidFill>
                      <a:srgbClr val="FFFFFF"/>
                    </a:solidFill>
                  </a:tcPr>
                </a:tc>
              </a:tr>
              <a:tr h="355600">
                <a:tc>
                  <a:txBody>
                    <a:bodyPr/>
                    <a:lstStyle/>
                    <a:p>
                      <a:pPr>
                        <a:buNone/>
                      </a:pPr>
                      <a:r>
                        <a:rPr sz="1100" b="0" i="0">
                          <a:solidFill>
                            <a:srgbClr val="000000"/>
                          </a:solidFill>
                          <a:latin typeface="Aptos"/>
                        </a:rPr>
                        <a:t>2–3 Oct</a:t>
                      </a:r>
                    </a:p>
                  </a:txBody>
                  <a:tcPr marL="76200" marR="76200" marT="25400" marB="25400" anchor="ctr">
                    <a:solidFill>
                      <a:srgbClr val="EEF3F7"/>
                    </a:solidFill>
                  </a:tcPr>
                </a:tc>
                <a:tc>
                  <a:txBody>
                    <a:bodyPr/>
                    <a:lstStyle/>
                    <a:p>
                      <a:pPr>
                        <a:buNone/>
                      </a:pPr>
                      <a:r>
                        <a:rPr sz="1100" b="0" i="0">
                          <a:solidFill>
                            <a:srgbClr val="000000"/>
                          </a:solidFill>
                          <a:latin typeface="Aptos"/>
                        </a:rPr>
                        <a:t>First SVM maps checked; corrected stack scored held out</a:t>
                      </a:r>
                    </a:p>
                  </a:txBody>
                  <a:tcPr marL="76200" marR="76200" marT="25400" marB="25400" anchor="ctr">
                    <a:solidFill>
                      <a:srgbClr val="EEF3F7"/>
                    </a:solidFill>
                  </a:tcPr>
                </a:tc>
                <a:tc>
                  <a:txBody>
                    <a:bodyPr/>
                    <a:lstStyle/>
                    <a:p>
                      <a:pPr>
                        <a:buNone/>
                      </a:pPr>
                      <a:r>
                        <a:rPr sz="1100" b="0" i="0">
                          <a:solidFill>
                            <a:srgbClr val="000000"/>
                          </a:solidFill>
                          <a:latin typeface="Aptos"/>
                        </a:rPr>
                        <a:t>Tile artefact, mostly elevation; then 73.5%, κ 0.58</a:t>
                      </a:r>
                    </a:p>
                  </a:txBody>
                  <a:tcPr marL="76200" marR="76200" marT="25400" marB="25400" anchor="ctr">
                    <a:solidFill>
                      <a:srgbClr val="EEF3F7"/>
                    </a:solidFill>
                  </a:tcPr>
                </a:tc>
                <a:tc>
                  <a:txBody>
                    <a:bodyPr/>
                    <a:lstStyle/>
                    <a:p>
                      <a:pPr>
                        <a:buNone/>
                      </a:pPr>
                      <a:r>
                        <a:rPr sz="1100" b="0" i="0">
                          <a:solidFill>
                            <a:srgbClr val="000000"/>
                          </a:solidFill>
                          <a:latin typeface="Aptos"/>
                        </a:rPr>
                        <a:t>§30–32</a:t>
                      </a:r>
                    </a:p>
                  </a:txBody>
                  <a:tcPr marL="76200" marR="76200" marT="25400" marB="25400" anchor="ctr">
                    <a:solidFill>
                      <a:srgbClr val="EEF3F7"/>
                    </a:solidFill>
                  </a:tcPr>
                </a:tc>
              </a:tr>
              <a:tr h="355600">
                <a:tc>
                  <a:txBody>
                    <a:bodyPr/>
                    <a:lstStyle/>
                    <a:p>
                      <a:pPr>
                        <a:buNone/>
                      </a:pPr>
                      <a:r>
                        <a:rPr sz="1100" b="0" i="0">
                          <a:solidFill>
                            <a:srgbClr val="000000"/>
                          </a:solidFill>
                          <a:latin typeface="Aptos"/>
                        </a:rPr>
                        <a:t>6–7 Oct</a:t>
                      </a:r>
                    </a:p>
                  </a:txBody>
                  <a:tcPr marL="76200" marR="76200" marT="25400" marB="25400" anchor="ctr">
                    <a:solidFill>
                      <a:srgbClr val="FFFFFF"/>
                    </a:solidFill>
                  </a:tcPr>
                </a:tc>
                <a:tc>
                  <a:txBody>
                    <a:bodyPr/>
                    <a:lstStyle/>
                    <a:p>
                      <a:pPr>
                        <a:buNone/>
                      </a:pPr>
                      <a:r>
                        <a:rPr sz="1100" b="0" i="0">
                          <a:solidFill>
                            <a:srgbClr val="000000"/>
                          </a:solidFill>
                          <a:latin typeface="Aptos"/>
                        </a:rPr>
                        <a:t>Backup to GitHub; class codes</a:t>
                      </a:r>
                    </a:p>
                  </a:txBody>
                  <a:tcPr marL="76200" marR="76200" marT="25400" marB="25400" anchor="ctr">
                    <a:solidFill>
                      <a:srgbClr val="FFFFFF"/>
                    </a:solidFill>
                  </a:tcPr>
                </a:tc>
                <a:tc>
                  <a:txBody>
                    <a:bodyPr/>
                    <a:lstStyle/>
                    <a:p>
                      <a:pPr>
                        <a:buNone/>
                      </a:pPr>
                      <a:r>
                        <a:rPr sz="1100" b="0" i="0">
                          <a:solidFill>
                            <a:srgbClr val="000000"/>
                          </a:solidFill>
                          <a:latin typeface="Aptos"/>
                        </a:rPr>
                        <a:t>Public repository; pixel = class code</a:t>
                      </a:r>
                    </a:p>
                  </a:txBody>
                  <a:tcPr marL="76200" marR="76200" marT="25400" marB="25400" anchor="ctr">
                    <a:solidFill>
                      <a:srgbClr val="FFFFFF"/>
                    </a:solidFill>
                  </a:tcPr>
                </a:tc>
                <a:tc>
                  <a:txBody>
                    <a:bodyPr/>
                    <a:lstStyle/>
                    <a:p>
                      <a:pPr>
                        <a:buNone/>
                      </a:pPr>
                      <a:r>
                        <a:rPr sz="1100" b="0" i="0">
                          <a:solidFill>
                            <a:srgbClr val="000000"/>
                          </a:solidFill>
                          <a:latin typeface="Aptos"/>
                        </a:rPr>
                        <a:t>§35–36</a:t>
                      </a:r>
                    </a:p>
                  </a:txBody>
                  <a:tcPr marL="76200" marR="76200" marT="25400" marB="25400" anchor="ctr">
                    <a:solidFill>
                      <a:srgbClr val="FFFFFF"/>
                    </a:solidFill>
                  </a:tcPr>
                </a:tc>
              </a:tr>
              <a:tr h="355600">
                <a:tc>
                  <a:txBody>
                    <a:bodyPr/>
                    <a:lstStyle/>
                    <a:p>
                      <a:pPr>
                        <a:buNone/>
                      </a:pPr>
                      <a:r>
                        <a:rPr sz="1100" b="0" i="0">
                          <a:solidFill>
                            <a:srgbClr val="000000"/>
                          </a:solidFill>
                          <a:latin typeface="Aptos"/>
                        </a:rPr>
                        <a:t>8 Oct</a:t>
                      </a:r>
                    </a:p>
                  </a:txBody>
                  <a:tcPr marL="76200" marR="76200" marT="25400" marB="25400" anchor="ctr">
                    <a:solidFill>
                      <a:srgbClr val="EEF3F7"/>
                    </a:solidFill>
                  </a:tcPr>
                </a:tc>
                <a:tc>
                  <a:txBody>
                    <a:bodyPr/>
                    <a:lstStyle/>
                    <a:p>
                      <a:pPr>
                        <a:buNone/>
                      </a:pPr>
                      <a:r>
                        <a:rPr sz="1100" b="0" i="0">
                          <a:solidFill>
                            <a:srgbClr val="000000"/>
                          </a:solidFill>
                          <a:latin typeface="Aptos"/>
                        </a:rPr>
                        <a:t>Reference data, Athabasca, tests T1–T3 and T8</a:t>
                      </a:r>
                    </a:p>
                  </a:txBody>
                  <a:tcPr marL="76200" marR="76200" marT="25400" marB="25400" anchor="ctr">
                    <a:solidFill>
                      <a:srgbClr val="EEF3F7"/>
                    </a:solidFill>
                  </a:tcPr>
                </a:tc>
                <a:tc>
                  <a:txBody>
                    <a:bodyPr/>
                    <a:lstStyle/>
                    <a:p>
                      <a:pPr>
                        <a:buNone/>
                      </a:pPr>
                      <a:r>
                        <a:rPr sz="1100" b="0" i="0">
                          <a:solidFill>
                            <a:srgbClr val="000000"/>
                          </a:solidFill>
                          <a:latin typeface="Aptos"/>
                        </a:rPr>
                        <a:t>Thermal adds +1.3 points; ten layouts</a:t>
                      </a:r>
                    </a:p>
                  </a:txBody>
                  <a:tcPr marL="76200" marR="76200" marT="25400" marB="25400" anchor="ctr">
                    <a:solidFill>
                      <a:srgbClr val="EEF3F7"/>
                    </a:solidFill>
                  </a:tcPr>
                </a:tc>
                <a:tc>
                  <a:txBody>
                    <a:bodyPr/>
                    <a:lstStyle/>
                    <a:p>
                      <a:pPr>
                        <a:buNone/>
                      </a:pPr>
                      <a:r>
                        <a:rPr sz="1100" b="0" i="0">
                          <a:solidFill>
                            <a:srgbClr val="000000"/>
                          </a:solidFill>
                          <a:latin typeface="Aptos"/>
                        </a:rPr>
                        <a:t>§38–44</a:t>
                      </a:r>
                    </a:p>
                  </a:txBody>
                  <a:tcPr marL="76200" marR="76200" marT="25400" marB="25400" anchor="ctr">
                    <a:solidFill>
                      <a:srgbClr val="EEF3F7"/>
                    </a:solidFill>
                  </a:tcPr>
                </a:tc>
              </a:tr>
              <a:tr h="355600">
                <a:tc>
                  <a:txBody>
                    <a:bodyPr/>
                    <a:lstStyle/>
                    <a:p>
                      <a:pPr>
                        <a:buNone/>
                      </a:pPr>
                      <a:r>
                        <a:rPr sz="1100" b="0" i="0">
                          <a:solidFill>
                            <a:srgbClr val="000000"/>
                          </a:solidFill>
                          <a:latin typeface="Aptos"/>
                        </a:rPr>
                        <a:t>8–9 Oct</a:t>
                      </a:r>
                    </a:p>
                  </a:txBody>
                  <a:tcPr marL="76200" marR="76200" marT="25400" marB="25400" anchor="ctr">
                    <a:solidFill>
                      <a:srgbClr val="FFFFFF"/>
                    </a:solidFill>
                  </a:tcPr>
                </a:tc>
                <a:tc>
                  <a:txBody>
                    <a:bodyPr/>
                    <a:lstStyle/>
                    <a:p>
                      <a:pPr>
                        <a:buNone/>
                      </a:pPr>
                      <a:r>
                        <a:rPr sz="1100" b="0" i="0">
                          <a:solidFill>
                            <a:srgbClr val="000000"/>
                          </a:solidFill>
                          <a:latin typeface="Aptos"/>
                        </a:rPr>
                        <a:t>Digitising by review; tests T4–T7; validation sheet</a:t>
                      </a:r>
                    </a:p>
                  </a:txBody>
                  <a:tcPr marL="76200" marR="76200" marT="25400" marB="25400" anchor="ctr">
                    <a:solidFill>
                      <a:srgbClr val="FFFFFF"/>
                    </a:solidFill>
                  </a:tcPr>
                </a:tc>
                <a:tc>
                  <a:txBody>
                    <a:bodyPr/>
                    <a:lstStyle/>
                    <a:p>
                      <a:pPr>
                        <a:buNone/>
                      </a:pPr>
                      <a:r>
                        <a:rPr sz="1100" b="0" i="0">
                          <a:solidFill>
                            <a:srgbClr val="000000"/>
                          </a:solidFill>
                          <a:latin typeface="Aptos"/>
                        </a:rPr>
                        <a:t>No support for H1–H3 or a tributary count; 12 layouts</a:t>
                      </a:r>
                    </a:p>
                  </a:txBody>
                  <a:tcPr marL="76200" marR="76200" marT="25400" marB="25400" anchor="ctr">
                    <a:solidFill>
                      <a:srgbClr val="FFFFFF"/>
                    </a:solidFill>
                  </a:tcPr>
                </a:tc>
                <a:tc>
                  <a:txBody>
                    <a:bodyPr/>
                    <a:lstStyle/>
                    <a:p>
                      <a:pPr>
                        <a:buNone/>
                      </a:pPr>
                      <a:r>
                        <a:rPr sz="1100" b="0" i="0">
                          <a:solidFill>
                            <a:srgbClr val="000000"/>
                          </a:solidFill>
                          <a:latin typeface="Aptos"/>
                        </a:rPr>
                        <a:t>§46–51</a:t>
                      </a:r>
                    </a:p>
                  </a:txBody>
                  <a:tcPr marL="76200" marR="76200" marT="25400" marB="25400" anchor="ctr">
                    <a:solidFill>
                      <a:srgbClr val="FFFFFF"/>
                    </a:solidFill>
                  </a:tcPr>
                </a:tc>
              </a:tr>
              <a:tr h="355600">
                <a:tc>
                  <a:txBody>
                    <a:bodyPr/>
                    <a:lstStyle/>
                    <a:p>
                      <a:pPr>
                        <a:buNone/>
                      </a:pPr>
                      <a:r>
                        <a:rPr sz="1100" b="0" i="0">
                          <a:solidFill>
                            <a:srgbClr val="000000"/>
                          </a:solidFill>
                          <a:latin typeface="Aptos"/>
                        </a:rPr>
                        <a:t>13–15 Oct</a:t>
                      </a:r>
                    </a:p>
                  </a:txBody>
                  <a:tcPr marL="76200" marR="76200" marT="25400" marB="25400" anchor="ctr">
                    <a:solidFill>
                      <a:srgbClr val="EEF3F7"/>
                    </a:solidFill>
                  </a:tcPr>
                </a:tc>
                <a:tc>
                  <a:txBody>
                    <a:bodyPr/>
                    <a:lstStyle/>
                    <a:p>
                      <a:pPr>
                        <a:buNone/>
                      </a:pPr>
                      <a:r>
                        <a:rPr sz="1100" b="0" i="0">
                          <a:solidFill>
                            <a:srgbClr val="000000"/>
                          </a:solidFill>
                          <a:latin typeface="Aptos"/>
                        </a:rPr>
                        <a:t>Desktop: pyramids; ±60° craters and channels ≥ 1 km; 180° DEM fix</a:t>
                      </a:r>
                    </a:p>
                  </a:txBody>
                  <a:tcPr marL="76200" marR="76200" marT="25400" marB="25400" anchor="ctr">
                    <a:solidFill>
                      <a:srgbClr val="EEF3F7"/>
                    </a:solidFill>
                  </a:tcPr>
                </a:tc>
                <a:tc>
                  <a:txBody>
                    <a:bodyPr/>
                    <a:lstStyle/>
                    <a:p>
                      <a:pPr>
                        <a:buNone/>
                      </a:pPr>
                      <a:r>
                        <a:rPr sz="1100" b="0" i="0">
                          <a:solidFill>
                            <a:srgbClr val="000000"/>
                          </a:solidFill>
                          <a:latin typeface="Aptos"/>
                        </a:rPr>
                        <a:t>465,354 closed depressions, 969,822 channel segments</a:t>
                      </a:r>
                    </a:p>
                  </a:txBody>
                  <a:tcPr marL="76200" marR="76200" marT="25400" marB="25400" anchor="ctr">
                    <a:solidFill>
                      <a:srgbClr val="EEF3F7"/>
                    </a:solidFill>
                  </a:tcPr>
                </a:tc>
                <a:tc>
                  <a:txBody>
                    <a:bodyPr/>
                    <a:lstStyle/>
                    <a:p>
                      <a:pPr>
                        <a:buNone/>
                      </a:pPr>
                      <a:r>
                        <a:rPr sz="1100" b="0" i="0">
                          <a:solidFill>
                            <a:srgbClr val="000000"/>
                          </a:solidFill>
                          <a:latin typeface="Aptos"/>
                        </a:rPr>
                        <a:t>§53–54</a:t>
                      </a:r>
                    </a:p>
                  </a:txBody>
                  <a:tcPr marL="76200" marR="76200" marT="25400" marB="25400" anchor="ctr">
                    <a:solidFill>
                      <a:srgbClr val="EEF3F7"/>
                    </a:solidFill>
                  </a:tcPr>
                </a:tc>
              </a:tr>
              <a:tr h="355600">
                <a:tc>
                  <a:txBody>
                    <a:bodyPr/>
                    <a:lstStyle/>
                    <a:p>
                      <a:pPr>
                        <a:buNone/>
                      </a:pPr>
                      <a:r>
                        <a:rPr sz="1100" b="0" i="0">
                          <a:solidFill>
                            <a:srgbClr val="000000"/>
                          </a:solidFill>
                          <a:latin typeface="Aptos"/>
                        </a:rPr>
                        <a:t>14–16 Oct</a:t>
                      </a:r>
                    </a:p>
                  </a:txBody>
                  <a:tcPr marL="76200" marR="76200" marT="25400" marB="25400" anchor="ctr">
                    <a:solidFill>
                      <a:srgbClr val="FFFFFF"/>
                    </a:solidFill>
                  </a:tcPr>
                </a:tc>
                <a:tc>
                  <a:txBody>
                    <a:bodyPr/>
                    <a:lstStyle/>
                    <a:p>
                      <a:pPr>
                        <a:buNone/>
                      </a:pPr>
                      <a:r>
                        <a:rPr sz="1100" b="0" i="0">
                          <a:solidFill>
                            <a:srgbClr val="000000"/>
                          </a:solidFill>
                          <a:latin typeface="Aptos"/>
                        </a:rPr>
                        <a:t>200 m classification; T1 with Pro's SVM; the published map</a:t>
                      </a:r>
                    </a:p>
                  </a:txBody>
                  <a:tcPr marL="76200" marR="76200" marT="25400" marB="25400" anchor="ctr">
                    <a:solidFill>
                      <a:srgbClr val="FFFFFF"/>
                    </a:solidFill>
                  </a:tcPr>
                </a:tc>
                <a:tc>
                  <a:txBody>
                    <a:bodyPr/>
                    <a:lstStyle/>
                    <a:p>
                      <a:pPr>
                        <a:buNone/>
                      </a:pPr>
                      <a:r>
                        <a:rPr sz="1100" b="0" i="0">
                          <a:solidFill>
                            <a:srgbClr val="000000"/>
                          </a:solidFill>
                          <a:latin typeface="Aptos"/>
                        </a:rPr>
                        <a:t>73.8%, κ 0.58; thermal adds +1.36 and +1.97 points</a:t>
                      </a:r>
                    </a:p>
                  </a:txBody>
                  <a:tcPr marL="76200" marR="76200" marT="25400" marB="25400" anchor="ctr">
                    <a:solidFill>
                      <a:srgbClr val="FFFFFF"/>
                    </a:solidFill>
                  </a:tcPr>
                </a:tc>
                <a:tc>
                  <a:txBody>
                    <a:bodyPr/>
                    <a:lstStyle/>
                    <a:p>
                      <a:pPr>
                        <a:buNone/>
                      </a:pPr>
                      <a:r>
                        <a:rPr sz="1100" b="0" i="0">
                          <a:solidFill>
                            <a:srgbClr val="000000"/>
                          </a:solidFill>
                          <a:latin typeface="Aptos"/>
                        </a:rPr>
                        <a:t>§55–57</a:t>
                      </a:r>
                    </a:p>
                  </a:txBody>
                  <a:tcPr marL="76200" marR="76200" marT="25400" marB="25400" anchor="ctr">
                    <a:solidFill>
                      <a:srgbClr val="FFFFFF"/>
                    </a:solidFill>
                  </a:tcPr>
                </a:tc>
              </a:tr>
              <a:tr h="355600">
                <a:tc>
                  <a:txBody>
                    <a:bodyPr/>
                    <a:lstStyle/>
                    <a:p>
                      <a:pPr>
                        <a:buNone/>
                      </a:pPr>
                      <a:r>
                        <a:rPr sz="1100" b="0" i="0">
                          <a:solidFill>
                            <a:srgbClr val="000000"/>
                          </a:solidFill>
                          <a:latin typeface="Aptos"/>
                        </a:rPr>
                        <a:t>19–21 Oct</a:t>
                      </a:r>
                    </a:p>
                  </a:txBody>
                  <a:tcPr marL="76200" marR="76200" marT="25400" marB="25400" anchor="ctr">
                    <a:solidFill>
                      <a:srgbClr val="EEF3F7"/>
                    </a:solidFill>
                  </a:tcPr>
                </a:tc>
                <a:tc>
                  <a:txBody>
                    <a:bodyPr/>
                    <a:lstStyle/>
                    <a:p>
                      <a:pPr>
                        <a:buNone/>
                      </a:pPr>
                      <a:r>
                        <a:rPr sz="1100" b="0" i="0">
                          <a:solidFill>
                            <a:srgbClr val="000000"/>
                          </a:solidFill>
                          <a:latin typeface="Aptos"/>
                        </a:rPr>
                        <a:t>Deep learning: a box detector, then a U-Net over ±60°</a:t>
                      </a:r>
                    </a:p>
                  </a:txBody>
                  <a:tcPr marL="76200" marR="76200" marT="25400" marB="25400" anchor="ctr">
                    <a:solidFill>
                      <a:srgbClr val="EEF3F7"/>
                    </a:solidFill>
                  </a:tcPr>
                </a:tc>
                <a:tc>
                  <a:txBody>
                    <a:bodyPr/>
                    <a:lstStyle/>
                    <a:p>
                      <a:pPr>
                        <a:buNone/>
                      </a:pPr>
                      <a:r>
                        <a:rPr sz="1100" b="0" i="0">
                          <a:solidFill>
                            <a:srgbClr val="000000"/>
                          </a:solidFill>
                          <a:latin typeface="Aptos"/>
                        </a:rPr>
                        <a:t>U-Net 98.9%, κ 0.98 held out, as terrain provinces</a:t>
                      </a:r>
                    </a:p>
                  </a:txBody>
                  <a:tcPr marL="76200" marR="76200" marT="25400" marB="25400" anchor="ctr">
                    <a:solidFill>
                      <a:srgbClr val="EEF3F7"/>
                    </a:solidFill>
                  </a:tcPr>
                </a:tc>
                <a:tc>
                  <a:txBody>
                    <a:bodyPr/>
                    <a:lstStyle/>
                    <a:p>
                      <a:pPr>
                        <a:buNone/>
                      </a:pPr>
                      <a:r>
                        <a:rPr sz="1100" b="0" i="0">
                          <a:solidFill>
                            <a:srgbClr val="000000"/>
                          </a:solidFill>
                          <a:latin typeface="Aptos"/>
                        </a:rPr>
                        <a:t>§66</a:t>
                      </a:r>
                    </a:p>
                  </a:txBody>
                  <a:tcPr marL="76200" marR="76200" marT="25400" marB="25400" anchor="ctr">
                    <a:solidFill>
                      <a:srgbClr val="EEF3F7"/>
                    </a:solidFill>
                  </a:tcPr>
                </a:tc>
              </a:tr>
              <a:tr h="355600">
                <a:tc>
                  <a:txBody>
                    <a:bodyPr/>
                    <a:lstStyle/>
                    <a:p>
                      <a:pPr>
                        <a:buNone/>
                      </a:pPr>
                      <a:r>
                        <a:rPr sz="1100" b="0" i="0">
                          <a:solidFill>
                            <a:srgbClr val="000000"/>
                          </a:solidFill>
                          <a:latin typeface="Aptos"/>
                        </a:rPr>
                        <a:t>22–23 Oct</a:t>
                      </a:r>
                    </a:p>
                  </a:txBody>
                  <a:tcPr marL="76200" marR="76200" marT="25400" marB="25400" anchor="ctr">
                    <a:solidFill>
                      <a:srgbClr val="FFFFFF"/>
                    </a:solidFill>
                  </a:tcPr>
                </a:tc>
                <a:tc>
                  <a:txBody>
                    <a:bodyPr/>
                    <a:lstStyle/>
                    <a:p>
                      <a:pPr>
                        <a:buNone/>
                      </a:pPr>
                      <a:r>
                        <a:rPr sz="1100" b="0" i="0">
                          <a:solidFill>
                            <a:srgbClr val="000000"/>
                          </a:solidFill>
                          <a:latin typeface="Aptos"/>
                        </a:rPr>
                        <a:t>The 512 labels audited; seven classes proposed (D17)</a:t>
                      </a:r>
                    </a:p>
                  </a:txBody>
                  <a:tcPr marL="76200" marR="76200" marT="25400" marB="25400" anchor="ctr">
                    <a:solidFill>
                      <a:srgbClr val="FFFFFF"/>
                    </a:solidFill>
                  </a:tcPr>
                </a:tc>
                <a:tc>
                  <a:txBody>
                    <a:bodyPr/>
                    <a:lstStyle/>
                    <a:p>
                      <a:pPr>
                        <a:buNone/>
                      </a:pPr>
                      <a:r>
                        <a:rPr sz="1100" b="0" i="0">
                          <a:solidFill>
                            <a:srgbClr val="000000"/>
                          </a:solidFill>
                          <a:latin typeface="Aptos"/>
                        </a:rPr>
                        <a:t>Five Crater labels are volcanoes; 1,086 proposals to review</a:t>
                      </a:r>
                    </a:p>
                  </a:txBody>
                  <a:tcPr marL="76200" marR="76200" marT="25400" marB="25400" anchor="ctr">
                    <a:solidFill>
                      <a:srgbClr val="FFFFFF"/>
                    </a:solidFill>
                  </a:tcPr>
                </a:tc>
                <a:tc>
                  <a:txBody>
                    <a:bodyPr/>
                    <a:lstStyle/>
                    <a:p>
                      <a:pPr>
                        <a:buNone/>
                      </a:pPr>
                      <a:r>
                        <a:rPr sz="1100" b="0" i="0">
                          <a:solidFill>
                            <a:srgbClr val="000000"/>
                          </a:solidFill>
                          <a:latin typeface="Aptos"/>
                        </a:rPr>
                        <a:t>§68–69</a:t>
                      </a:r>
                    </a:p>
                  </a:txBody>
                  <a:tcPr marL="76200" marR="76200" marT="25400" marB="25400" anchor="ctr">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825500" y="2489200"/>
            <a:ext cx="10541000" cy="431800"/>
          </a:xfrm>
          <a:prstGeom prst="rect">
            <a:avLst/>
          </a:prstGeom>
          <a:noFill/>
        </p:spPr>
        <p:txBody>
          <a:bodyPr wrap="square" anchor="t" lIns="0" rIns="0" tIns="0" bIns="0">
            <a:spAutoFit/>
          </a:bodyPr>
          <a:lstStyle/>
          <a:p>
            <a:pPr>
              <a:buNone/>
            </a:pPr>
            <a:r>
              <a:rPr sz="1400" b="0" i="0">
                <a:solidFill>
                  <a:srgbClr val="0E9ED4"/>
                </a:solidFill>
                <a:latin typeface="Aptos"/>
              </a:rPr>
              <a:t>Preliminary Results</a:t>
            </a:r>
          </a:p>
        </p:txBody>
      </p:sp>
      <p:sp>
        <p:nvSpPr>
          <p:cNvPr id="3" name="TextBox 2"/>
          <p:cNvSpPr txBox="1"/>
          <p:nvPr/>
        </p:nvSpPr>
        <p:spPr>
          <a:xfrm>
            <a:off x="825500" y="2870200"/>
            <a:ext cx="10541000" cy="889000"/>
          </a:xfrm>
          <a:prstGeom prst="rect">
            <a:avLst/>
          </a:prstGeom>
          <a:noFill/>
        </p:spPr>
        <p:txBody>
          <a:bodyPr wrap="square" anchor="t" lIns="0" rIns="0" tIns="0" bIns="0">
            <a:spAutoFit/>
          </a:bodyPr>
          <a:lstStyle/>
          <a:p>
            <a:pPr>
              <a:buNone/>
            </a:pPr>
            <a:r>
              <a:rPr sz="4800" b="0" i="0">
                <a:solidFill>
                  <a:srgbClr val="FFFFFF"/>
                </a:solidFill>
                <a:latin typeface="Aptos Display"/>
              </a:rPr>
              <a:t>What the data show so far</a:t>
            </a:r>
          </a:p>
        </p:txBody>
      </p:sp>
      <p:sp>
        <p:nvSpPr>
          <p:cNvPr id="4" name="Rectangle 3"/>
          <p:cNvSpPr/>
          <p:nvPr/>
        </p:nvSpPr>
        <p:spPr>
          <a:xfrm>
            <a:off x="825500" y="38100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5500" y="4064000"/>
            <a:ext cx="8128000" cy="762000"/>
          </a:xfrm>
          <a:prstGeom prst="rect">
            <a:avLst/>
          </a:prstGeom>
          <a:noFill/>
        </p:spPr>
        <p:txBody>
          <a:bodyPr wrap="square" anchor="t" lIns="0" rIns="0" tIns="0" bIns="0">
            <a:spAutoFit/>
          </a:bodyPr>
          <a:lstStyle/>
          <a:p>
            <a:pPr>
              <a:buNone/>
            </a:pPr>
            <a:r>
              <a:rPr sz="1400" b="0" i="0">
                <a:solidFill>
                  <a:srgbClr val="9ED8ED"/>
                </a:solidFill>
                <a:latin typeface="Aptos"/>
              </a:rPr>
              <a:t>Every map is a layout in the ArcGIS project, exported fresh for this deck.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Where: the analysis extent and the two type areas</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10_global60_locator__map.png"/>
          <p:cNvPicPr>
            <a:picLocks noChangeAspect="1"/>
          </p:cNvPicPr>
          <p:nvPr/>
        </p:nvPicPr>
        <p:blipFill>
          <a:blip r:embed="rId2"/>
          <a:stretch>
            <a:fillRect/>
          </a:stretch>
        </p:blipFill>
        <p:spPr>
          <a:xfrm>
            <a:off x="825500" y="1676400"/>
            <a:ext cx="10541000" cy="3608027"/>
          </a:xfrm>
          <a:prstGeom prst="rect">
            <a:avLst/>
          </a:prstGeom>
        </p:spPr>
      </p:pic>
      <p:pic>
        <p:nvPicPr>
          <p:cNvPr id="5" name="Picture 4" descr="10_global60_locator__legend.png"/>
          <p:cNvPicPr>
            <a:picLocks noChangeAspect="1"/>
          </p:cNvPicPr>
          <p:nvPr/>
        </p:nvPicPr>
        <p:blipFill>
          <a:blip r:embed="rId3"/>
          <a:stretch>
            <a:fillRect/>
          </a:stretch>
        </p:blipFill>
        <p:spPr>
          <a:xfrm>
            <a:off x="9249975" y="5411427"/>
            <a:ext cx="2116525" cy="1040172"/>
          </a:xfrm>
          <a:prstGeom prst="rect">
            <a:avLst/>
          </a:prstGeom>
        </p:spPr>
      </p:pic>
      <p:sp>
        <p:nvSpPr>
          <p:cNvPr id="6" name="TextBox 5"/>
          <p:cNvSpPr txBox="1"/>
          <p:nvPr/>
        </p:nvSpPr>
        <p:spPr>
          <a:xfrm>
            <a:off x="825500" y="5411427"/>
            <a:ext cx="8221275" cy="1040173"/>
          </a:xfrm>
          <a:prstGeom prst="rect">
            <a:avLst/>
          </a:prstGeom>
          <a:noFill/>
        </p:spPr>
        <p:txBody>
          <a:bodyPr wrap="square" anchor="t" lIns="0" rIns="0" tIns="0" bIns="0">
            <a:spAutoFit/>
          </a:bodyPr>
          <a:lstStyle/>
          <a:p>
            <a:pPr marL="200000" indent="-200000">
              <a:spcAft>
                <a:spcPts val="400"/>
              </a:spcAft>
              <a:buFont typeface="Arial" pitchFamily="34" charset="0"/>
              <a:buChar char="•"/>
            </a:pPr>
            <a:r>
              <a:rPr sz="1400" b="0" i="0">
                <a:solidFill>
                  <a:srgbClr val="000000"/>
                </a:solidFill>
                <a:latin typeface="Aptos"/>
              </a:rPr>
              <a:t>The analysis covers ±60° latitude, 86.6% of the planet: the THEMIS night mosaic's coverage</a:t>
            </a:r>
          </a:p>
          <a:p>
            <a:pPr marL="200000" indent="-200000">
              <a:spcAft>
                <a:spcPts val="400"/>
              </a:spcAft>
              <a:buFont typeface="Arial" pitchFamily="34" charset="0"/>
              <a:buChar char="•"/>
            </a:pPr>
            <a:r>
              <a:rPr sz="1400" b="0" i="0">
                <a:solidFill>
                  <a:srgbClr val="000000"/>
                </a:solidFill>
                <a:latin typeface="Aptos"/>
              </a:rPr>
              <a:t>Two type areas: Ius Chasma (canyon and tributaries) and Athabasca Valles (flood lava)</a:t>
            </a:r>
          </a:p>
          <a:p>
            <a:pPr marL="200000" indent="-200000">
              <a:spcAft>
                <a:spcPts val="400"/>
              </a:spcAft>
              <a:buFont typeface="Arial" pitchFamily="34" charset="0"/>
              <a:buChar char="•"/>
            </a:pPr>
            <a:r>
              <a:rPr sz="1400" b="0" i="0">
                <a:solidFill>
                  <a:srgbClr val="000000"/>
                </a:solidFill>
                <a:latin typeface="Aptos"/>
              </a:rPr>
              <a:t>Orange: the USGS geologic map's volcanic units, used as the lava-flow reference</a:t>
            </a:r>
          </a:p>
        </p:txBody>
      </p:sp>
      <p:sp>
        <p:nvSpPr>
          <p:cNvPr id="7" name="TextBox 6"/>
          <p:cNvSpPr txBox="1"/>
          <p:nvPr/>
        </p:nvSpPr>
        <p:spPr>
          <a:xfrm>
            <a:off x="825500" y="6553200"/>
            <a:ext cx="10541000" cy="228600"/>
          </a:xfrm>
          <a:prstGeom prst="rect">
            <a:avLst/>
          </a:prstGeom>
          <a:noFill/>
        </p:spPr>
        <p:txBody>
          <a:bodyPr wrap="square" anchor="t" lIns="0" rIns="0" tIns="0" bIns="0">
            <a:spAutoFit/>
          </a:bodyPr>
          <a:lstStyle/>
          <a:p>
            <a:pPr>
              <a:buNone/>
            </a:pPr>
            <a:r>
              <a:rPr sz="1000" b="0" i="1">
                <a:solidFill>
                  <a:srgbClr val="555F66"/>
                </a:solidFill>
                <a:latin typeface="Aptos"/>
              </a:rPr>
              <a:t>PROJECT-KNOWLEDGE.md §16, §41, §42, §43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The mosaic at ±60°</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8_global60_mosaic.png"/>
          <p:cNvPicPr>
            <a:picLocks noChangeAspect="1"/>
          </p:cNvPicPr>
          <p:nvPr/>
        </p:nvPicPr>
        <p:blipFill>
          <a:blip r:embed="rId2"/>
          <a:stretch>
            <a:fillRect/>
          </a:stretch>
        </p:blipFill>
        <p:spPr>
          <a:xfrm>
            <a:off x="2001112" y="1676400"/>
            <a:ext cx="8189776" cy="3683000"/>
          </a:xfrm>
          <a:prstGeom prst="rect">
            <a:avLst/>
          </a:prstGeom>
        </p:spPr>
      </p:pic>
      <p:sp>
        <p:nvSpPr>
          <p:cNvPr id="5" name="TextBox 4"/>
          <p:cNvSpPr txBox="1"/>
          <p:nvPr/>
        </p:nvSpPr>
        <p:spPr>
          <a:xfrm>
            <a:off x="825500" y="5486400"/>
            <a:ext cx="10541000" cy="990600"/>
          </a:xfrm>
          <a:prstGeom prst="rect">
            <a:avLst/>
          </a:prstGeom>
          <a:noFill/>
        </p:spPr>
        <p:txBody>
          <a:bodyPr wrap="square" anchor="t" lIns="0" rIns="0" tIns="0" bIns="0">
            <a:spAutoFit/>
          </a:bodyPr>
          <a:lstStyle/>
          <a:p>
            <a:pPr marL="200000" indent="-200000">
              <a:spcAft>
                <a:spcPts val="400"/>
              </a:spcAft>
              <a:buFont typeface="Arial" pitchFamily="34" charset="0"/>
              <a:buChar char="•"/>
            </a:pPr>
            <a:r>
              <a:rPr sz="1400" b="0" i="0">
                <a:solidFill>
                  <a:srgbClr val="000000"/>
                </a:solidFill>
                <a:latin typeface="Aptos"/>
              </a:rPr>
              <a:t>All four datasets on one 200 m grid</a:t>
            </a:r>
          </a:p>
          <a:p>
            <a:pPr marL="200000" indent="-200000">
              <a:spcAft>
                <a:spcPts val="400"/>
              </a:spcAft>
              <a:buFont typeface="Arial" pitchFamily="34" charset="0"/>
              <a:buChar char="•"/>
            </a:pPr>
            <a:r>
              <a:rPr sz="1400" b="0" i="0">
                <a:solidFill>
                  <a:srgbClr val="000000"/>
                </a:solidFill>
                <a:latin typeface="Aptos"/>
              </a:rPr>
              <a:t>Composite Bands failed four times on the global rasters; projecting first and bounding the extent fixed it</a:t>
            </a:r>
          </a:p>
        </p:txBody>
      </p:sp>
      <p:sp>
        <p:nvSpPr>
          <p:cNvPr id="6" name="TextBox 5"/>
          <p:cNvSpPr txBox="1"/>
          <p:nvPr/>
        </p:nvSpPr>
        <p:spPr>
          <a:xfrm>
            <a:off x="825500" y="6553200"/>
            <a:ext cx="10541000" cy="228600"/>
          </a:xfrm>
          <a:prstGeom prst="rect">
            <a:avLst/>
          </a:prstGeom>
          <a:noFill/>
        </p:spPr>
        <p:txBody>
          <a:bodyPr wrap="square" anchor="t" lIns="0" rIns="0" tIns="0" bIns="0">
            <a:spAutoFit/>
          </a:bodyPr>
          <a:lstStyle/>
          <a:p>
            <a:pPr>
              <a:buNone/>
            </a:pPr>
            <a:r>
              <a:rPr sz="1000" b="0" i="1">
                <a:solidFill>
                  <a:srgbClr val="555F66"/>
                </a:solidFill>
                <a:latin typeface="Aptos"/>
              </a:rPr>
              <a:t>PROJECT-KNOWLEDGE.md §16, §18, §28.1,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Ius Chasma type area: visible and night IR</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1_visible.png"/>
          <p:cNvPicPr>
            <a:picLocks noChangeAspect="1"/>
          </p:cNvPicPr>
          <p:nvPr/>
        </p:nvPicPr>
        <p:blipFill>
          <a:blip r:embed="rId2"/>
          <a:stretch>
            <a:fillRect/>
          </a:stretch>
        </p:blipFill>
        <p:spPr>
          <a:xfrm>
            <a:off x="825500" y="1676400"/>
            <a:ext cx="5168900" cy="3074082"/>
          </a:xfrm>
          <a:prstGeom prst="rect">
            <a:avLst/>
          </a:prstGeom>
        </p:spPr>
      </p:pic>
      <p:pic>
        <p:nvPicPr>
          <p:cNvPr id="5" name="Picture 4" descr="02_night_ir.png"/>
          <p:cNvPicPr>
            <a:picLocks noChangeAspect="1"/>
          </p:cNvPicPr>
          <p:nvPr/>
        </p:nvPicPr>
        <p:blipFill>
          <a:blip r:embed="rId3"/>
          <a:stretch>
            <a:fillRect/>
          </a:stretch>
        </p:blipFill>
        <p:spPr>
          <a:xfrm>
            <a:off x="6197600" y="1676400"/>
            <a:ext cx="5168900" cy="3074082"/>
          </a:xfrm>
          <a:prstGeom prst="rect">
            <a:avLst/>
          </a:prstGeom>
        </p:spPr>
      </p:pic>
      <p:sp>
        <p:nvSpPr>
          <p:cNvPr id="6" name="TextBox 5"/>
          <p:cNvSpPr txBox="1"/>
          <p:nvPr/>
        </p:nvSpPr>
        <p:spPr>
          <a:xfrm>
            <a:off x="825500" y="4877482"/>
            <a:ext cx="10541000" cy="1599518"/>
          </a:xfrm>
          <a:prstGeom prst="rect">
            <a:avLst/>
          </a:prstGeom>
          <a:noFill/>
        </p:spPr>
        <p:txBody>
          <a:bodyPr wrap="square" anchor="t" lIns="0" rIns="0" tIns="0" bIns="0">
            <a:spAutoFit/>
          </a:bodyPr>
          <a:lstStyle/>
          <a:p>
            <a:pPr marL="200000" indent="-200000">
              <a:spcAft>
                <a:spcPts val="400"/>
              </a:spcAft>
              <a:buFont typeface="Arial" pitchFamily="34" charset="0"/>
              <a:buChar char="•"/>
            </a:pPr>
            <a:r>
              <a:rPr sz="1400" b="0" i="0">
                <a:solidFill>
                  <a:srgbClr val="000000"/>
                </a:solidFill>
                <a:latin typeface="Aptos"/>
              </a:rPr>
              <a:t>Left, Viking visible colour; right, THEMIS night IR. 271–286°E, 6–13°S: canyon walls, plateau, Louros Valles</a:t>
            </a:r>
          </a:p>
          <a:p>
            <a:pPr marL="200000" indent="-200000">
              <a:spcAft>
                <a:spcPts val="400"/>
              </a:spcAft>
              <a:buFont typeface="Arial" pitchFamily="34" charset="0"/>
              <a:buChar char="•"/>
            </a:pPr>
            <a:r>
              <a:rPr sz="1400" b="0" i="0">
                <a:solidFill>
                  <a:srgbClr val="000000"/>
                </a:solidFill>
                <a:latin typeface="Aptos"/>
              </a:rPr>
              <a:t>Same 100 m grid, every pixel valid in all five bands</a:t>
            </a:r>
          </a:p>
          <a:p>
            <a:pPr marL="200000" indent="-200000">
              <a:spcAft>
                <a:spcPts val="400"/>
              </a:spcAft>
              <a:buFont typeface="Arial" pitchFamily="34" charset="0"/>
              <a:buChar char="•"/>
            </a:pPr>
            <a:r>
              <a:rPr sz="1400" b="0" i="0">
                <a:solidFill>
                  <a:srgbClr val="000000"/>
                </a:solidFill>
                <a:latin typeface="Aptos"/>
              </a:rPr>
              <a:t>Night IR barely correlates with any other band (|r| ≤ 0.12), so it adds information the others lack</a:t>
            </a:r>
          </a:p>
        </p:txBody>
      </p:sp>
      <p:sp>
        <p:nvSpPr>
          <p:cNvPr id="7" name="TextBox 6"/>
          <p:cNvSpPr txBox="1"/>
          <p:nvPr/>
        </p:nvSpPr>
        <p:spPr>
          <a:xfrm>
            <a:off x="825500" y="6553200"/>
            <a:ext cx="10541000" cy="228600"/>
          </a:xfrm>
          <a:prstGeom prst="rect">
            <a:avLst/>
          </a:prstGeom>
          <a:noFill/>
        </p:spPr>
        <p:txBody>
          <a:bodyPr wrap="square" anchor="t" lIns="0" rIns="0" tIns="0" bIns="0">
            <a:spAutoFit/>
          </a:bodyPr>
          <a:lstStyle/>
          <a:p>
            <a:pPr>
              <a:buNone/>
            </a:pPr>
            <a:r>
              <a:rPr sz="1000" b="0" i="1">
                <a:solidFill>
                  <a:srgbClr val="555F66"/>
                </a:solidFill>
                <a:latin typeface="Aptos"/>
              </a:rPr>
              <a:t>PROJECT-KNOWLEDGE.md §14.3, §18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Can the thermal pair map material across ±60°?</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lobal60_thermal.png"/>
          <p:cNvPicPr>
            <a:picLocks noChangeAspect="1"/>
          </p:cNvPicPr>
          <p:nvPr/>
        </p:nvPicPr>
        <p:blipFill>
          <a:blip r:embed="rId2"/>
          <a:stretch>
            <a:fillRect/>
          </a:stretch>
        </p:blipFill>
        <p:spPr>
          <a:xfrm>
            <a:off x="1774112" y="1676400"/>
            <a:ext cx="8643775" cy="3683000"/>
          </a:xfrm>
          <a:prstGeom prst="rect">
            <a:avLst/>
          </a:prstGeom>
        </p:spPr>
      </p:pic>
      <p:sp>
        <p:nvSpPr>
          <p:cNvPr id="5" name="TextBox 4"/>
          <p:cNvSpPr txBox="1"/>
          <p:nvPr/>
        </p:nvSpPr>
        <p:spPr>
          <a:xfrm>
            <a:off x="825500" y="5486400"/>
            <a:ext cx="10541000" cy="990600"/>
          </a:xfrm>
          <a:prstGeom prst="rect">
            <a:avLst/>
          </a:prstGeom>
          <a:noFill/>
        </p:spPr>
        <p:txBody>
          <a:bodyPr wrap="square" anchor="t" lIns="0" rIns="0" tIns="0" bIns="0">
            <a:spAutoFit/>
          </a:bodyPr>
          <a:lstStyle/>
          <a:p>
            <a:pPr marL="200000" indent="-200000">
              <a:spcAft>
                <a:spcPts val="400"/>
              </a:spcAft>
              <a:buFont typeface="Arial" pitchFamily="34" charset="0"/>
              <a:buChar char="•"/>
            </a:pPr>
            <a:r>
              <a:rPr sz="1400" b="0" i="0">
                <a:solidFill>
                  <a:srgbClr val="000000"/>
                </a:solidFill>
                <a:latin typeface="Aptos"/>
              </a:rPr>
              <a:t>Viking red separates the dusty provinces from the rocky ones by 47.67 DN</a:t>
            </a:r>
          </a:p>
          <a:p>
            <a:pPr marL="200000" indent="-200000">
              <a:spcAft>
                <a:spcPts val="400"/>
              </a:spcAft>
              <a:buFont typeface="Arial" pitchFamily="34" charset="0"/>
              <a:buChar char="•"/>
            </a:pPr>
            <a:r>
              <a:rPr sz="1400" b="0" i="0">
                <a:solidFill>
                  <a:srgbClr val="000000"/>
                </a:solidFill>
                <a:latin typeface="Aptos"/>
              </a:rPr>
              <a:t>THEMIS day and night IR separate them by −0.19 and +0.02 DN; the index, over seven provinces, by −0.0009</a:t>
            </a:r>
          </a:p>
          <a:p>
            <a:pPr marL="200000" indent="-200000">
              <a:spcAft>
                <a:spcPts val="400"/>
              </a:spcAft>
              <a:buFont typeface="Arial" pitchFamily="34" charset="0"/>
              <a:buChar char="•"/>
            </a:pPr>
            <a:r>
              <a:rPr sz="1400" b="0" i="0">
                <a:solidFill>
                  <a:srgbClr val="000000"/>
                </a:solidFill>
                <a:latin typeface="Aptos"/>
              </a:rPr>
              <a:t>Every province repeats the whole mosaic's mean and spread, because both THEMIS mosaics were stretched region by region</a:t>
            </a:r>
          </a:p>
          <a:p>
            <a:pPr marL="200000" indent="-200000">
              <a:spcAft>
                <a:spcPts val="400"/>
              </a:spcAft>
              <a:buFont typeface="Arial" pitchFamily="34" charset="0"/>
              <a:buChar char="•"/>
            </a:pPr>
            <a:r>
              <a:rPr sz="1400" b="0" i="0">
                <a:solidFill>
                  <a:srgbClr val="000000"/>
                </a:solidFill>
                <a:latin typeface="Aptos"/>
              </a:rPr>
              <a:t>Across the planet, the material signal is in visible albedo</a:t>
            </a:r>
          </a:p>
        </p:txBody>
      </p:sp>
      <p:sp>
        <p:nvSpPr>
          <p:cNvPr id="6" name="TextBox 5"/>
          <p:cNvSpPr txBox="1"/>
          <p:nvPr/>
        </p:nvSpPr>
        <p:spPr>
          <a:xfrm>
            <a:off x="825500" y="6553200"/>
            <a:ext cx="10541000" cy="228600"/>
          </a:xfrm>
          <a:prstGeom prst="rect">
            <a:avLst/>
          </a:prstGeom>
          <a:noFill/>
        </p:spPr>
        <p:txBody>
          <a:bodyPr wrap="square" anchor="t" lIns="0" rIns="0" tIns="0" bIns="0">
            <a:spAutoFit/>
          </a:bodyPr>
          <a:lstStyle/>
          <a:p>
            <a:pPr>
              <a:buNone/>
            </a:pPr>
            <a:r>
              <a:rPr sz="1000" b="0" i="1">
                <a:solidFill>
                  <a:srgbClr val="555F66"/>
                </a:solidFill>
                <a:latin typeface="Aptos"/>
              </a:rPr>
              <a:t>PROJECT-KNOWLEDGE.md §28.10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Checked against calibrated thermal inertia (TES)</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tes_check.png"/>
          <p:cNvPicPr>
            <a:picLocks noChangeAspect="1"/>
          </p:cNvPicPr>
          <p:nvPr/>
        </p:nvPicPr>
        <p:blipFill>
          <a:blip r:embed="rId2"/>
          <a:stretch>
            <a:fillRect/>
          </a:stretch>
        </p:blipFill>
        <p:spPr>
          <a:xfrm>
            <a:off x="1910773" y="1676400"/>
            <a:ext cx="8370454" cy="3683000"/>
          </a:xfrm>
          <a:prstGeom prst="rect">
            <a:avLst/>
          </a:prstGeom>
        </p:spPr>
      </p:pic>
      <p:sp>
        <p:nvSpPr>
          <p:cNvPr id="5" name="TextBox 4"/>
          <p:cNvSpPr txBox="1"/>
          <p:nvPr/>
        </p:nvSpPr>
        <p:spPr>
          <a:xfrm>
            <a:off x="825500" y="5486400"/>
            <a:ext cx="10541000" cy="990600"/>
          </a:xfrm>
          <a:prstGeom prst="rect">
            <a:avLst/>
          </a:prstGeom>
          <a:noFill/>
        </p:spPr>
        <p:txBody>
          <a:bodyPr wrap="square" anchor="t" lIns="0" rIns="0" tIns="0" bIns="0">
            <a:spAutoFit/>
          </a:bodyPr>
          <a:lstStyle/>
          <a:p>
            <a:pPr marL="200000" indent="-200000">
              <a:spcAft>
                <a:spcPts val="400"/>
              </a:spcAft>
              <a:buFont typeface="Arial" pitchFamily="34" charset="0"/>
              <a:buChar char="•"/>
            </a:pPr>
            <a:r>
              <a:rPr sz="1400" b="0" i="0">
                <a:solidFill>
                  <a:srgbClr val="000000"/>
                </a:solidFill>
                <a:latin typeface="Aptos"/>
              </a:rPr>
              <a:t>Viking albedo follows calibrated thermal inertia across the planet (r −0.36)</a:t>
            </a:r>
          </a:p>
          <a:p>
            <a:pPr marL="200000" indent="-200000">
              <a:spcAft>
                <a:spcPts val="400"/>
              </a:spcAft>
              <a:buFont typeface="Arial" pitchFamily="34" charset="0"/>
              <a:buChar char="•"/>
            </a:pPr>
            <a:r>
              <a:rPr sz="1400" b="0" i="0">
                <a:solidFill>
                  <a:srgbClr val="000000"/>
                </a:solidFill>
                <a:latin typeface="Aptos"/>
              </a:rPr>
              <a:t>Night IR and the diurnal-contrast index follow it weakly, and only inside regions (|r| ≈ 0.1)</a:t>
            </a:r>
          </a:p>
          <a:p>
            <a:pPr marL="200000" indent="-200000">
              <a:spcAft>
                <a:spcPts val="400"/>
              </a:spcAft>
              <a:buFont typeface="Arial" pitchFamily="34" charset="0"/>
              <a:buChar char="•"/>
            </a:pPr>
            <a:r>
              <a:rPr sz="1400" b="0" i="0">
                <a:solidFill>
                  <a:srgbClr val="000000"/>
                </a:solidFill>
                <a:latin typeface="Aptos"/>
              </a:rPr>
              <a:t>Day IR does not follow it, and across the planet neither THEMIS mosaic does</a:t>
            </a:r>
          </a:p>
          <a:p>
            <a:pPr marL="200000" indent="-200000">
              <a:spcAft>
                <a:spcPts val="400"/>
              </a:spcAft>
              <a:buFont typeface="Arial" pitchFamily="34" charset="0"/>
              <a:buChar char="•"/>
            </a:pPr>
            <a:r>
              <a:rPr sz="1400" b="0" i="0">
                <a:solidFill>
                  <a:srgbClr val="000000"/>
                </a:solidFill>
                <a:latin typeface="Aptos"/>
              </a:rPr>
              <a:t>At TES's ~3 km cells the material signal is in visible albedo; thermal IR adds little</a:t>
            </a:r>
          </a:p>
        </p:txBody>
      </p:sp>
      <p:sp>
        <p:nvSpPr>
          <p:cNvPr id="6" name="TextBox 5"/>
          <p:cNvSpPr txBox="1"/>
          <p:nvPr/>
        </p:nvSpPr>
        <p:spPr>
          <a:xfrm>
            <a:off x="825500" y="6553200"/>
            <a:ext cx="10541000" cy="228600"/>
          </a:xfrm>
          <a:prstGeom prst="rect">
            <a:avLst/>
          </a:prstGeom>
          <a:noFill/>
        </p:spPr>
        <p:txBody>
          <a:bodyPr wrap="square" anchor="t" lIns="0" rIns="0" tIns="0" bIns="0">
            <a:spAutoFit/>
          </a:bodyPr>
          <a:lstStyle/>
          <a:p>
            <a:pPr>
              <a:buNone/>
            </a:pPr>
            <a:r>
              <a:rPr sz="1000" b="0" i="1">
                <a:solidFill>
                  <a:srgbClr val="555F66"/>
                </a:solidFill>
                <a:latin typeface="Aptos"/>
              </a:rPr>
              <a:t>PROJECT-KNOWLEDGE.md §41, §42.4, §43.1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Craters at ±60°: closed depressions ≥ 20 km</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7_global60_basins__map.png"/>
          <p:cNvPicPr>
            <a:picLocks noChangeAspect="1"/>
          </p:cNvPicPr>
          <p:nvPr/>
        </p:nvPicPr>
        <p:blipFill>
          <a:blip r:embed="rId2"/>
          <a:stretch>
            <a:fillRect/>
          </a:stretch>
        </p:blipFill>
        <p:spPr>
          <a:xfrm>
            <a:off x="1829090" y="1676400"/>
            <a:ext cx="8533820" cy="2921000"/>
          </a:xfrm>
          <a:prstGeom prst="rect">
            <a:avLst/>
          </a:prstGeom>
        </p:spPr>
      </p:pic>
      <p:pic>
        <p:nvPicPr>
          <p:cNvPr id="5" name="Picture 4" descr="07_global60_basins__legend.png"/>
          <p:cNvPicPr>
            <a:picLocks noChangeAspect="1"/>
          </p:cNvPicPr>
          <p:nvPr/>
        </p:nvPicPr>
        <p:blipFill>
          <a:blip r:embed="rId3"/>
          <a:stretch>
            <a:fillRect/>
          </a:stretch>
        </p:blipFill>
        <p:spPr>
          <a:xfrm>
            <a:off x="9681530" y="4724400"/>
            <a:ext cx="1684970" cy="1727199"/>
          </a:xfrm>
          <a:prstGeom prst="rect">
            <a:avLst/>
          </a:prstGeom>
        </p:spPr>
      </p:pic>
      <p:sp>
        <p:nvSpPr>
          <p:cNvPr id="6" name="TextBox 5"/>
          <p:cNvSpPr txBox="1"/>
          <p:nvPr/>
        </p:nvSpPr>
        <p:spPr>
          <a:xfrm>
            <a:off x="825500" y="4724400"/>
            <a:ext cx="8652830" cy="1727200"/>
          </a:xfrm>
          <a:prstGeom prst="rect">
            <a:avLst/>
          </a:prstGeom>
          <a:noFill/>
        </p:spPr>
        <p:txBody>
          <a:bodyPr wrap="square" anchor="t" lIns="0" rIns="0" tIns="0" bIns="0">
            <a:spAutoFit/>
          </a:bodyPr>
          <a:lstStyle/>
          <a:p>
            <a:pPr marL="200000" indent="-200000">
              <a:spcAft>
                <a:spcPts val="400"/>
              </a:spcAft>
              <a:buFont typeface="Arial" pitchFamily="34" charset="0"/>
              <a:buChar char="•"/>
            </a:pPr>
            <a:r>
              <a:rPr sz="1400" b="0" i="0">
                <a:solidFill>
                  <a:srgbClr val="000000"/>
                </a:solidFill>
                <a:latin typeface="Aptos"/>
              </a:rPr>
              <a:t>5,144 basins found by fill depth in 48 s</a:t>
            </a:r>
          </a:p>
          <a:p>
            <a:pPr marL="200000" indent="-200000">
              <a:spcAft>
                <a:spcPts val="400"/>
              </a:spcAft>
              <a:buFont typeface="Arial" pitchFamily="34" charset="0"/>
              <a:buChar char="•"/>
            </a:pPr>
            <a:r>
              <a:rPr sz="1400" b="0" i="0">
                <a:solidFill>
                  <a:srgbClr val="000000"/>
                </a:solidFill>
                <a:latin typeface="Aptos"/>
              </a:rPr>
              <a:t>68% of 117 IAU craters ≥ 100 km recovered, diameter within ±50%</a:t>
            </a:r>
          </a:p>
          <a:p>
            <a:pPr marL="200000" indent="-200000">
              <a:spcAft>
                <a:spcPts val="400"/>
              </a:spcAft>
              <a:buFont typeface="Arial" pitchFamily="34" charset="0"/>
              <a:buChar char="•"/>
            </a:pPr>
            <a:r>
              <a:rPr sz="1400" b="0" i="0">
                <a:solidFill>
                  <a:srgbClr val="000000"/>
                </a:solidFill>
                <a:latin typeface="Aptos"/>
              </a:rPr>
              <a:t>Median diameter error +2.2%</a:t>
            </a:r>
          </a:p>
          <a:p>
            <a:pPr marL="200000" indent="-200000">
              <a:spcAft>
                <a:spcPts val="400"/>
              </a:spcAft>
              <a:buFont typeface="Arial" pitchFamily="34" charset="0"/>
              <a:buChar char="•"/>
            </a:pPr>
            <a:r>
              <a:rPr sz="1400" b="0" i="0">
                <a:solidFill>
                  <a:srgbClr val="000000"/>
                </a:solidFill>
                <a:latin typeface="Aptos"/>
              </a:rPr>
              <a:t>Breached craters are missed by design: they do not close</a:t>
            </a:r>
          </a:p>
        </p:txBody>
      </p:sp>
      <p:sp>
        <p:nvSpPr>
          <p:cNvPr id="7" name="TextBox 6"/>
          <p:cNvSpPr txBox="1"/>
          <p:nvPr/>
        </p:nvSpPr>
        <p:spPr>
          <a:xfrm>
            <a:off x="825500" y="6553200"/>
            <a:ext cx="10541000" cy="228600"/>
          </a:xfrm>
          <a:prstGeom prst="rect">
            <a:avLst/>
          </a:prstGeom>
          <a:noFill/>
        </p:spPr>
        <p:txBody>
          <a:bodyPr wrap="square" anchor="t" lIns="0" rIns="0" tIns="0" bIns="0">
            <a:spAutoFit/>
          </a:bodyPr>
          <a:lstStyle/>
          <a:p>
            <a:pPr>
              <a:buNone/>
            </a:pPr>
            <a:r>
              <a:rPr sz="1000" b="0" i="1">
                <a:solidFill>
                  <a:srgbClr val="555F66"/>
                </a:solidFill>
                <a:latin typeface="Aptos"/>
              </a:rPr>
              <a:t>PROJECT-KNOWLEDGE.md §28.11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Closed depressions ≥ 1 km across ±60°</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11_global60_depressions__map.png"/>
          <p:cNvPicPr>
            <a:picLocks noChangeAspect="1"/>
          </p:cNvPicPr>
          <p:nvPr/>
        </p:nvPicPr>
        <p:blipFill>
          <a:blip r:embed="rId2"/>
          <a:stretch>
            <a:fillRect/>
          </a:stretch>
        </p:blipFill>
        <p:spPr>
          <a:xfrm>
            <a:off x="3628588" y="1676400"/>
            <a:ext cx="4934824" cy="3683000"/>
          </a:xfrm>
          <a:prstGeom prst="rect">
            <a:avLst/>
          </a:prstGeom>
        </p:spPr>
      </p:pic>
      <p:pic>
        <p:nvPicPr>
          <p:cNvPr id="5" name="Picture 4" descr="11_global60_depressions__legend.png"/>
          <p:cNvPicPr>
            <a:picLocks noChangeAspect="1"/>
          </p:cNvPicPr>
          <p:nvPr/>
        </p:nvPicPr>
        <p:blipFill>
          <a:blip r:embed="rId3"/>
          <a:stretch>
            <a:fillRect/>
          </a:stretch>
        </p:blipFill>
        <p:spPr>
          <a:xfrm>
            <a:off x="10248398" y="5486400"/>
            <a:ext cx="1118102" cy="965199"/>
          </a:xfrm>
          <a:prstGeom prst="rect">
            <a:avLst/>
          </a:prstGeom>
        </p:spPr>
      </p:pic>
      <p:sp>
        <p:nvSpPr>
          <p:cNvPr id="6" name="TextBox 5"/>
          <p:cNvSpPr txBox="1"/>
          <p:nvPr/>
        </p:nvSpPr>
        <p:spPr>
          <a:xfrm>
            <a:off x="825500" y="5486400"/>
            <a:ext cx="9219698" cy="965200"/>
          </a:xfrm>
          <a:prstGeom prst="rect">
            <a:avLst/>
          </a:prstGeom>
          <a:noFill/>
        </p:spPr>
        <p:txBody>
          <a:bodyPr wrap="square" anchor="t" lIns="0" rIns="0" tIns="0" bIns="0">
            <a:spAutoFit/>
          </a:bodyPr>
          <a:lstStyle/>
          <a:p>
            <a:pPr marL="200000" indent="-200000">
              <a:spcAft>
                <a:spcPts val="400"/>
              </a:spcAft>
              <a:buFont typeface="Arial" pitchFamily="34" charset="0"/>
              <a:buChar char="•"/>
            </a:pPr>
            <a:r>
              <a:rPr sz="1400" b="0" i="0">
                <a:solidFill>
                  <a:srgbClr val="000000"/>
                </a:solidFill>
                <a:latin typeface="Aptos"/>
              </a:rPr>
              <a:t>465,354 closed depressions ≥ 1 km, from an 11-hour run on the desktop</a:t>
            </a:r>
          </a:p>
          <a:p>
            <a:pPr marL="200000" indent="-200000">
              <a:spcAft>
                <a:spcPts val="400"/>
              </a:spcAft>
              <a:buFont typeface="Arial" pitchFamily="34" charset="0"/>
              <a:buChar char="•"/>
            </a:pPr>
            <a:r>
              <a:rPr sz="1400" b="0" i="0">
                <a:solidFill>
                  <a:srgbClr val="000000"/>
                </a:solidFill>
                <a:latin typeface="Aptos"/>
              </a:rPr>
              <a:t>Against Robbins: 15.3% are catalogued craters at ≥ 1 km, 62.2% at ≥ 5 km, 83.1% at ≥ 20 km</a:t>
            </a:r>
          </a:p>
          <a:p>
            <a:pPr marL="200000" indent="-200000">
              <a:spcAft>
                <a:spcPts val="400"/>
              </a:spcAft>
              <a:buFont typeface="Arial" pitchFamily="34" charset="0"/>
              <a:buChar char="•"/>
            </a:pPr>
            <a:r>
              <a:rPr sz="1400" b="0" i="0">
                <a:solidFill>
                  <a:srgbClr val="000000"/>
                </a:solidFill>
                <a:latin typeface="Aptos"/>
              </a:rPr>
              <a:t>Their density barely follows the catalogued craters (r −0.11); below ~5 km it follows the DEM's sharpness</a:t>
            </a:r>
          </a:p>
          <a:p>
            <a:pPr marL="200000" indent="-200000">
              <a:spcAft>
                <a:spcPts val="400"/>
              </a:spcAft>
              <a:buFont typeface="Arial" pitchFamily="34" charset="0"/>
              <a:buChar char="•"/>
            </a:pPr>
            <a:r>
              <a:rPr sz="1400" b="0" i="0">
                <a:solidFill>
                  <a:srgbClr val="000000"/>
                </a:solidFill>
                <a:latin typeface="Aptos"/>
              </a:rPr>
              <a:t>Good for large craters and as prompts for review; for crater counts, Robbins is the reference</a:t>
            </a:r>
          </a:p>
        </p:txBody>
      </p:sp>
      <p:sp>
        <p:nvSpPr>
          <p:cNvPr id="7" name="TextBox 6"/>
          <p:cNvSpPr txBox="1"/>
          <p:nvPr/>
        </p:nvSpPr>
        <p:spPr>
          <a:xfrm>
            <a:off x="825500" y="6553200"/>
            <a:ext cx="10541000" cy="228600"/>
          </a:xfrm>
          <a:prstGeom prst="rect">
            <a:avLst/>
          </a:prstGeom>
          <a:noFill/>
        </p:spPr>
        <p:txBody>
          <a:bodyPr wrap="square" anchor="t" lIns="0" rIns="0" tIns="0" bIns="0">
            <a:spAutoFit/>
          </a:bodyPr>
          <a:lstStyle/>
          <a:p>
            <a:pPr>
              <a:buNone/>
            </a:pPr>
            <a:r>
              <a:rPr sz="1000" b="0" i="1">
                <a:solidFill>
                  <a:srgbClr val="555F66"/>
                </a:solidFill>
                <a:latin typeface="Aptos"/>
              </a:rPr>
              <a:t>PROJECT-KNOWLEDGE.md §53.4, §53.6, §54.4, §55.4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Channels across ±60°</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12_global60_channels__map.png"/>
          <p:cNvPicPr>
            <a:picLocks noChangeAspect="1"/>
          </p:cNvPicPr>
          <p:nvPr/>
        </p:nvPicPr>
        <p:blipFill>
          <a:blip r:embed="rId2"/>
          <a:stretch>
            <a:fillRect/>
          </a:stretch>
        </p:blipFill>
        <p:spPr>
          <a:xfrm>
            <a:off x="825500" y="1676400"/>
            <a:ext cx="10541000" cy="3608027"/>
          </a:xfrm>
          <a:prstGeom prst="rect">
            <a:avLst/>
          </a:prstGeom>
        </p:spPr>
      </p:pic>
      <p:pic>
        <p:nvPicPr>
          <p:cNvPr id="5" name="Picture 4" descr="12_global60_channels__legend.png"/>
          <p:cNvPicPr>
            <a:picLocks noChangeAspect="1"/>
          </p:cNvPicPr>
          <p:nvPr/>
        </p:nvPicPr>
        <p:blipFill>
          <a:blip r:embed="rId3"/>
          <a:stretch>
            <a:fillRect/>
          </a:stretch>
        </p:blipFill>
        <p:spPr>
          <a:xfrm>
            <a:off x="7556500" y="5411427"/>
            <a:ext cx="3810000" cy="354968"/>
          </a:xfrm>
          <a:prstGeom prst="rect">
            <a:avLst/>
          </a:prstGeom>
        </p:spPr>
      </p:pic>
      <p:sp>
        <p:nvSpPr>
          <p:cNvPr id="6" name="TextBox 5"/>
          <p:cNvSpPr txBox="1"/>
          <p:nvPr/>
        </p:nvSpPr>
        <p:spPr>
          <a:xfrm>
            <a:off x="825500" y="5411427"/>
            <a:ext cx="6527800" cy="1040173"/>
          </a:xfrm>
          <a:prstGeom prst="rect">
            <a:avLst/>
          </a:prstGeom>
          <a:noFill/>
        </p:spPr>
        <p:txBody>
          <a:bodyPr wrap="square" anchor="t" lIns="0" rIns="0" tIns="0" bIns="0">
            <a:spAutoFit/>
          </a:bodyPr>
          <a:lstStyle/>
          <a:p>
            <a:pPr marL="200000" indent="-200000">
              <a:spcAft>
                <a:spcPts val="400"/>
              </a:spcAft>
              <a:buFont typeface="Arial" pitchFamily="34" charset="0"/>
              <a:buChar char="•"/>
            </a:pPr>
            <a:r>
              <a:rPr sz="1400" b="0" i="0">
                <a:solidFill>
                  <a:srgbClr val="000000"/>
                </a:solidFill>
                <a:latin typeface="Aptos"/>
              </a:rPr>
              <a:t>969,822 routed channel segments; orders 3–5 drawn</a:t>
            </a:r>
          </a:p>
          <a:p>
            <a:pPr marL="200000" indent="-200000">
              <a:spcAft>
                <a:spcPts val="400"/>
              </a:spcAft>
              <a:buFont typeface="Arial" pitchFamily="34" charset="0"/>
              <a:buChar char="•"/>
            </a:pPr>
            <a:r>
              <a:rPr sz="1400" b="0" i="0">
                <a:solidFill>
                  <a:srgbClr val="000000"/>
                </a:solidFill>
                <a:latin typeface="Aptos"/>
              </a:rPr>
              <a:t>60.5% of stream cells discarded as fill artefact (Ius alone: 56%)</a:t>
            </a:r>
          </a:p>
          <a:p>
            <a:pPr marL="200000" indent="-200000">
              <a:spcAft>
                <a:spcPts val="400"/>
              </a:spcAft>
              <a:buFont typeface="Arial" pitchFamily="34" charset="0"/>
              <a:buChar char="•"/>
            </a:pPr>
            <a:r>
              <a:rPr sz="1400" b="0" i="0">
                <a:solidFill>
                  <a:srgbClr val="000000"/>
                </a:solidFill>
                <a:latin typeface="Aptos"/>
              </a:rPr>
              <a:t>89.8% lie on ground under 2°, so the plateau channels are DEM noise</a:t>
            </a:r>
          </a:p>
          <a:p>
            <a:pPr marL="200000" indent="-200000">
              <a:spcAft>
                <a:spcPts val="400"/>
              </a:spcAft>
              <a:buFont typeface="Arial" pitchFamily="34" charset="0"/>
              <a:buChar char="•"/>
            </a:pPr>
            <a:r>
              <a:rPr sz="1400" b="0" i="0">
                <a:solidFill>
                  <a:srgbClr val="000000"/>
                </a:solidFill>
                <a:latin typeface="Aptos"/>
              </a:rPr>
              <a:t>No channel reference exists at ±60°, so the network is not scored</a:t>
            </a:r>
          </a:p>
        </p:txBody>
      </p:sp>
      <p:sp>
        <p:nvSpPr>
          <p:cNvPr id="7" name="TextBox 6"/>
          <p:cNvSpPr txBox="1"/>
          <p:nvPr/>
        </p:nvSpPr>
        <p:spPr>
          <a:xfrm>
            <a:off x="825500" y="6553200"/>
            <a:ext cx="10541000" cy="228600"/>
          </a:xfrm>
          <a:prstGeom prst="rect">
            <a:avLst/>
          </a:prstGeom>
          <a:noFill/>
        </p:spPr>
        <p:txBody>
          <a:bodyPr wrap="square" anchor="t" lIns="0" rIns="0" tIns="0" bIns="0">
            <a:spAutoFit/>
          </a:bodyPr>
          <a:lstStyle/>
          <a:p>
            <a:pPr>
              <a:buNone/>
            </a:pPr>
            <a:r>
              <a:rPr sz="1000" b="0" i="1">
                <a:solidFill>
                  <a:srgbClr val="555F66"/>
                </a:solidFill>
                <a:latin typeface="Aptos"/>
              </a:rPr>
              <a:t>PROJECT-KNOWLEDGE.md §53.4, §53.6, §54.4, §55.4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Ius Chasma: candidates to digitise</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6_ius_digitising__map.png"/>
          <p:cNvPicPr>
            <a:picLocks noChangeAspect="1"/>
          </p:cNvPicPr>
          <p:nvPr/>
        </p:nvPicPr>
        <p:blipFill>
          <a:blip r:embed="rId2"/>
          <a:stretch>
            <a:fillRect/>
          </a:stretch>
        </p:blipFill>
        <p:spPr>
          <a:xfrm>
            <a:off x="2999619" y="1676400"/>
            <a:ext cx="6192761" cy="3683000"/>
          </a:xfrm>
          <a:prstGeom prst="rect">
            <a:avLst/>
          </a:prstGeom>
        </p:spPr>
      </p:pic>
      <p:pic>
        <p:nvPicPr>
          <p:cNvPr id="5" name="Picture 4" descr="06_ius_digitising__legend.png"/>
          <p:cNvPicPr>
            <a:picLocks noChangeAspect="1"/>
          </p:cNvPicPr>
          <p:nvPr/>
        </p:nvPicPr>
        <p:blipFill>
          <a:blip r:embed="rId3"/>
          <a:stretch>
            <a:fillRect/>
          </a:stretch>
        </p:blipFill>
        <p:spPr>
          <a:xfrm>
            <a:off x="7556500" y="5486400"/>
            <a:ext cx="3810000" cy="603467"/>
          </a:xfrm>
          <a:prstGeom prst="rect">
            <a:avLst/>
          </a:prstGeom>
        </p:spPr>
      </p:pic>
      <p:sp>
        <p:nvSpPr>
          <p:cNvPr id="6" name="TextBox 5"/>
          <p:cNvSpPr txBox="1"/>
          <p:nvPr/>
        </p:nvSpPr>
        <p:spPr>
          <a:xfrm>
            <a:off x="825500" y="5486400"/>
            <a:ext cx="6527800" cy="965200"/>
          </a:xfrm>
          <a:prstGeom prst="rect">
            <a:avLst/>
          </a:prstGeom>
          <a:noFill/>
        </p:spPr>
        <p:txBody>
          <a:bodyPr wrap="square" anchor="t" lIns="0" rIns="0" tIns="0" bIns="0">
            <a:spAutoFit/>
          </a:bodyPr>
          <a:lstStyle/>
          <a:p>
            <a:pPr marL="200000" indent="-200000">
              <a:spcAft>
                <a:spcPts val="400"/>
              </a:spcAft>
              <a:buFont typeface="Arial" pitchFamily="34" charset="0"/>
              <a:buChar char="•"/>
            </a:pPr>
            <a:r>
              <a:rPr sz="1400" b="0" i="0">
                <a:solidFill>
                  <a:srgbClr val="000000"/>
                </a:solidFill>
                <a:latin typeface="Aptos"/>
              </a:rPr>
              <a:t>Fill raised the canyon floor 2,077 m; 56% of the first channel network was artefact</a:t>
            </a:r>
          </a:p>
          <a:p>
            <a:pPr marL="200000" indent="-200000">
              <a:spcAft>
                <a:spcPts val="400"/>
              </a:spcAft>
              <a:buFont typeface="Arial" pitchFamily="34" charset="0"/>
              <a:buChar char="•"/>
            </a:pPr>
            <a:r>
              <a:rPr sz="1400" b="0" i="0">
                <a:solidFill>
                  <a:srgbClr val="000000"/>
                </a:solidFill>
                <a:latin typeface="Aptos"/>
              </a:rPr>
              <a:t>188 channel candidates are steep and rock-floored; the review starts with them</a:t>
            </a:r>
          </a:p>
          <a:p>
            <a:pPr marL="200000" indent="-200000">
              <a:spcAft>
                <a:spcPts val="400"/>
              </a:spcAft>
              <a:buFont typeface="Arial" pitchFamily="34" charset="0"/>
              <a:buChar char="•"/>
            </a:pPr>
            <a:r>
              <a:rPr sz="1400" b="0" i="0">
                <a:solidFill>
                  <a:srgbClr val="000000"/>
                </a:solidFill>
                <a:latin typeface="Aptos"/>
              </a:rPr>
              <a:t>Only 11% of the 1,685 closed depressions ≥ 1 km match a Robbins crater, so they are prompts for review</a:t>
            </a:r>
          </a:p>
        </p:txBody>
      </p:sp>
      <p:sp>
        <p:nvSpPr>
          <p:cNvPr id="7" name="TextBox 6"/>
          <p:cNvSpPr txBox="1"/>
          <p:nvPr/>
        </p:nvSpPr>
        <p:spPr>
          <a:xfrm>
            <a:off x="825500" y="6553200"/>
            <a:ext cx="10541000" cy="228600"/>
          </a:xfrm>
          <a:prstGeom prst="rect">
            <a:avLst/>
          </a:prstGeom>
          <a:noFill/>
        </p:spPr>
        <p:txBody>
          <a:bodyPr wrap="square" anchor="t" lIns="0" rIns="0" tIns="0" bIns="0">
            <a:spAutoFit/>
          </a:bodyPr>
          <a:lstStyle/>
          <a:p>
            <a:pPr>
              <a:buNone/>
            </a:pPr>
            <a:r>
              <a:rPr sz="1000" b="0" i="1">
                <a:solidFill>
                  <a:srgbClr val="555F66"/>
                </a:solidFill>
                <a:latin typeface="Aptos"/>
              </a:rPr>
              <a:t>PROJECT-KNOWLEDGE.md §25, §26, §42.3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Athabasca Valles: the second type area</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9_athabasca_digitising__map.png"/>
          <p:cNvPicPr>
            <a:picLocks noChangeAspect="1"/>
          </p:cNvPicPr>
          <p:nvPr/>
        </p:nvPicPr>
        <p:blipFill>
          <a:blip r:embed="rId2"/>
          <a:stretch>
            <a:fillRect/>
          </a:stretch>
        </p:blipFill>
        <p:spPr>
          <a:xfrm>
            <a:off x="2901852" y="1676400"/>
            <a:ext cx="6388296" cy="3683000"/>
          </a:xfrm>
          <a:prstGeom prst="rect">
            <a:avLst/>
          </a:prstGeom>
        </p:spPr>
      </p:pic>
      <p:pic>
        <p:nvPicPr>
          <p:cNvPr id="5" name="Picture 4" descr="09_athabasca_digitising__legend.png"/>
          <p:cNvPicPr>
            <a:picLocks noChangeAspect="1"/>
          </p:cNvPicPr>
          <p:nvPr/>
        </p:nvPicPr>
        <p:blipFill>
          <a:blip r:embed="rId3"/>
          <a:stretch>
            <a:fillRect/>
          </a:stretch>
        </p:blipFill>
        <p:spPr>
          <a:xfrm>
            <a:off x="10142344" y="5486400"/>
            <a:ext cx="1224156" cy="965199"/>
          </a:xfrm>
          <a:prstGeom prst="rect">
            <a:avLst/>
          </a:prstGeom>
        </p:spPr>
      </p:pic>
      <p:sp>
        <p:nvSpPr>
          <p:cNvPr id="6" name="TextBox 5"/>
          <p:cNvSpPr txBox="1"/>
          <p:nvPr/>
        </p:nvSpPr>
        <p:spPr>
          <a:xfrm>
            <a:off x="825500" y="5486400"/>
            <a:ext cx="9113644" cy="965200"/>
          </a:xfrm>
          <a:prstGeom prst="rect">
            <a:avLst/>
          </a:prstGeom>
          <a:noFill/>
        </p:spPr>
        <p:txBody>
          <a:bodyPr wrap="square" anchor="t" lIns="0" rIns="0" tIns="0" bIns="0">
            <a:spAutoFit/>
          </a:bodyPr>
          <a:lstStyle/>
          <a:p>
            <a:pPr marL="200000" indent="-200000">
              <a:spcAft>
                <a:spcPts val="400"/>
              </a:spcAft>
              <a:buFont typeface="Arial" pitchFamily="34" charset="0"/>
              <a:buChar char="•"/>
            </a:pPr>
            <a:r>
              <a:rPr sz="1400" b="0" i="0">
                <a:solidFill>
                  <a:srgbClr val="000000"/>
                </a:solidFill>
                <a:latin typeface="Aptos"/>
              </a:rPr>
              <a:t>Flood lava once mapped as a water channel; the USGS map calls it Late Amazonian volcanic (lAv)</a:t>
            </a:r>
          </a:p>
          <a:p>
            <a:pPr marL="200000" indent="-200000">
              <a:spcAft>
                <a:spcPts val="400"/>
              </a:spcAft>
              <a:buFont typeface="Arial" pitchFamily="34" charset="0"/>
              <a:buChar char="•"/>
            </a:pPr>
            <a:r>
              <a:rPr sz="1400" b="0" i="0">
                <a:solidFill>
                  <a:srgbClr val="000000"/>
                </a:solidFill>
                <a:latin typeface="Aptos"/>
              </a:rPr>
              <a:t>Built the same way as Ius: 3,283 channel candidates, 409 of them rock-floored</a:t>
            </a:r>
          </a:p>
          <a:p>
            <a:pPr marL="200000" indent="-200000">
              <a:spcAft>
                <a:spcPts val="400"/>
              </a:spcAft>
              <a:buFont typeface="Arial" pitchFamily="34" charset="0"/>
              <a:buChar char="•"/>
            </a:pPr>
            <a:r>
              <a:rPr sz="1400" b="0" i="0">
                <a:solidFill>
                  <a:srgbClr val="000000"/>
                </a:solidFill>
                <a:latin typeface="Aptos"/>
              </a:rPr>
              <a:t>Catalogued craters: 1,122 per million km² on lAv, against 1,760 and 2,183 on the older units</a:t>
            </a:r>
          </a:p>
          <a:p>
            <a:pPr marL="200000" indent="-200000">
              <a:spcAft>
                <a:spcPts val="400"/>
              </a:spcAft>
              <a:buFont typeface="Arial" pitchFamily="34" charset="0"/>
              <a:buChar char="•"/>
            </a:pPr>
            <a:r>
              <a:rPr sz="1400" b="0" i="0">
                <a:solidFill>
                  <a:srgbClr val="000000"/>
                </a:solidFill>
                <a:latin typeface="Aptos"/>
              </a:rPr>
              <a:t>The diurnal-contrast index does not track calibrated TES inertia here (r ≈ 0); Viking albedo does (−0.55)</a:t>
            </a:r>
          </a:p>
        </p:txBody>
      </p:sp>
      <p:sp>
        <p:nvSpPr>
          <p:cNvPr id="7" name="TextBox 6"/>
          <p:cNvSpPr txBox="1"/>
          <p:nvPr/>
        </p:nvSpPr>
        <p:spPr>
          <a:xfrm>
            <a:off x="825500" y="6553200"/>
            <a:ext cx="10541000" cy="228600"/>
          </a:xfrm>
          <a:prstGeom prst="rect">
            <a:avLst/>
          </a:prstGeom>
          <a:noFill/>
        </p:spPr>
        <p:txBody>
          <a:bodyPr wrap="square" anchor="t" lIns="0" rIns="0" tIns="0" bIns="0">
            <a:spAutoFit/>
          </a:bodyPr>
          <a:lstStyle/>
          <a:p>
            <a:pPr>
              <a:buNone/>
            </a:pPr>
            <a:r>
              <a:rPr sz="1000" b="0" i="1">
                <a:solidFill>
                  <a:srgbClr val="555F66"/>
                </a:solidFill>
                <a:latin typeface="Aptos"/>
              </a:rPr>
              <a:t>PROJECT-KNOWLEDGE.md §41, §42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Checking the first two classifications</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5_svm_checks__map.png"/>
          <p:cNvPicPr>
            <a:picLocks noChangeAspect="1"/>
          </p:cNvPicPr>
          <p:nvPr/>
        </p:nvPicPr>
        <p:blipFill>
          <a:blip r:embed="rId2"/>
          <a:stretch>
            <a:fillRect/>
          </a:stretch>
        </p:blipFill>
        <p:spPr>
          <a:xfrm>
            <a:off x="825500" y="1676400"/>
            <a:ext cx="5209449" cy="4673600"/>
          </a:xfrm>
          <a:prstGeom prst="rect">
            <a:avLst/>
          </a:prstGeom>
        </p:spPr>
      </p:pic>
      <p:sp>
        <p:nvSpPr>
          <p:cNvPr id="5" name="TextBox 4"/>
          <p:cNvSpPr txBox="1"/>
          <p:nvPr/>
        </p:nvSpPr>
        <p:spPr>
          <a:xfrm>
            <a:off x="6314349" y="1676400"/>
            <a:ext cx="5052151" cy="2235200"/>
          </a:xfrm>
          <a:prstGeom prst="rect">
            <a:avLst/>
          </a:prstGeom>
          <a:noFill/>
        </p:spPr>
        <p:txBody>
          <a:bodyPr wrap="square" anchor="t" lIns="0" rIns="0" tIns="0" bIns="0">
            <a:spAutoFit/>
          </a:bodyPr>
          <a:lstStyle/>
          <a:p>
            <a:pPr marL="200000" indent="-200000">
              <a:spcAft>
                <a:spcPts val="600"/>
              </a:spcAft>
              <a:buFont typeface="Arial" pitchFamily="34" charset="0"/>
              <a:buChar char="•"/>
            </a:pPr>
            <a:r>
              <a:rPr sz="1400" b="0" i="0">
                <a:solidFill>
                  <a:srgbClr val="000000"/>
                </a:solidFill>
                <a:latin typeface="Aptos"/>
              </a:rPr>
              <a:t>The 29 Sep map follows its 4096-px processing tiles instead of the terrain</a:t>
            </a:r>
          </a:p>
          <a:p>
            <a:pPr marL="200000" indent="-200000">
              <a:spcAft>
                <a:spcPts val="600"/>
              </a:spcAft>
              <a:buFont typeface="Arial" pitchFamily="34" charset="0"/>
              <a:buChar char="•"/>
            </a:pPr>
            <a:r>
              <a:rPr sz="1400" b="0" i="0">
                <a:solidFill>
                  <a:srgbClr val="000000"/>
                </a:solidFill>
                <a:latin typeface="Aptos"/>
              </a:rPr>
              <a:t>The 30 Sep map is mostly elevation: elevation alone reproduces 62% of it</a:t>
            </a:r>
          </a:p>
          <a:p>
            <a:pPr marL="200000" indent="-200000">
              <a:spcAft>
                <a:spcPts val="600"/>
              </a:spcAft>
              <a:buFont typeface="Arial" pitchFamily="34" charset="0"/>
              <a:buChar char="•"/>
            </a:pPr>
            <a:r>
              <a:rPr sz="1400" b="0" i="0">
                <a:solidFill>
                  <a:srgbClr val="000000"/>
                </a:solidFill>
                <a:latin typeface="Aptos"/>
              </a:rPr>
              <a:t>Both problems led to the corrected stack, with no elevation band and slope in degrees</a:t>
            </a:r>
          </a:p>
        </p:txBody>
      </p:sp>
      <p:pic>
        <p:nvPicPr>
          <p:cNvPr id="6" name="Picture 5" descr="05_svm_checks__legend.png"/>
          <p:cNvPicPr>
            <a:picLocks noChangeAspect="1"/>
          </p:cNvPicPr>
          <p:nvPr/>
        </p:nvPicPr>
        <p:blipFill>
          <a:blip r:embed="rId3"/>
          <a:stretch>
            <a:fillRect/>
          </a:stretch>
        </p:blipFill>
        <p:spPr>
          <a:xfrm>
            <a:off x="6314349" y="4013200"/>
            <a:ext cx="3661076" cy="2057399"/>
          </a:xfrm>
          <a:prstGeom prst="rect">
            <a:avLst/>
          </a:prstGeom>
        </p:spPr>
      </p:pic>
      <p:sp>
        <p:nvSpPr>
          <p:cNvPr id="7" name="TextBox 6"/>
          <p:cNvSpPr txBox="1"/>
          <p:nvPr/>
        </p:nvSpPr>
        <p:spPr>
          <a:xfrm>
            <a:off x="6314349" y="6121400"/>
            <a:ext cx="5052151" cy="228600"/>
          </a:xfrm>
          <a:prstGeom prst="rect">
            <a:avLst/>
          </a:prstGeom>
          <a:noFill/>
        </p:spPr>
        <p:txBody>
          <a:bodyPr wrap="square" anchor="t" lIns="0" rIns="0" tIns="0" bIns="0">
            <a:spAutoFit/>
          </a:bodyPr>
          <a:lstStyle/>
          <a:p>
            <a:pPr>
              <a:buNone/>
            </a:pPr>
            <a:r>
              <a:rPr sz="1000" b="0" i="1">
                <a:solidFill>
                  <a:srgbClr val="555F66"/>
                </a:solidFill>
                <a:latin typeface="Aptos"/>
              </a:rPr>
              <a:t>PROJECT-KNOWLEDGE.md §30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Landforms at ±60°, scored on labels the model never saw</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4_global60_landforms__map.png"/>
          <p:cNvPicPr>
            <a:picLocks noChangeAspect="1"/>
          </p:cNvPicPr>
          <p:nvPr/>
        </p:nvPicPr>
        <p:blipFill>
          <a:blip r:embed="rId2"/>
          <a:stretch>
            <a:fillRect/>
          </a:stretch>
        </p:blipFill>
        <p:spPr>
          <a:xfrm>
            <a:off x="825500" y="1676400"/>
            <a:ext cx="10541000" cy="3608027"/>
          </a:xfrm>
          <a:prstGeom prst="rect">
            <a:avLst/>
          </a:prstGeom>
        </p:spPr>
      </p:pic>
      <p:pic>
        <p:nvPicPr>
          <p:cNvPr id="5" name="Picture 4" descr="04_global60_landforms__legend.png"/>
          <p:cNvPicPr>
            <a:picLocks noChangeAspect="1"/>
          </p:cNvPicPr>
          <p:nvPr/>
        </p:nvPicPr>
        <p:blipFill>
          <a:blip r:embed="rId3"/>
          <a:stretch>
            <a:fillRect/>
          </a:stretch>
        </p:blipFill>
        <p:spPr>
          <a:xfrm>
            <a:off x="9001609" y="5411427"/>
            <a:ext cx="2364891" cy="1040172"/>
          </a:xfrm>
          <a:prstGeom prst="rect">
            <a:avLst/>
          </a:prstGeom>
        </p:spPr>
      </p:pic>
      <p:sp>
        <p:nvSpPr>
          <p:cNvPr id="6" name="TextBox 5"/>
          <p:cNvSpPr txBox="1"/>
          <p:nvPr/>
        </p:nvSpPr>
        <p:spPr>
          <a:xfrm>
            <a:off x="825500" y="5411427"/>
            <a:ext cx="7972909" cy="1040173"/>
          </a:xfrm>
          <a:prstGeom prst="rect">
            <a:avLst/>
          </a:prstGeom>
          <a:noFill/>
        </p:spPr>
        <p:txBody>
          <a:bodyPr wrap="square" anchor="t" lIns="0" rIns="0" tIns="0" bIns="0">
            <a:spAutoFit/>
          </a:bodyPr>
          <a:lstStyle/>
          <a:p>
            <a:pPr marL="200000" indent="-200000">
              <a:spcAft>
                <a:spcPts val="400"/>
              </a:spcAft>
              <a:buFont typeface="Arial" pitchFamily="34" charset="0"/>
              <a:buChar char="•"/>
            </a:pPr>
            <a:r>
              <a:rPr sz="1400" b="0" i="0">
                <a:solidFill>
                  <a:srgbClr val="000000"/>
                </a:solidFill>
                <a:latin typeface="Aptos"/>
              </a:rPr>
              <a:t>512 hand-drawn polygons in whole 15° blocks: 329 train the SVM, 183 are held out</a:t>
            </a:r>
          </a:p>
          <a:p>
            <a:pPr marL="200000" indent="-200000">
              <a:spcAft>
                <a:spcPts val="400"/>
              </a:spcAft>
              <a:buFont typeface="Arial" pitchFamily="34" charset="0"/>
              <a:buChar char="•"/>
            </a:pPr>
            <a:r>
              <a:rPr sz="1400" b="0" i="0">
                <a:solidFill>
                  <a:srgbClr val="000000"/>
                </a:solidFill>
                <a:latin typeface="Aptos"/>
              </a:rPr>
              <a:t>Published map, 200 m, 11 × 11 majority (2.2 km): 73.8%, κ 0.58 held out; one class everywhere: 58.6%</a:t>
            </a:r>
          </a:p>
          <a:p>
            <a:pPr marL="200000" indent="-200000">
              <a:spcAft>
                <a:spcPts val="400"/>
              </a:spcAft>
              <a:buFont typeface="Arial" pitchFamily="34" charset="0"/>
              <a:buChar char="•"/>
            </a:pPr>
            <a:r>
              <a:rPr sz="1400" b="0" i="0">
                <a:solidFill>
                  <a:srgbClr val="000000"/>
                </a:solidFill>
                <a:latin typeface="Aptos"/>
              </a:rPr>
              <a:t>Halving the cell bought no accuracy: 69.9% raw at 200 m, 70.5% at 400 m</a:t>
            </a:r>
          </a:p>
          <a:p>
            <a:pPr marL="200000" indent="-200000">
              <a:spcAft>
                <a:spcPts val="400"/>
              </a:spcAft>
              <a:buFont typeface="Arial" pitchFamily="34" charset="0"/>
              <a:buChar char="•"/>
            </a:pPr>
            <a:r>
              <a:rPr sz="1400" b="0" i="0">
                <a:solidFill>
                  <a:srgbClr val="000000"/>
                </a:solidFill>
                <a:latin typeface="Aptos"/>
              </a:rPr>
              <a:t>Normal Ground and cratered terrain hold up; lava tube does not (2% user's accuracy)</a:t>
            </a:r>
          </a:p>
        </p:txBody>
      </p:sp>
      <p:sp>
        <p:nvSpPr>
          <p:cNvPr id="7" name="TextBox 6"/>
          <p:cNvSpPr txBox="1"/>
          <p:nvPr/>
        </p:nvSpPr>
        <p:spPr>
          <a:xfrm>
            <a:off x="825500" y="6553200"/>
            <a:ext cx="10541000" cy="228600"/>
          </a:xfrm>
          <a:prstGeom prst="rect">
            <a:avLst/>
          </a:prstGeom>
          <a:noFill/>
        </p:spPr>
        <p:txBody>
          <a:bodyPr wrap="square" anchor="t" lIns="0" rIns="0" tIns="0" bIns="0">
            <a:spAutoFit/>
          </a:bodyPr>
          <a:lstStyle/>
          <a:p>
            <a:pPr>
              <a:buNone/>
            </a:pPr>
            <a:r>
              <a:rPr sz="1000" b="0" i="1">
                <a:solidFill>
                  <a:srgbClr val="555F66"/>
                </a:solidFill>
                <a:latin typeface="Aptos"/>
              </a:rPr>
              <a:t>PROJECT-KNOWLEDGE.md §31.3, §55.3, §57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The landform classes against the USGS geologic map</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t8_enrichment.png"/>
          <p:cNvPicPr>
            <a:picLocks noChangeAspect="1"/>
          </p:cNvPicPr>
          <p:nvPr/>
        </p:nvPicPr>
        <p:blipFill>
          <a:blip r:embed="rId2"/>
          <a:stretch>
            <a:fillRect/>
          </a:stretch>
        </p:blipFill>
        <p:spPr>
          <a:xfrm>
            <a:off x="1682819" y="1676400"/>
            <a:ext cx="8826361" cy="3683000"/>
          </a:xfrm>
          <a:prstGeom prst="rect">
            <a:avLst/>
          </a:prstGeom>
        </p:spPr>
      </p:pic>
      <p:sp>
        <p:nvSpPr>
          <p:cNvPr id="5" name="TextBox 4"/>
          <p:cNvSpPr txBox="1"/>
          <p:nvPr/>
        </p:nvSpPr>
        <p:spPr>
          <a:xfrm>
            <a:off x="825500" y="5486400"/>
            <a:ext cx="10541000" cy="990600"/>
          </a:xfrm>
          <a:prstGeom prst="rect">
            <a:avLst/>
          </a:prstGeom>
          <a:noFill/>
        </p:spPr>
        <p:txBody>
          <a:bodyPr wrap="square" anchor="t" lIns="0" rIns="0" tIns="0" bIns="0">
            <a:spAutoFit/>
          </a:bodyPr>
          <a:lstStyle/>
          <a:p>
            <a:pPr marL="200000" indent="-200000">
              <a:spcAft>
                <a:spcPts val="400"/>
              </a:spcAft>
              <a:buFont typeface="Arial" pitchFamily="34" charset="0"/>
              <a:buChar char="•"/>
            </a:pPr>
            <a:r>
              <a:rPr sz="1400" b="0" i="0">
                <a:solidFill>
                  <a:srgbClr val="000000"/>
                </a:solidFill>
                <a:latin typeface="Aptos"/>
              </a:rPr>
              <a:t>Each cell: how much more often a class occurs in a unit group than across ±60° (×1 = no link)</a:t>
            </a:r>
          </a:p>
          <a:p>
            <a:pPr marL="200000" indent="-200000">
              <a:spcAft>
                <a:spcPts val="400"/>
              </a:spcAft>
              <a:buFont typeface="Arial" pitchFamily="34" charset="0"/>
              <a:buChar char="•"/>
            </a:pPr>
            <a:r>
              <a:rPr sz="1400" b="0" i="0">
                <a:solidFill>
                  <a:srgbClr val="000000"/>
                </a:solidFill>
                <a:latin typeface="Aptos"/>
              </a:rPr>
              <a:t>"Lava tube" gathers on volcano flanks and aprons (×3.30, ×4.29), not on volcanic plains (×0.84)</a:t>
            </a:r>
          </a:p>
          <a:p>
            <a:pPr marL="200000" indent="-200000">
              <a:spcAft>
                <a:spcPts val="400"/>
              </a:spcAft>
              <a:buFont typeface="Arial" pitchFamily="34" charset="0"/>
              <a:buChar char="•"/>
            </a:pPr>
            <a:r>
              <a:rPr sz="1400" b="0" i="0">
                <a:solidFill>
                  <a:srgbClr val="000000"/>
                </a:solidFill>
                <a:latin typeface="Aptos"/>
              </a:rPr>
              <a:t>76% of the volcanic plains come out Normal Ground</a:t>
            </a:r>
          </a:p>
          <a:p>
            <a:pPr marL="200000" indent="-200000">
              <a:spcAft>
                <a:spcPts val="400"/>
              </a:spcAft>
              <a:buFont typeface="Arial" pitchFamily="34" charset="0"/>
              <a:buChar char="•"/>
            </a:pPr>
            <a:r>
              <a:rPr sz="1400" b="0" i="0">
                <a:solidFill>
                  <a:srgbClr val="000000"/>
                </a:solidFill>
                <a:latin typeface="Aptos"/>
              </a:rPr>
              <a:t>The classes follow terrain, so lava flows are taken from the geologic map</a:t>
            </a:r>
          </a:p>
        </p:txBody>
      </p:sp>
      <p:sp>
        <p:nvSpPr>
          <p:cNvPr id="6" name="TextBox 5"/>
          <p:cNvSpPr txBox="1"/>
          <p:nvPr/>
        </p:nvSpPr>
        <p:spPr>
          <a:xfrm>
            <a:off x="825500" y="6553200"/>
            <a:ext cx="10541000" cy="228600"/>
          </a:xfrm>
          <a:prstGeom prst="rect">
            <a:avLst/>
          </a:prstGeom>
          <a:noFill/>
        </p:spPr>
        <p:txBody>
          <a:bodyPr wrap="square" anchor="t" lIns="0" rIns="0" tIns="0" bIns="0">
            <a:spAutoFit/>
          </a:bodyPr>
          <a:lstStyle/>
          <a:p>
            <a:pPr>
              <a:buNone/>
            </a:pPr>
            <a:r>
              <a:rPr sz="1000" b="0" i="1">
                <a:solidFill>
                  <a:srgbClr val="555F66"/>
                </a:solidFill>
                <a:latin typeface="Aptos"/>
              </a:rPr>
              <a:t>PROJECT-KNOWLEDGE.md §43.2, §49, §57.1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Does thermal infrared improve the classification?</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thermal_ablation.png"/>
          <p:cNvPicPr>
            <a:picLocks noChangeAspect="1"/>
          </p:cNvPicPr>
          <p:nvPr/>
        </p:nvPicPr>
        <p:blipFill>
          <a:blip r:embed="rId2"/>
          <a:stretch>
            <a:fillRect/>
          </a:stretch>
        </p:blipFill>
        <p:spPr>
          <a:xfrm>
            <a:off x="2088383" y="1676400"/>
            <a:ext cx="8015233" cy="3683000"/>
          </a:xfrm>
          <a:prstGeom prst="rect">
            <a:avLst/>
          </a:prstGeom>
        </p:spPr>
      </p:pic>
      <p:sp>
        <p:nvSpPr>
          <p:cNvPr id="5" name="TextBox 4"/>
          <p:cNvSpPr txBox="1"/>
          <p:nvPr/>
        </p:nvSpPr>
        <p:spPr>
          <a:xfrm>
            <a:off x="825500" y="5486400"/>
            <a:ext cx="10541000" cy="990600"/>
          </a:xfrm>
          <a:prstGeom prst="rect">
            <a:avLst/>
          </a:prstGeom>
          <a:noFill/>
        </p:spPr>
        <p:txBody>
          <a:bodyPr wrap="square" anchor="t" lIns="0" rIns="0" tIns="0" bIns="0">
            <a:spAutoFit/>
          </a:bodyPr>
          <a:lstStyle/>
          <a:p>
            <a:pPr marL="200000" indent="-200000">
              <a:spcAft>
                <a:spcPts val="400"/>
              </a:spcAft>
              <a:buFont typeface="Arial" pitchFamily="34" charset="0"/>
              <a:buChar char="•"/>
            </a:pPr>
            <a:r>
              <a:rPr sz="1400" b="0" i="0">
                <a:solidFill>
                  <a:srgbClr val="000000"/>
                </a:solidFill>
                <a:latin typeface="Aptos"/>
              </a:rPr>
              <a:t>Slope and relief alone: 68.6%, κ 0.51 held out; all seven bands: 67.0%, κ 0.50</a:t>
            </a:r>
          </a:p>
          <a:p>
            <a:pPr marL="200000" indent="-200000">
              <a:spcAft>
                <a:spcPts val="400"/>
              </a:spcAft>
              <a:buFont typeface="Arial" pitchFamily="34" charset="0"/>
              <a:buChar char="•"/>
            </a:pPr>
            <a:r>
              <a:rPr sz="1400" b="0" i="0">
                <a:solidFill>
                  <a:srgbClr val="000000"/>
                </a:solidFill>
                <a:latin typeface="Aptos"/>
              </a:rPr>
              <a:t>The thermal bands add +1.3 points (95% interval +0.6 to +2.2), small but clear of zero</a:t>
            </a:r>
          </a:p>
          <a:p>
            <a:pPr marL="200000" indent="-200000">
              <a:spcAft>
                <a:spcPts val="400"/>
              </a:spcAft>
              <a:buFont typeface="Arial" pitchFamily="34" charset="0"/>
              <a:buChar char="•"/>
            </a:pPr>
            <a:r>
              <a:rPr sz="1400" b="0" i="0">
                <a:solidFill>
                  <a:srgbClr val="000000"/>
                </a:solidFill>
                <a:latin typeface="Aptos"/>
              </a:rPr>
              <a:t>Without terrain, visible and thermal score below one class everywhere (58.6%)</a:t>
            </a:r>
          </a:p>
          <a:p>
            <a:pPr marL="200000" indent="-200000">
              <a:spcAft>
                <a:spcPts val="400"/>
              </a:spcAft>
              <a:buFont typeface="Arial" pitchFamily="34" charset="0"/>
              <a:buChar char="•"/>
            </a:pPr>
            <a:r>
              <a:rPr sz="1400" b="0" i="0">
                <a:solidFill>
                  <a:srgbClr val="000000"/>
                </a:solidFill>
                <a:latin typeface="Aptos"/>
              </a:rPr>
              <a:t>The labels are landforms, so terrain decides them; testing thermal IR properly needs material labels</a:t>
            </a:r>
          </a:p>
        </p:txBody>
      </p:sp>
      <p:sp>
        <p:nvSpPr>
          <p:cNvPr id="6" name="TextBox 5"/>
          <p:cNvSpPr txBox="1"/>
          <p:nvPr/>
        </p:nvSpPr>
        <p:spPr>
          <a:xfrm>
            <a:off x="825500" y="6553200"/>
            <a:ext cx="10541000" cy="228600"/>
          </a:xfrm>
          <a:prstGeom prst="rect">
            <a:avLst/>
          </a:prstGeom>
          <a:noFill/>
        </p:spPr>
        <p:txBody>
          <a:bodyPr wrap="square" anchor="t" lIns="0" rIns="0" tIns="0" bIns="0">
            <a:spAutoFit/>
          </a:bodyPr>
          <a:lstStyle/>
          <a:p>
            <a:pPr>
              <a:buNone/>
            </a:pPr>
            <a:r>
              <a:rPr sz="1000" b="0" i="1">
                <a:solidFill>
                  <a:srgbClr val="555F66"/>
                </a:solidFill>
                <a:latin typeface="Aptos"/>
              </a:rPr>
              <a:t>PROJECT-KNOWLEDGE.md §40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The thermal gain, confirmed with ArcGIS Pro's own SVM</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t1_pro.png"/>
          <p:cNvPicPr>
            <a:picLocks noChangeAspect="1"/>
          </p:cNvPicPr>
          <p:nvPr/>
        </p:nvPicPr>
        <p:blipFill>
          <a:blip r:embed="rId2"/>
          <a:stretch>
            <a:fillRect/>
          </a:stretch>
        </p:blipFill>
        <p:spPr>
          <a:xfrm>
            <a:off x="1711476" y="1676400"/>
            <a:ext cx="8769047" cy="3683000"/>
          </a:xfrm>
          <a:prstGeom prst="rect">
            <a:avLst/>
          </a:prstGeom>
        </p:spPr>
      </p:pic>
      <p:sp>
        <p:nvSpPr>
          <p:cNvPr id="5" name="TextBox 4"/>
          <p:cNvSpPr txBox="1"/>
          <p:nvPr/>
        </p:nvSpPr>
        <p:spPr>
          <a:xfrm>
            <a:off x="825500" y="5486400"/>
            <a:ext cx="10541000" cy="990600"/>
          </a:xfrm>
          <a:prstGeom prst="rect">
            <a:avLst/>
          </a:prstGeom>
          <a:noFill/>
        </p:spPr>
        <p:txBody>
          <a:bodyPr wrap="square" anchor="t" lIns="0" rIns="0" tIns="0" bIns="0">
            <a:spAutoFit/>
          </a:bodyPr>
          <a:lstStyle/>
          <a:p>
            <a:pPr marL="200000" indent="-200000">
              <a:spcAft>
                <a:spcPts val="400"/>
              </a:spcAft>
              <a:buFont typeface="Arial" pitchFamily="34" charset="0"/>
              <a:buChar char="•"/>
            </a:pPr>
            <a:r>
              <a:rPr sz="1400" b="0" i="0">
                <a:solidFill>
                  <a:srgbClr val="000000"/>
                </a:solidFill>
                <a:latin typeface="Aptos"/>
              </a:rPr>
              <a:t>Pro's SVM retrained over all of ±60° with the published settings, leaving out one band group at a time</a:t>
            </a:r>
          </a:p>
          <a:p>
            <a:pPr marL="200000" indent="-200000">
              <a:spcAft>
                <a:spcPts val="400"/>
              </a:spcAft>
              <a:buFont typeface="Arial" pitchFamily="34" charset="0"/>
              <a:buChar char="•"/>
            </a:pPr>
            <a:r>
              <a:rPr sz="1400" b="0" i="0">
                <a:solidFill>
                  <a:srgbClr val="000000"/>
                </a:solidFill>
                <a:latin typeface="Aptos"/>
              </a:rPr>
              <a:t>Thermal adds +1.36 points at 200 m (+0.46 to +2.47) and +1.97 at 400 m (+1.08 to +3.35)</a:t>
            </a:r>
          </a:p>
          <a:p>
            <a:pPr marL="200000" indent="-200000">
              <a:spcAft>
                <a:spcPts val="400"/>
              </a:spcAft>
              <a:buFont typeface="Arial" pitchFamily="34" charset="0"/>
              <a:buChar char="•"/>
            </a:pPr>
            <a:r>
              <a:rPr sz="1400" b="0" i="0">
                <a:solidFill>
                  <a:srgbClr val="000000"/>
                </a:solidFill>
                <a:latin typeface="Aptos"/>
              </a:rPr>
              <a:t>Thermal helps craters and hills and hurts lava tube; leaving out visible, or both groups, leaves the score tied</a:t>
            </a:r>
          </a:p>
          <a:p>
            <a:pPr marL="200000" indent="-200000">
              <a:spcAft>
                <a:spcPts val="400"/>
              </a:spcAft>
              <a:buFont typeface="Arial" pitchFamily="34" charset="0"/>
              <a:buChar char="•"/>
            </a:pPr>
            <a:r>
              <a:rPr sz="1400" b="0" i="0">
                <a:solidFill>
                  <a:srgbClr val="000000"/>
                </a:solidFill>
                <a:latin typeface="Aptos"/>
              </a:rPr>
              <a:t>Terrain alone ties the overall score but gets only 34 of 124 crater polygons right</a:t>
            </a:r>
          </a:p>
        </p:txBody>
      </p:sp>
      <p:sp>
        <p:nvSpPr>
          <p:cNvPr id="6" name="TextBox 5"/>
          <p:cNvSpPr txBox="1"/>
          <p:nvPr/>
        </p:nvSpPr>
        <p:spPr>
          <a:xfrm>
            <a:off x="825500" y="6553200"/>
            <a:ext cx="10541000" cy="228600"/>
          </a:xfrm>
          <a:prstGeom prst="rect">
            <a:avLst/>
          </a:prstGeom>
          <a:noFill/>
        </p:spPr>
        <p:txBody>
          <a:bodyPr wrap="square" anchor="t" lIns="0" rIns="0" tIns="0" bIns="0">
            <a:spAutoFit/>
          </a:bodyPr>
          <a:lstStyle/>
          <a:p>
            <a:pPr>
              <a:buNone/>
            </a:pPr>
            <a:r>
              <a:rPr sz="1000" b="0" i="1">
                <a:solidFill>
                  <a:srgbClr val="555F66"/>
                </a:solidFill>
                <a:latin typeface="Aptos"/>
              </a:rPr>
              <a:t>PROJECT-KNOWLEDGE.md §56, §56.1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Deep learning, 1: a detector that draws boxes</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16_x5_detections__map.png"/>
          <p:cNvPicPr>
            <a:picLocks noChangeAspect="1"/>
          </p:cNvPicPr>
          <p:nvPr/>
        </p:nvPicPr>
        <p:blipFill>
          <a:blip r:embed="rId2"/>
          <a:stretch>
            <a:fillRect/>
          </a:stretch>
        </p:blipFill>
        <p:spPr>
          <a:xfrm>
            <a:off x="825500" y="1676400"/>
            <a:ext cx="5609817" cy="4673600"/>
          </a:xfrm>
          <a:prstGeom prst="rect">
            <a:avLst/>
          </a:prstGeom>
        </p:spPr>
      </p:pic>
      <p:sp>
        <p:nvSpPr>
          <p:cNvPr id="5" name="TextBox 4"/>
          <p:cNvSpPr txBox="1"/>
          <p:nvPr/>
        </p:nvSpPr>
        <p:spPr>
          <a:xfrm>
            <a:off x="6714717" y="1676400"/>
            <a:ext cx="4651783" cy="2235200"/>
          </a:xfrm>
          <a:prstGeom prst="rect">
            <a:avLst/>
          </a:prstGeom>
          <a:noFill/>
        </p:spPr>
        <p:txBody>
          <a:bodyPr wrap="square" anchor="t" lIns="0" rIns="0" tIns="0" bIns="0">
            <a:spAutoFit/>
          </a:bodyPr>
          <a:lstStyle/>
          <a:p>
            <a:pPr marL="200000" indent="-200000">
              <a:spcAft>
                <a:spcPts val="600"/>
              </a:spcAft>
              <a:buFont typeface="Arial" pitchFamily="34" charset="0"/>
              <a:buChar char="•"/>
            </a:pPr>
            <a:r>
              <a:rPr sz="1400" b="0" i="0">
                <a:solidFill>
                  <a:srgbClr val="000000"/>
                </a:solidFill>
                <a:latin typeface="Aptos"/>
              </a:rPr>
              <a:t>RetinaNet on the 7-band stack, trained on the training blocks only, scored on the 183 held-out polygons</a:t>
            </a:r>
          </a:p>
          <a:p>
            <a:pPr marL="200000" indent="-200000">
              <a:spcAft>
                <a:spcPts val="600"/>
              </a:spcAft>
              <a:buFont typeface="Arial" pitchFamily="34" charset="0"/>
              <a:buChar char="•"/>
            </a:pPr>
            <a:r>
              <a:rPr sz="1400" b="0" i="0">
                <a:solidFill>
                  <a:srgbClr val="000000"/>
                </a:solidFill>
                <a:latin typeface="Aptos"/>
              </a:rPr>
              <a:t>Crater: 41.9% of polygons found, 87.6% of boxes right, against 71.1% for always naming Crater</a:t>
            </a:r>
          </a:p>
          <a:p>
            <a:pPr marL="200000" indent="-200000">
              <a:spcAft>
                <a:spcPts val="600"/>
              </a:spcAft>
              <a:buFont typeface="Arial" pitchFamily="34" charset="0"/>
              <a:buChar char="•"/>
            </a:pPr>
            <a:r>
              <a:rPr sz="1400" b="0" i="0">
                <a:solidFill>
                  <a:srgbClr val="000000"/>
                </a:solidFill>
                <a:latin typeface="Aptos"/>
              </a:rPr>
              <a:t>Normal Ground: 22.7% found, 56.9% right; hills and lava tube never named</a:t>
            </a:r>
          </a:p>
          <a:p>
            <a:pPr marL="200000" indent="-200000">
              <a:spcAft>
                <a:spcPts val="600"/>
              </a:spcAft>
              <a:buFont typeface="Arial" pitchFamily="34" charset="0"/>
              <a:buChar char="•"/>
            </a:pPr>
            <a:r>
              <a:rPr sz="1400" b="0" i="0">
                <a:solidFill>
                  <a:srgbClr val="000000"/>
                </a:solidFill>
                <a:latin typeface="Aptos"/>
              </a:rPr>
              <a:t>Retrained with the backbone unfrozen for 30 epochs, it names hills but finds only 4.5% of Normal Ground, so it is no better</a:t>
            </a:r>
          </a:p>
        </p:txBody>
      </p:sp>
      <p:pic>
        <p:nvPicPr>
          <p:cNvPr id="6" name="Picture 5" descr="16_x5_detections__legend.png"/>
          <p:cNvPicPr>
            <a:picLocks noChangeAspect="1"/>
          </p:cNvPicPr>
          <p:nvPr/>
        </p:nvPicPr>
        <p:blipFill>
          <a:blip r:embed="rId3"/>
          <a:stretch>
            <a:fillRect/>
          </a:stretch>
        </p:blipFill>
        <p:spPr>
          <a:xfrm>
            <a:off x="6714717" y="4013200"/>
            <a:ext cx="1837525" cy="2057399"/>
          </a:xfrm>
          <a:prstGeom prst="rect">
            <a:avLst/>
          </a:prstGeom>
        </p:spPr>
      </p:pic>
      <p:sp>
        <p:nvSpPr>
          <p:cNvPr id="7" name="TextBox 6"/>
          <p:cNvSpPr txBox="1"/>
          <p:nvPr/>
        </p:nvSpPr>
        <p:spPr>
          <a:xfrm>
            <a:off x="6714717" y="6121400"/>
            <a:ext cx="4651783" cy="228600"/>
          </a:xfrm>
          <a:prstGeom prst="rect">
            <a:avLst/>
          </a:prstGeom>
          <a:noFill/>
        </p:spPr>
        <p:txBody>
          <a:bodyPr wrap="square" anchor="t" lIns="0" rIns="0" tIns="0" bIns="0">
            <a:spAutoFit/>
          </a:bodyPr>
          <a:lstStyle/>
          <a:p>
            <a:pPr>
              <a:buNone/>
            </a:pPr>
            <a:r>
              <a:rPr sz="1000" b="0" i="1">
                <a:solidFill>
                  <a:srgbClr val="555F66"/>
                </a:solidFill>
                <a:latin typeface="Aptos"/>
              </a:rPr>
              <a:t>PROJECT-KNOWLEDGE.md §66.1, §66.2, §66.5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Deep learning, 2: a U-Net maps terrain provinces</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17_x5c_unet_provinces__map.png"/>
          <p:cNvPicPr>
            <a:picLocks noChangeAspect="1"/>
          </p:cNvPicPr>
          <p:nvPr/>
        </p:nvPicPr>
        <p:blipFill>
          <a:blip r:embed="rId2"/>
          <a:stretch>
            <a:fillRect/>
          </a:stretch>
        </p:blipFill>
        <p:spPr>
          <a:xfrm>
            <a:off x="825500" y="1676400"/>
            <a:ext cx="5609817" cy="4673600"/>
          </a:xfrm>
          <a:prstGeom prst="rect">
            <a:avLst/>
          </a:prstGeom>
        </p:spPr>
      </p:pic>
      <p:sp>
        <p:nvSpPr>
          <p:cNvPr id="5" name="TextBox 4"/>
          <p:cNvSpPr txBox="1"/>
          <p:nvPr/>
        </p:nvSpPr>
        <p:spPr>
          <a:xfrm>
            <a:off x="6714717" y="1676400"/>
            <a:ext cx="4651783" cy="2235200"/>
          </a:xfrm>
          <a:prstGeom prst="rect">
            <a:avLst/>
          </a:prstGeom>
          <a:noFill/>
        </p:spPr>
        <p:txBody>
          <a:bodyPr wrap="square" anchor="t" lIns="0" rIns="0" tIns="0" bIns="0">
            <a:spAutoFit/>
          </a:bodyPr>
          <a:lstStyle/>
          <a:p>
            <a:pPr marL="200000" indent="-200000">
              <a:spcAft>
                <a:spcPts val="600"/>
              </a:spcAft>
              <a:buFont typeface="Arial" pitchFamily="34" charset="0"/>
              <a:buChar char="•"/>
            </a:pPr>
            <a:r>
              <a:rPr sz="1400" b="0" i="0">
                <a:solidFill>
                  <a:srgbClr val="000000"/>
                </a:solidFill>
                <a:latin typeface="Aptos"/>
              </a:rPr>
              <a:t>A U-Net pixel classifier on the same stack and labels, over all of ±60°; a second pass, offset 128 px, removes its tile seams</a:t>
            </a:r>
          </a:p>
          <a:p>
            <a:pPr marL="200000" indent="-200000">
              <a:spcAft>
                <a:spcPts val="600"/>
              </a:spcAft>
              <a:buFont typeface="Arial" pitchFamily="34" charset="0"/>
              <a:buChar char="•"/>
            </a:pPr>
            <a:r>
              <a:rPr sz="1400" b="0" i="0">
                <a:solidFill>
                  <a:srgbClr val="000000"/>
                </a:solidFill>
                <a:latin typeface="Aptos"/>
              </a:rPr>
              <a:t>Held out: 98.9%, κ 0.980, against the published SVM map's 73.8%, κ 0.583, under the same scorer</a:t>
            </a:r>
          </a:p>
          <a:p>
            <a:pPr marL="200000" indent="-200000">
              <a:spcAft>
                <a:spcPts val="600"/>
              </a:spcAft>
              <a:buFont typeface="Arial" pitchFamily="34" charset="0"/>
              <a:buChar char="•"/>
            </a:pPr>
            <a:r>
              <a:rPr sz="1400" b="0" i="0">
                <a:solidFill>
                  <a:srgbClr val="000000"/>
                </a:solidFill>
                <a:latin typeface="Aptos"/>
              </a:rPr>
              <a:t>Lava tube becomes usable: 77.1% user's accuracy, against 2.4% for the SVM</a:t>
            </a:r>
          </a:p>
          <a:p>
            <a:pPr marL="200000" indent="-200000">
              <a:spcAft>
                <a:spcPts val="600"/>
              </a:spcAft>
              <a:buFont typeface="Arial" pitchFamily="34" charset="0"/>
              <a:buChar char="•"/>
            </a:pPr>
            <a:r>
              <a:rPr sz="1400" b="0" i="0">
                <a:solidFill>
                  <a:srgbClr val="000000"/>
                </a:solidFill>
                <a:latin typeface="Aptos"/>
              </a:rPr>
              <a:t>It maps provinces rather than single landforms: its 'Crater' covers 82.6% of the ring around named craters. The SVM map stays the published one</a:t>
            </a:r>
          </a:p>
        </p:txBody>
      </p:sp>
      <p:pic>
        <p:nvPicPr>
          <p:cNvPr id="6" name="Picture 5" descr="17_x5c_unet_provinces__legend.png"/>
          <p:cNvPicPr>
            <a:picLocks noChangeAspect="1"/>
          </p:cNvPicPr>
          <p:nvPr/>
        </p:nvPicPr>
        <p:blipFill>
          <a:blip r:embed="rId3"/>
          <a:stretch>
            <a:fillRect/>
          </a:stretch>
        </p:blipFill>
        <p:spPr>
          <a:xfrm>
            <a:off x="6714717" y="4013200"/>
            <a:ext cx="1564783" cy="2057399"/>
          </a:xfrm>
          <a:prstGeom prst="rect">
            <a:avLst/>
          </a:prstGeom>
        </p:spPr>
      </p:pic>
      <p:sp>
        <p:nvSpPr>
          <p:cNvPr id="7" name="TextBox 6"/>
          <p:cNvSpPr txBox="1"/>
          <p:nvPr/>
        </p:nvSpPr>
        <p:spPr>
          <a:xfrm>
            <a:off x="6714717" y="6121400"/>
            <a:ext cx="4651783" cy="228600"/>
          </a:xfrm>
          <a:prstGeom prst="rect">
            <a:avLst/>
          </a:prstGeom>
          <a:noFill/>
        </p:spPr>
        <p:txBody>
          <a:bodyPr wrap="square" anchor="t" lIns="0" rIns="0" tIns="0" bIns="0">
            <a:spAutoFit/>
          </a:bodyPr>
          <a:lstStyle/>
          <a:p>
            <a:pPr>
              <a:buNone/>
            </a:pPr>
            <a:r>
              <a:rPr sz="1000" b="0" i="1">
                <a:solidFill>
                  <a:srgbClr val="555F66"/>
                </a:solidFill>
                <a:latin typeface="Aptos"/>
              </a:rPr>
              <a:t>PROJECT-KNOWLEDGE.md §66.6–66.9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Do the infrared mosaics show lava-flow edges Viking misses? (H1)</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t5_margins.png"/>
          <p:cNvPicPr>
            <a:picLocks noChangeAspect="1"/>
          </p:cNvPicPr>
          <p:nvPr/>
        </p:nvPicPr>
        <p:blipFill>
          <a:blip r:embed="rId2"/>
          <a:stretch>
            <a:fillRect/>
          </a:stretch>
        </p:blipFill>
        <p:spPr>
          <a:xfrm>
            <a:off x="1910773" y="1676400"/>
            <a:ext cx="8370454" cy="3683000"/>
          </a:xfrm>
          <a:prstGeom prst="rect">
            <a:avLst/>
          </a:prstGeom>
        </p:spPr>
      </p:pic>
      <p:sp>
        <p:nvSpPr>
          <p:cNvPr id="5" name="TextBox 4"/>
          <p:cNvSpPr txBox="1"/>
          <p:nvPr/>
        </p:nvSpPr>
        <p:spPr>
          <a:xfrm>
            <a:off x="825500" y="5486400"/>
            <a:ext cx="10541000" cy="990600"/>
          </a:xfrm>
          <a:prstGeom prst="rect">
            <a:avLst/>
          </a:prstGeom>
          <a:noFill/>
        </p:spPr>
        <p:txBody>
          <a:bodyPr wrap="square" anchor="t" lIns="0" rIns="0" tIns="0" bIns="0">
            <a:spAutoFit/>
          </a:bodyPr>
          <a:lstStyle/>
          <a:p>
            <a:pPr marL="200000" indent="-200000">
              <a:spcAft>
                <a:spcPts val="400"/>
              </a:spcAft>
              <a:buFont typeface="Arial" pitchFamily="34" charset="0"/>
              <a:buChar char="•"/>
            </a:pPr>
            <a:r>
              <a:rPr sz="1400" b="0" i="0">
                <a:solidFill>
                  <a:srgbClr val="000000"/>
                </a:solidFill>
                <a:latin typeface="Aptos"/>
              </a:rPr>
              <a:t>905 profiles across 10 of the geologic map's lava contacts at Athabasca: does each band tell the units apart?</a:t>
            </a:r>
          </a:p>
          <a:p>
            <a:pPr marL="200000" indent="-200000">
              <a:spcAft>
                <a:spcPts val="400"/>
              </a:spcAft>
              <a:buFont typeface="Arial" pitchFamily="34" charset="0"/>
              <a:buChar char="•"/>
            </a:pPr>
            <a:r>
              <a:rPr sz="1400" b="0" i="0">
                <a:solidFill>
                  <a:srgbClr val="000000"/>
                </a:solidFill>
                <a:latin typeface="Aptos"/>
              </a:rPr>
              <a:t>Every band does only slightly better than chance (10%): Viking red 12.3%, day IR 21.0%</a:t>
            </a:r>
          </a:p>
          <a:p>
            <a:pPr marL="200000" indent="-200000">
              <a:spcAft>
                <a:spcPts val="400"/>
              </a:spcAft>
              <a:buFont typeface="Arial" pitchFamily="34" charset="0"/>
              <a:buChar char="•"/>
            </a:pPr>
            <a:r>
              <a:rPr sz="1400" b="0" i="0">
                <a:solidFill>
                  <a:srgbClr val="000000"/>
                </a:solidFill>
                <a:latin typeface="Aptos"/>
              </a:rPr>
              <a:t>Day IR leans toward H1, but the intervals overlap (difference +8.7 points, −1.7 to +18.1)</a:t>
            </a:r>
          </a:p>
          <a:p>
            <a:pPr marL="200000" indent="-200000">
              <a:spcAft>
                <a:spcPts val="400"/>
              </a:spcAft>
              <a:buFont typeface="Arial" pitchFamily="34" charset="0"/>
              <a:buChar char="•"/>
            </a:pPr>
            <a:r>
              <a:rPr sz="1400" b="0" i="0">
                <a:solidFill>
                  <a:srgbClr val="000000"/>
                </a:solidFill>
                <a:latin typeface="Aptos"/>
              </a:rPr>
              <a:t>Contacts on a 1:20 M map are kilometres wide; H1 is retested on margins digitised at 100 m</a:t>
            </a:r>
          </a:p>
        </p:txBody>
      </p:sp>
      <p:sp>
        <p:nvSpPr>
          <p:cNvPr id="6" name="TextBox 5"/>
          <p:cNvSpPr txBox="1"/>
          <p:nvPr/>
        </p:nvSpPr>
        <p:spPr>
          <a:xfrm>
            <a:off x="825500" y="6553200"/>
            <a:ext cx="10541000" cy="228600"/>
          </a:xfrm>
          <a:prstGeom prst="rect">
            <a:avLst/>
          </a:prstGeom>
          <a:noFill/>
        </p:spPr>
        <p:txBody>
          <a:bodyPr wrap="square" anchor="t" lIns="0" rIns="0" tIns="0" bIns="0">
            <a:spAutoFit/>
          </a:bodyPr>
          <a:lstStyle/>
          <a:p>
            <a:pPr>
              <a:buNone/>
            </a:pPr>
            <a:r>
              <a:rPr sz="1000" b="0" i="1">
                <a:solidFill>
                  <a:srgbClr val="555F66"/>
                </a:solidFill>
                <a:latin typeface="Aptos"/>
              </a:rPr>
              <a:t>PROJECT-KNOWLEDGE.md §47.2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Do volcanic channels differ from fluvial ones? (H2)</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t4_channels.png"/>
          <p:cNvPicPr>
            <a:picLocks noChangeAspect="1"/>
          </p:cNvPicPr>
          <p:nvPr/>
        </p:nvPicPr>
        <p:blipFill>
          <a:blip r:embed="rId2"/>
          <a:stretch>
            <a:fillRect/>
          </a:stretch>
        </p:blipFill>
        <p:spPr>
          <a:xfrm>
            <a:off x="1273024" y="1676400"/>
            <a:ext cx="9645952" cy="3683000"/>
          </a:xfrm>
          <a:prstGeom prst="rect">
            <a:avLst/>
          </a:prstGeom>
        </p:spPr>
      </p:pic>
      <p:sp>
        <p:nvSpPr>
          <p:cNvPr id="5" name="TextBox 4"/>
          <p:cNvSpPr txBox="1"/>
          <p:nvPr/>
        </p:nvSpPr>
        <p:spPr>
          <a:xfrm>
            <a:off x="825500" y="5486400"/>
            <a:ext cx="10541000" cy="990600"/>
          </a:xfrm>
          <a:prstGeom prst="rect">
            <a:avLst/>
          </a:prstGeom>
          <a:noFill/>
        </p:spPr>
        <p:txBody>
          <a:bodyPr wrap="square" anchor="t" lIns="0" rIns="0" tIns="0" bIns="0">
            <a:spAutoFit/>
          </a:bodyPr>
          <a:lstStyle/>
          <a:p>
            <a:pPr marL="200000" indent="-200000">
              <a:spcAft>
                <a:spcPts val="400"/>
              </a:spcAft>
              <a:buFont typeface="Arial" pitchFamily="34" charset="0"/>
              <a:buChar char="•"/>
            </a:pPr>
            <a:r>
              <a:rPr sz="1400" b="0" i="0">
                <a:solidFill>
                  <a:srgbClr val="000000"/>
                </a:solidFill>
                <a:latin typeface="Aptos"/>
              </a:rPr>
              <a:t>Channel candidates, Ius Chasma (fluvial) against Athabasca Valles (volcanic): 2,588 and 3,272</a:t>
            </a:r>
          </a:p>
          <a:p>
            <a:pPr marL="200000" indent="-200000">
              <a:spcAft>
                <a:spcPts val="400"/>
              </a:spcAft>
              <a:buFont typeface="Arial" pitchFamily="34" charset="0"/>
              <a:buChar char="•"/>
            </a:pPr>
            <a:r>
              <a:rPr sz="1400" b="0" i="0">
                <a:solidFill>
                  <a:srgbClr val="000000"/>
                </a:solidFill>
                <a:latin typeface="Aptos"/>
              </a:rPr>
              <a:t>H2 expected the volcanic channels to be steeper; they are shallower (median 1.4 against 10.2 m per km)</a:t>
            </a:r>
          </a:p>
          <a:p>
            <a:pPr marL="200000" indent="-200000">
              <a:spcAft>
                <a:spcPts val="400"/>
              </a:spcAft>
              <a:buFont typeface="Arial" pitchFamily="34" charset="0"/>
              <a:buChar char="•"/>
            </a:pPr>
            <a:r>
              <a:rPr sz="1400" b="0" i="0">
                <a:solidFill>
                  <a:srgbClr val="000000"/>
                </a:solidFill>
                <a:latin typeface="Aptos"/>
              </a:rPr>
              <a:t>Thermal response tells the two apart no better than chance (AUC 0.50)</a:t>
            </a:r>
          </a:p>
          <a:p>
            <a:pPr marL="200000" indent="-200000">
              <a:spcAft>
                <a:spcPts val="400"/>
              </a:spcAft>
              <a:buFont typeface="Arial" pitchFamily="34" charset="0"/>
              <a:buChar char="•"/>
            </a:pPr>
            <a:r>
              <a:rPr sz="1400" b="0" i="0">
                <a:solidFill>
                  <a:srgbClr val="000000"/>
                </a:solidFill>
                <a:latin typeface="Aptos"/>
              </a:rPr>
              <a:t>Not supported at stage 1: the window sets the gradient, not the origin. Reviewed channels retest it</a:t>
            </a:r>
          </a:p>
        </p:txBody>
      </p:sp>
      <p:sp>
        <p:nvSpPr>
          <p:cNvPr id="6" name="TextBox 5"/>
          <p:cNvSpPr txBox="1"/>
          <p:nvPr/>
        </p:nvSpPr>
        <p:spPr>
          <a:xfrm>
            <a:off x="825500" y="6553200"/>
            <a:ext cx="10541000" cy="228600"/>
          </a:xfrm>
          <a:prstGeom prst="rect">
            <a:avLst/>
          </a:prstGeom>
          <a:noFill/>
        </p:spPr>
        <p:txBody>
          <a:bodyPr wrap="square" anchor="t" lIns="0" rIns="0" tIns="0" bIns="0">
            <a:spAutoFit/>
          </a:bodyPr>
          <a:lstStyle/>
          <a:p>
            <a:pPr>
              <a:buNone/>
            </a:pPr>
            <a:r>
              <a:rPr sz="1000" b="0" i="1">
                <a:solidFill>
                  <a:srgbClr val="555F66"/>
                </a:solidFill>
                <a:latin typeface="Aptos"/>
              </a:rPr>
              <a:t>PROJECT-KNOWLEDGE.md §51.1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Is the composite more stable than a single band? (H3)</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t6_stability.png"/>
          <p:cNvPicPr>
            <a:picLocks noChangeAspect="1"/>
          </p:cNvPicPr>
          <p:nvPr/>
        </p:nvPicPr>
        <p:blipFill>
          <a:blip r:embed="rId2"/>
          <a:stretch>
            <a:fillRect/>
          </a:stretch>
        </p:blipFill>
        <p:spPr>
          <a:xfrm>
            <a:off x="1711476" y="1676400"/>
            <a:ext cx="8769047" cy="3683000"/>
          </a:xfrm>
          <a:prstGeom prst="rect">
            <a:avLst/>
          </a:prstGeom>
        </p:spPr>
      </p:pic>
      <p:sp>
        <p:nvSpPr>
          <p:cNvPr id="5" name="TextBox 4"/>
          <p:cNvSpPr txBox="1"/>
          <p:nvPr/>
        </p:nvSpPr>
        <p:spPr>
          <a:xfrm>
            <a:off x="825500" y="5486400"/>
            <a:ext cx="10541000" cy="990600"/>
          </a:xfrm>
          <a:prstGeom prst="rect">
            <a:avLst/>
          </a:prstGeom>
          <a:noFill/>
        </p:spPr>
        <p:txBody>
          <a:bodyPr wrap="square" anchor="t" lIns="0" rIns="0" tIns="0" bIns="0">
            <a:spAutoFit/>
          </a:bodyPr>
          <a:lstStyle/>
          <a:p>
            <a:pPr marL="200000" indent="-200000">
              <a:spcAft>
                <a:spcPts val="400"/>
              </a:spcAft>
              <a:buFont typeface="Arial" pitchFamily="34" charset="0"/>
              <a:buChar char="•"/>
            </a:pPr>
            <a:r>
              <a:rPr sz="1400" b="0" i="0">
                <a:solidFill>
                  <a:srgbClr val="000000"/>
                </a:solidFill>
                <a:latin typeface="Aptos"/>
              </a:rPr>
              <a:t>Iso Cluster trained on the west and the east half of Ius, compared over the whole window</a:t>
            </a:r>
          </a:p>
          <a:p>
            <a:pPr marL="200000" indent="-200000">
              <a:spcAft>
                <a:spcPts val="400"/>
              </a:spcAft>
              <a:buFont typeface="Arial" pitchFamily="34" charset="0"/>
              <a:buChar char="•"/>
            </a:pPr>
            <a:r>
              <a:rPr sz="1400" b="0" i="0">
                <a:solidFill>
                  <a:srgbClr val="000000"/>
                </a:solidFill>
                <a:latin typeface="Aptos"/>
              </a:rPr>
              <a:t>The composites are the least reproducible inputs: 0.40 and 0.38, against 0.61–0.89 for single bands</a:t>
            </a:r>
          </a:p>
          <a:p>
            <a:pPr marL="200000" indent="-200000">
              <a:spcAft>
                <a:spcPts val="400"/>
              </a:spcAft>
              <a:buFont typeface="Arial" pitchFamily="34" charset="0"/>
              <a:buChar char="•"/>
            </a:pPr>
            <a:r>
              <a:rPr sz="1400" b="0" i="0">
                <a:solidFill>
                  <a:srgbClr val="000000"/>
                </a:solidFill>
                <a:latin typeface="Aptos"/>
              </a:rPr>
              <a:t>They give the smoothest maps, only just ahead of Viking (0.85 against 0.84)</a:t>
            </a:r>
          </a:p>
          <a:p>
            <a:pPr marL="200000" indent="-200000">
              <a:spcAft>
                <a:spcPts val="400"/>
              </a:spcAft>
              <a:buFont typeface="Arial" pitchFamily="34" charset="0"/>
              <a:buChar char="•"/>
            </a:pPr>
            <a:r>
              <a:rPr sz="1400" b="0" i="0">
                <a:solidFill>
                  <a:srgbClr val="000000"/>
                </a:solidFill>
                <a:latin typeface="Aptos"/>
              </a:rPr>
              <a:t>H3 is not supported</a:t>
            </a:r>
          </a:p>
        </p:txBody>
      </p:sp>
      <p:sp>
        <p:nvSpPr>
          <p:cNvPr id="6" name="TextBox 5"/>
          <p:cNvSpPr txBox="1"/>
          <p:nvPr/>
        </p:nvSpPr>
        <p:spPr>
          <a:xfrm>
            <a:off x="825500" y="6553200"/>
            <a:ext cx="10541000" cy="228600"/>
          </a:xfrm>
          <a:prstGeom prst="rect">
            <a:avLst/>
          </a:prstGeom>
          <a:noFill/>
        </p:spPr>
        <p:txBody>
          <a:bodyPr wrap="square" anchor="t" lIns="0" rIns="0" tIns="0" bIns="0">
            <a:spAutoFit/>
          </a:bodyPr>
          <a:lstStyle/>
          <a:p>
            <a:pPr>
              <a:buNone/>
            </a:pPr>
            <a:r>
              <a:rPr sz="1000" b="0" i="1">
                <a:solidFill>
                  <a:srgbClr val="555F66"/>
                </a:solidFill>
                <a:latin typeface="Aptos"/>
              </a:rPr>
              <a:t>PROJECT-KNOWLEDGE.md §47.3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How many tributary orders does 100 m resolve? (Q5)</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t7_orders.png"/>
          <p:cNvPicPr>
            <a:picLocks noChangeAspect="1"/>
          </p:cNvPicPr>
          <p:nvPr/>
        </p:nvPicPr>
        <p:blipFill>
          <a:blip r:embed="rId2"/>
          <a:stretch>
            <a:fillRect/>
          </a:stretch>
        </p:blipFill>
        <p:spPr>
          <a:xfrm>
            <a:off x="1711476" y="1676400"/>
            <a:ext cx="8769047" cy="3683000"/>
          </a:xfrm>
          <a:prstGeom prst="rect">
            <a:avLst/>
          </a:prstGeom>
        </p:spPr>
      </p:pic>
      <p:sp>
        <p:nvSpPr>
          <p:cNvPr id="5" name="TextBox 4"/>
          <p:cNvSpPr txBox="1"/>
          <p:nvPr/>
        </p:nvSpPr>
        <p:spPr>
          <a:xfrm>
            <a:off x="825500" y="5486400"/>
            <a:ext cx="10541000" cy="990600"/>
          </a:xfrm>
          <a:prstGeom prst="rect">
            <a:avLst/>
          </a:prstGeom>
          <a:noFill/>
        </p:spPr>
        <p:txBody>
          <a:bodyPr wrap="square" anchor="t" lIns="0" rIns="0" tIns="0" bIns="0">
            <a:spAutoFit/>
          </a:bodyPr>
          <a:lstStyle/>
          <a:p>
            <a:pPr marL="200000" indent="-200000">
              <a:spcAft>
                <a:spcPts val="400"/>
              </a:spcAft>
              <a:buFont typeface="Arial" pitchFamily="34" charset="0"/>
              <a:buChar char="•"/>
            </a:pPr>
            <a:r>
              <a:rPr sz="1400" b="0" i="0">
                <a:solidFill>
                  <a:srgbClr val="000000"/>
                </a:solidFill>
                <a:latin typeface="Aptos"/>
              </a:rPr>
              <a:t>Channel thresholds from 1 to 500 km² of catchment at Ius Chasma</a:t>
            </a:r>
          </a:p>
          <a:p>
            <a:pPr marL="200000" indent="-200000">
              <a:spcAft>
                <a:spcPts val="400"/>
              </a:spcAft>
              <a:buFont typeface="Arial" pitchFamily="34" charset="0"/>
              <a:buChar char="•"/>
            </a:pPr>
            <a:r>
              <a:rPr sz="1400" b="0" i="0">
                <a:solidFill>
                  <a:srgbClr val="000000"/>
                </a:solidFill>
                <a:latin typeface="Aptos"/>
              </a:rPr>
              <a:t>The highest stream order follows the threshold: 5 at 1 km², 3 at 50 km², 2 at 500 km²</a:t>
            </a:r>
          </a:p>
          <a:p>
            <a:pPr marL="200000" indent="-200000">
              <a:spcAft>
                <a:spcPts val="400"/>
              </a:spcAft>
              <a:buFont typeface="Arial" pitchFamily="34" charset="0"/>
              <a:buChar char="•"/>
            </a:pPr>
            <a:r>
              <a:rPr sz="1400" b="0" i="0">
                <a:solidFill>
                  <a:srgbClr val="000000"/>
                </a:solidFill>
                <a:latin typeface="Aptos"/>
              </a:rPr>
              <a:t>Only 30.8–36.7% of first-order streams lie on slopes ≥ 2°, at every threshold</a:t>
            </a:r>
          </a:p>
          <a:p>
            <a:pPr marL="200000" indent="-200000">
              <a:spcAft>
                <a:spcPts val="400"/>
              </a:spcAft>
              <a:buFont typeface="Arial" pitchFamily="34" charset="0"/>
              <a:buChar char="•"/>
            </a:pPr>
            <a:r>
              <a:rPr sz="1400" b="0" i="0">
                <a:solidFill>
                  <a:srgbClr val="000000"/>
                </a:solidFill>
                <a:latin typeface="Aptos"/>
              </a:rPr>
              <a:t>The order count reflects the threshold chosen, so the DEM cannot answer Q5</a:t>
            </a:r>
          </a:p>
        </p:txBody>
      </p:sp>
      <p:sp>
        <p:nvSpPr>
          <p:cNvPr id="6" name="TextBox 5"/>
          <p:cNvSpPr txBox="1"/>
          <p:nvPr/>
        </p:nvSpPr>
        <p:spPr>
          <a:xfrm>
            <a:off x="825500" y="6553200"/>
            <a:ext cx="10541000" cy="228600"/>
          </a:xfrm>
          <a:prstGeom prst="rect">
            <a:avLst/>
          </a:prstGeom>
          <a:noFill/>
        </p:spPr>
        <p:txBody>
          <a:bodyPr wrap="square" anchor="t" lIns="0" rIns="0" tIns="0" bIns="0">
            <a:spAutoFit/>
          </a:bodyPr>
          <a:lstStyle/>
          <a:p>
            <a:pPr>
              <a:buNone/>
            </a:pPr>
            <a:r>
              <a:rPr sz="1000" b="0" i="1">
                <a:solidFill>
                  <a:srgbClr val="555F66"/>
                </a:solidFill>
                <a:latin typeface="Aptos"/>
              </a:rPr>
              <a:t>PROJECT-KNOWLEDGE.md §47.4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400" b="0" i="0">
                <a:solidFill>
                  <a:srgbClr val="000000"/>
                </a:solidFill>
                <a:latin typeface="Aptos Display"/>
              </a:rPr>
              <a:t>Project Issues and Hurdles</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5500" y="1676400"/>
            <a:ext cx="10541000" cy="4826000"/>
          </a:xfrm>
          <a:prstGeom prst="rect">
            <a:avLst/>
          </a:prstGeom>
          <a:noFill/>
        </p:spPr>
        <p:txBody>
          <a:bodyPr wrap="square" anchor="t" lIns="0" rIns="0" tIns="0" bIns="0">
            <a:spAutoFit/>
          </a:bodyPr>
          <a:lstStyle/>
          <a:p>
            <a:pPr marL="200000" indent="-200000">
              <a:spcAft>
                <a:spcPts val="900"/>
              </a:spcAft>
              <a:buFont typeface="Arial" pitchFamily="34" charset="0"/>
              <a:buChar char="•"/>
            </a:pPr>
            <a:r>
              <a:rPr sz="1400" b="1" i="0">
                <a:solidFill>
                  <a:srgbClr val="0E2841"/>
                </a:solidFill>
                <a:latin typeface="Aptos"/>
              </a:rPr>
              <a:t>The thermal signal is weak where it can be checked — </a:t>
            </a:r>
            <a:r>
              <a:rPr sz="1400" b="0" i="0">
                <a:solidFill>
                  <a:srgbClr val="000000"/>
                </a:solidFill>
                <a:latin typeface="Aptos"/>
              </a:rPr>
              <a:t>The THEMIS mosaics follow calibrated TES thermal inertia only weakly inside 15° blocks (|r| ≈ 0.1) and not at all across the planet; Viking albedo follows it (r −0.31 to −0.36). In the classification the thermal bands add 1.3–2.0 points, with two classifiers (§40.1, §42.4, §43.1, §56).</a:t>
            </a:r>
          </a:p>
          <a:p>
            <a:pPr marL="200000" indent="-200000">
              <a:spcAft>
                <a:spcPts val="900"/>
              </a:spcAft>
              <a:buFont typeface="Arial" pitchFamily="34" charset="0"/>
              <a:buChar char="•"/>
            </a:pPr>
            <a:r>
              <a:rPr sz="1400" b="1" i="0">
                <a:solidFill>
                  <a:srgbClr val="0E2841"/>
                </a:solidFill>
                <a:latin typeface="Aptos"/>
              </a:rPr>
              <a:t>The landform classes are terrain classes — </a:t>
            </a:r>
            <a:r>
              <a:rPr sz="1400" b="0" i="0">
                <a:solidFill>
                  <a:srgbClr val="000000"/>
                </a:solidFill>
                <a:latin typeface="Aptos"/>
              </a:rPr>
              <a:t>Slope and relief alone score as well as all seven bands. On the geologic map the classes sit where terrain puts them, and "lava tube" lands on volcano flanks rather than lava plains (§40.1, §43.2).</a:t>
            </a:r>
          </a:p>
          <a:p>
            <a:pPr marL="200000" indent="-200000">
              <a:spcAft>
                <a:spcPts val="900"/>
              </a:spcAft>
              <a:buFont typeface="Arial" pitchFamily="34" charset="0"/>
              <a:buChar char="•"/>
            </a:pPr>
            <a:r>
              <a:rPr sz="1400" b="1" i="0">
                <a:solidFill>
                  <a:srgbClr val="0E2841"/>
                </a:solidFill>
                <a:latin typeface="Aptos"/>
              </a:rPr>
              <a:t>Five "Crater" labels are volcanoes — </a:t>
            </a:r>
            <a:r>
              <a:rPr sz="1400" b="0" i="0">
                <a:solidFill>
                  <a:srgbClr val="000000"/>
                </a:solidFill>
                <a:latin typeface="Aptos"/>
              </a:rPr>
              <a:t>Arsia Mons alone is 31% of the held-out Crater area; a seven-class scheme is proposed for the final (§68.2).</a:t>
            </a:r>
          </a:p>
          <a:p>
            <a:pPr marL="200000" indent="-200000">
              <a:spcAft>
                <a:spcPts val="900"/>
              </a:spcAft>
              <a:buFont typeface="Arial" pitchFamily="34" charset="0"/>
              <a:buChar char="•"/>
            </a:pPr>
            <a:r>
              <a:rPr sz="1400" b="1" i="0">
                <a:solidFill>
                  <a:srgbClr val="0E2841"/>
                </a:solidFill>
                <a:latin typeface="Aptos"/>
              </a:rPr>
              <a:t>Lava flows come from the geologic map — </a:t>
            </a:r>
            <a:r>
              <a:rPr sz="1400" b="0" i="0">
                <a:solidFill>
                  <a:srgbClr val="000000"/>
                </a:solidFill>
                <a:latin typeface="Aptos"/>
              </a:rPr>
              <a:t>These bands cannot tell volcanic plains from other plains, and a fifth "volcanic" class scored below chance. Lava flows are taken from the USGS map's volcanic units (§43.3, §44).</a:t>
            </a:r>
          </a:p>
          <a:p>
            <a:pPr marL="200000" indent="-200000">
              <a:spcAft>
                <a:spcPts val="900"/>
              </a:spcAft>
              <a:buFont typeface="Arial" pitchFamily="34" charset="0"/>
              <a:buChar char="•"/>
            </a:pPr>
            <a:r>
              <a:rPr sz="1400" b="1" i="0">
                <a:solidFill>
                  <a:srgbClr val="0E2841"/>
                </a:solidFill>
                <a:latin typeface="Aptos"/>
              </a:rPr>
              <a:t>Closed depressions are not a crater count — </a:t>
            </a:r>
            <a:r>
              <a:rPr sz="1400" b="0" i="0">
                <a:solidFill>
                  <a:srgbClr val="000000"/>
                </a:solidFill>
                <a:latin typeface="Aptos"/>
              </a:rPr>
              <a:t>Of the candidates ≥ 1 km, 11–13% in the type areas and 15.3% across ±60° are catalogued craters; from 5 km up most are (62.2%). The Robbins catalogue (385,049 craters) is the crater reference (§42.3, §54.4).</a:t>
            </a:r>
          </a:p>
          <a:p>
            <a:pPr marL="200000" indent="-200000">
              <a:spcAft>
                <a:spcPts val="900"/>
              </a:spcAft>
              <a:buFont typeface="Arial" pitchFamily="34" charset="0"/>
              <a:buChar char="•"/>
            </a:pPr>
            <a:r>
              <a:rPr sz="1400" b="1" i="0">
                <a:solidFill>
                  <a:srgbClr val="0E2841"/>
                </a:solidFill>
                <a:latin typeface="Aptos"/>
              </a:rPr>
              <a:t>Four hypotheses tested, none supported — </a:t>
            </a:r>
            <a:r>
              <a:rPr sz="1400" b="0" i="0">
                <a:solidFill>
                  <a:srgbClr val="000000"/>
                </a:solidFill>
                <a:latin typeface="Aptos"/>
              </a:rPr>
              <a:t>No band separates the geologic map's lava contacts much better than chance, though the map is too coarse to settle H1; the volcanic channels are shallower, and thermal response separates nothing (H2, stage 1); the composite's classes are the least reproducible input (H3); no channel threshold keeps first-order streams on real slopes (Q5) (§47, §51).</a:t>
            </a:r>
          </a:p>
          <a:p>
            <a:pPr marL="200000" indent="-200000">
              <a:spcAft>
                <a:spcPts val="900"/>
              </a:spcAft>
              <a:buFont typeface="Arial" pitchFamily="34" charset="0"/>
              <a:buChar char="•"/>
            </a:pPr>
            <a:r>
              <a:rPr sz="1400" b="1" i="0">
                <a:solidFill>
                  <a:srgbClr val="0E2841"/>
                </a:solidFill>
                <a:latin typeface="Aptos"/>
              </a:rPr>
              <a:t>The review has not started — </a:t>
            </a:r>
            <a:r>
              <a:rPr sz="1400" b="0" i="0">
                <a:solidFill>
                  <a:srgbClr val="000000"/>
                </a:solidFill>
                <a:latin typeface="Aptos"/>
              </a:rPr>
              <a:t>0 of 9,287 candidates are reviewed; H1 and H2 wait for digitised features (§46).</a:t>
            </a:r>
          </a:p>
          <a:p>
            <a:pPr marL="200000" indent="-200000">
              <a:spcAft>
                <a:spcPts val="900"/>
              </a:spcAft>
              <a:buFont typeface="Arial" pitchFamily="34" charset="0"/>
              <a:buChar char="•"/>
            </a:pPr>
            <a:r>
              <a:rPr sz="1400" b="1" i="0">
                <a:solidFill>
                  <a:srgbClr val="0E2841"/>
                </a:solidFill>
                <a:latin typeface="Aptos"/>
              </a:rPr>
              <a:t>428.7 GB on one USB drive — </a:t>
            </a:r>
            <a:r>
              <a:rPr sz="1400" b="0" i="0">
                <a:solidFill>
                  <a:srgbClr val="000000"/>
                </a:solidFill>
                <a:latin typeface="Aptos"/>
              </a:rPr>
              <a:t>Reads cap near 112 MB/s, and the drive has dropped off mid-write, so big outputs are built on internal disk first (§2.2, §36.4, §67.4).</a:t>
            </a:r>
          </a:p>
          <a:p>
            <a:pPr marL="200000" indent="-200000">
              <a:spcAft>
                <a:spcPts val="900"/>
              </a:spcAft>
              <a:buFont typeface="Arial" pitchFamily="34" charset="0"/>
              <a:buChar char="•"/>
            </a:pPr>
            <a:r>
              <a:rPr sz="1400" b="1" i="0">
                <a:solidFill>
                  <a:srgbClr val="0E2841"/>
                </a:solidFill>
                <a:latin typeface="Aptos"/>
              </a:rPr>
              <a:t>Solved since September — </a:t>
            </a:r>
            <a:r>
              <a:rPr sz="1400" b="0" i="0">
                <a:solidFill>
                  <a:srgbClr val="000000"/>
                </a:solidFill>
                <a:latin typeface="Aptos"/>
              </a:rPr>
              <a:t>Three coordinate frames, the z-factor defect, four failed global composites, the missing night mosaic, a defective DEM column at 180° (§15–20, §54).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400" b="0" i="0">
                <a:solidFill>
                  <a:srgbClr val="000000"/>
                </a:solidFill>
                <a:latin typeface="Aptos Display"/>
              </a:rPr>
              <a:t>Next Steps</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5500" y="1676400"/>
            <a:ext cx="10541000" cy="2540000"/>
          </a:xfrm>
          <a:prstGeom prst="rect">
            <a:avLst/>
          </a:prstGeom>
          <a:noFill/>
        </p:spPr>
        <p:txBody>
          <a:bodyPr wrap="square" anchor="t" lIns="0" rIns="0" tIns="0" bIns="0">
            <a:spAutoFit/>
          </a:bodyPr>
          <a:lstStyle/>
          <a:p>
            <a:pPr marL="200000" indent="-200000">
              <a:spcAft>
                <a:spcPts val="1000"/>
              </a:spcAft>
              <a:buFont typeface="Arial" pitchFamily="34" charset="0"/>
              <a:buChar char="•"/>
            </a:pPr>
            <a:r>
              <a:rPr sz="1600" b="0" i="0">
                <a:solidFill>
                  <a:srgbClr val="000000"/>
                </a:solidFill>
                <a:latin typeface="Aptos"/>
              </a:rPr>
              <a:t>Review the 9,287 machine candidates at Ius Chasma and Athabasca Valles; draw breached craters and lava margins</a:t>
            </a:r>
          </a:p>
          <a:p>
            <a:pPr marL="200000" indent="-200000">
              <a:spcAft>
                <a:spcPts val="1000"/>
              </a:spcAft>
              <a:buFont typeface="Arial" pitchFamily="34" charset="0"/>
              <a:buChar char="•"/>
            </a:pPr>
            <a:r>
              <a:rPr sz="1600" b="0" i="0">
                <a:solidFill>
                  <a:srgbClr val="000000"/>
                </a:solidFill>
                <a:latin typeface="Aptos"/>
              </a:rPr>
              <a:t>Score the candidates against the reviewed features (layout 14); retest H1 on digitised margins and H2 on reviewed channels with their origin set</a:t>
            </a:r>
          </a:p>
          <a:p>
            <a:pPr marL="200000" indent="-200000">
              <a:spcAft>
                <a:spcPts val="1000"/>
              </a:spcAft>
              <a:buFont typeface="Arial" pitchFamily="34" charset="0"/>
              <a:buChar char="•"/>
            </a:pPr>
            <a:r>
              <a:rPr sz="1600" b="0" i="0">
                <a:solidFill>
                  <a:srgbClr val="000000"/>
                </a:solidFill>
                <a:latin typeface="Aptos"/>
              </a:rPr>
              <a:t>Seven classes (D17): review the 1,086 proposed labels, rerun the SVM and U-Net, and score both maps on the same held-out polygons</a:t>
            </a:r>
          </a:p>
          <a:p>
            <a:pPr marL="200000" indent="-200000">
              <a:spcAft>
                <a:spcPts val="1000"/>
              </a:spcAft>
              <a:buFont typeface="Arial" pitchFamily="34" charset="0"/>
              <a:buChar char="•"/>
            </a:pPr>
            <a:r>
              <a:rPr sz="1600" b="0" i="0">
                <a:solidFill>
                  <a:srgbClr val="000000"/>
                </a:solidFill>
                <a:latin typeface="Aptos"/>
              </a:rPr>
              <a:t>Deep learning: set aside validation blocks before any further tuning, so the held-out blocks stay a clean test (§66.5)</a:t>
            </a:r>
          </a:p>
        </p:txBody>
      </p:sp>
      <p:graphicFrame>
        <p:nvGraphicFramePr>
          <p:cNvPr id="5" name="Table 4"/>
          <p:cNvGraphicFramePr>
            <a:graphicFrameLocks noGrp="1"/>
          </p:cNvGraphicFramePr>
          <p:nvPr/>
        </p:nvGraphicFramePr>
        <p:xfrm>
          <a:off x="825500" y="4318000"/>
          <a:ext cx="10540999" cy="2133600"/>
        </p:xfrm>
        <a:graphic>
          <a:graphicData uri="http://schemas.openxmlformats.org/drawingml/2006/table">
            <a:tbl>
              <a:tblPr firstRow="1">
                <a:tableStyleId>{5C22544A-7EE6-4342-B048-85BDC9FD1C3A}</a:tableStyleId>
              </a:tblPr>
              <a:tblGrid>
                <a:gridCol w="1591094"/>
                <a:gridCol w="8949905"/>
              </a:tblGrid>
              <a:tr h="304800">
                <a:tc>
                  <a:txBody>
                    <a:bodyPr/>
                    <a:lstStyle/>
                    <a:p>
                      <a:pPr>
                        <a:buNone/>
                      </a:pPr>
                      <a:r>
                        <a:rPr sz="1100" b="1" i="0">
                          <a:solidFill>
                            <a:srgbClr val="FFFFFF"/>
                          </a:solidFill>
                          <a:latin typeface="Aptos"/>
                        </a:rPr>
                        <a:t>When</a:t>
                      </a:r>
                    </a:p>
                  </a:txBody>
                  <a:tcPr marL="76200" marR="76200" marT="38100" marB="38100" anchor="ctr">
                    <a:solidFill>
                      <a:srgbClr val="0E2841"/>
                    </a:solidFill>
                  </a:tcPr>
                </a:tc>
                <a:tc>
                  <a:txBody>
                    <a:bodyPr/>
                    <a:lstStyle/>
                    <a:p>
                      <a:pPr>
                        <a:buNone/>
                      </a:pPr>
                      <a:r>
                        <a:rPr sz="1100" b="1" i="0">
                          <a:solidFill>
                            <a:srgbClr val="FFFFFF"/>
                          </a:solidFill>
                          <a:latin typeface="Aptos"/>
                        </a:rPr>
                        <a:t>What</a:t>
                      </a:r>
                    </a:p>
                  </a:txBody>
                  <a:tcPr marL="76200" marR="76200" marT="38100" marB="38100" anchor="ctr">
                    <a:solidFill>
                      <a:srgbClr val="0E2841"/>
                    </a:solidFill>
                  </a:tcPr>
                </a:tc>
              </a:tr>
              <a:tr h="304800">
                <a:tc>
                  <a:txBody>
                    <a:bodyPr/>
                    <a:lstStyle/>
                    <a:p>
                      <a:pPr>
                        <a:buNone/>
                      </a:pPr>
                      <a:r>
                        <a:rPr sz="1100" b="0" i="0">
                          <a:solidFill>
                            <a:srgbClr val="000000"/>
                          </a:solidFill>
                          <a:latin typeface="Aptos"/>
                        </a:rPr>
                        <a:t>8–26 Oct</a:t>
                      </a:r>
                    </a:p>
                  </a:txBody>
                  <a:tcPr marL="76200" marR="76200" marT="25400" marB="25400" anchor="ctr">
                    <a:solidFill>
                      <a:srgbClr val="FFFFFF"/>
                    </a:solidFill>
                  </a:tcPr>
                </a:tc>
                <a:tc>
                  <a:txBody>
                    <a:bodyPr/>
                    <a:lstStyle/>
                    <a:p>
                      <a:pPr>
                        <a:buNone/>
                      </a:pPr>
                      <a:r>
                        <a:rPr sz="1100" b="0" i="0">
                          <a:solidFill>
                            <a:srgbClr val="000000"/>
                          </a:solidFill>
                          <a:latin typeface="Aptos"/>
                        </a:rPr>
                        <a:t>Desktop runs done: pyramids, ±60° crater and channel pass, 200 m map, T1 in Pro, the deep-learning detector and U-Net; seven classes proposed</a:t>
                      </a:r>
                    </a:p>
                  </a:txBody>
                  <a:tcPr marL="76200" marR="76200" marT="25400" marB="25400" anchor="ctr">
                    <a:solidFill>
                      <a:srgbClr val="FFFFFF"/>
                    </a:solidFill>
                  </a:tcPr>
                </a:tc>
              </a:tr>
              <a:tr h="304800">
                <a:tc>
                  <a:txBody>
                    <a:bodyPr/>
                    <a:lstStyle/>
                    <a:p>
                      <a:pPr>
                        <a:buNone/>
                      </a:pPr>
                      <a:r>
                        <a:rPr sz="1100" b="0" i="0">
                          <a:solidFill>
                            <a:srgbClr val="000000"/>
                          </a:solidFill>
                          <a:latin typeface="Aptos"/>
                        </a:rPr>
                        <a:t>26 Oct</a:t>
                      </a:r>
                    </a:p>
                  </a:txBody>
                  <a:tcPr marL="76200" marR="76200" marT="25400" marB="25400" anchor="ctr">
                    <a:solidFill>
                      <a:srgbClr val="EEF3F7"/>
                    </a:solidFill>
                  </a:tcPr>
                </a:tc>
                <a:tc>
                  <a:txBody>
                    <a:bodyPr/>
                    <a:lstStyle/>
                    <a:p>
                      <a:pPr>
                        <a:buNone/>
                      </a:pPr>
                      <a:r>
                        <a:rPr sz="1100" b="0" i="0">
                          <a:solidFill>
                            <a:srgbClr val="000000"/>
                          </a:solidFill>
                          <a:latin typeface="Aptos"/>
                        </a:rPr>
                        <a:t>Interim data cut: what is measured by now is in the interim; the rest goes to the final</a:t>
                      </a:r>
                    </a:p>
                  </a:txBody>
                  <a:tcPr marL="76200" marR="76200" marT="25400" marB="25400" anchor="ctr">
                    <a:solidFill>
                      <a:srgbClr val="EEF3F7"/>
                    </a:solidFill>
                  </a:tcPr>
                </a:tc>
              </a:tr>
              <a:tr h="304800">
                <a:tc>
                  <a:txBody>
                    <a:bodyPr/>
                    <a:lstStyle/>
                    <a:p>
                      <a:pPr>
                        <a:buNone/>
                      </a:pPr>
                      <a:r>
                        <a:rPr sz="1100" b="0" i="0">
                          <a:solidFill>
                            <a:srgbClr val="000000"/>
                          </a:solidFill>
                          <a:latin typeface="Aptos"/>
                        </a:rPr>
                        <a:t>27 Oct – 22 Nov</a:t>
                      </a:r>
                    </a:p>
                  </a:txBody>
                  <a:tcPr marL="76200" marR="76200" marT="25400" marB="25400" anchor="ctr">
                    <a:solidFill>
                      <a:srgbClr val="FFFFFF"/>
                    </a:solidFill>
                  </a:tcPr>
                </a:tc>
                <a:tc>
                  <a:txBody>
                    <a:bodyPr/>
                    <a:lstStyle/>
                    <a:p>
                      <a:pPr>
                        <a:buNone/>
                      </a:pPr>
                      <a:r>
                        <a:rPr sz="1100" b="0" i="0">
                          <a:solidFill>
                            <a:srgbClr val="000000"/>
                          </a:solidFill>
                          <a:latin typeface="Aptos"/>
                        </a:rPr>
                        <a:t>Review and digitising; the seven-class labels and maps; H1 and H2 on digitised features; data freeze</a:t>
                      </a:r>
                    </a:p>
                  </a:txBody>
                  <a:tcPr marL="76200" marR="76200" marT="25400" marB="25400" anchor="ctr">
                    <a:solidFill>
                      <a:srgbClr val="FFFFFF"/>
                    </a:solidFill>
                  </a:tcPr>
                </a:tc>
              </a:tr>
              <a:tr h="304800">
                <a:tc>
                  <a:txBody>
                    <a:bodyPr/>
                    <a:lstStyle/>
                    <a:p>
                      <a:pPr>
                        <a:buNone/>
                      </a:pPr>
                      <a:r>
                        <a:rPr sz="1100" b="0" i="0">
                          <a:solidFill>
                            <a:srgbClr val="000000"/>
                          </a:solidFill>
                          <a:latin typeface="Aptos"/>
                        </a:rPr>
                        <a:t>mid-Nov</a:t>
                      </a:r>
                    </a:p>
                  </a:txBody>
                  <a:tcPr marL="76200" marR="76200" marT="25400" marB="25400" anchor="ctr">
                    <a:solidFill>
                      <a:srgbClr val="EEF3F7"/>
                    </a:solidFill>
                  </a:tcPr>
                </a:tc>
                <a:tc>
                  <a:txBody>
                    <a:bodyPr/>
                    <a:lstStyle/>
                    <a:p>
                      <a:pPr>
                        <a:buNone/>
                      </a:pPr>
                      <a:r>
                        <a:rPr sz="1100" b="0" i="0">
                          <a:solidFill>
                            <a:srgbClr val="000000"/>
                          </a:solidFill>
                          <a:latin typeface="Aptos"/>
                        </a:rPr>
                        <a:t>Interim presentation and report</a:t>
                      </a:r>
                    </a:p>
                  </a:txBody>
                  <a:tcPr marL="76200" marR="76200" marT="25400" marB="25400" anchor="ctr">
                    <a:solidFill>
                      <a:srgbClr val="EEF3F7"/>
                    </a:solidFill>
                  </a:tcPr>
                </a:tc>
              </a:tr>
              <a:tr h="304800">
                <a:tc>
                  <a:txBody>
                    <a:bodyPr/>
                    <a:lstStyle/>
                    <a:p>
                      <a:pPr>
                        <a:buNone/>
                      </a:pPr>
                      <a:r>
                        <a:rPr sz="1100" b="0" i="0">
                          <a:solidFill>
                            <a:srgbClr val="000000"/>
                          </a:solidFill>
                          <a:latin typeface="Aptos"/>
                        </a:rPr>
                        <a:t>23 Nov – 4 Dec</a:t>
                      </a:r>
                    </a:p>
                  </a:txBody>
                  <a:tcPr marL="76200" marR="76200" marT="25400" marB="25400" anchor="ctr">
                    <a:solidFill>
                      <a:srgbClr val="FFFFFF"/>
                    </a:solidFill>
                  </a:tcPr>
                </a:tc>
                <a:tc>
                  <a:txBody>
                    <a:bodyPr/>
                    <a:lstStyle/>
                    <a:p>
                      <a:pPr>
                        <a:buNone/>
                      </a:pPr>
                      <a:r>
                        <a:rPr sz="1100" b="0" i="0">
                          <a:solidFill>
                            <a:srgbClr val="000000"/>
                          </a:solidFill>
                          <a:latin typeface="Aptos"/>
                        </a:rPr>
                        <a:t>Final report and presentation</a:t>
                      </a:r>
                    </a:p>
                  </a:txBody>
                  <a:tcPr marL="76200" marR="76200" marT="25400" marB="25400" anchor="ctr">
                    <a:solidFill>
                      <a:srgbClr val="FFFFFF"/>
                    </a:solidFill>
                  </a:tcPr>
                </a:tc>
              </a:tr>
              <a:tr h="304800">
                <a:tc>
                  <a:txBody>
                    <a:bodyPr/>
                    <a:lstStyle/>
                    <a:p>
                      <a:pPr>
                        <a:buNone/>
                      </a:pPr>
                      <a:r>
                        <a:rPr sz="1100" b="0" i="0">
                          <a:solidFill>
                            <a:srgbClr val="000000"/>
                          </a:solidFill>
                          <a:latin typeface="Aptos"/>
                        </a:rPr>
                        <a:t>8 Dec</a:t>
                      </a:r>
                    </a:p>
                  </a:txBody>
                  <a:tcPr marL="76200" marR="76200" marT="25400" marB="25400" anchor="ctr">
                    <a:solidFill>
                      <a:srgbClr val="EEF3F7"/>
                    </a:solidFill>
                  </a:tcPr>
                </a:tc>
                <a:tc>
                  <a:txBody>
                    <a:bodyPr/>
                    <a:lstStyle/>
                    <a:p>
                      <a:pPr>
                        <a:buNone/>
                      </a:pPr>
                      <a:r>
                        <a:rPr sz="1100" b="0" i="0">
                          <a:solidFill>
                            <a:srgbClr val="000000"/>
                          </a:solidFill>
                          <a:latin typeface="Aptos"/>
                        </a:rPr>
                        <a:t>Final due</a:t>
                      </a:r>
                    </a:p>
                  </a:txBody>
                  <a:tcPr marL="76200" marR="76200" marT="25400" marB="25400" anchor="ctr">
                    <a:solidFill>
                      <a:srgbClr val="EEF3F7"/>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